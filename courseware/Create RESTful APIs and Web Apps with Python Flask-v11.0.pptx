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Observed</c:v>
                </c:pt>
              </c:strCache>
            </c:strRef>
          </c:tx>
          <c:spPr>
            <a:solidFill>
              <a:srgbClr val="2563EB"/>
            </a:solidFill>
          </c:spPr>
          <c:cat>
            <c:strRef>
              <c:f>Sheet1!$A$2:$A$6</c:f>
              <c:strCache>
                <c:ptCount val="5"/>
                <c:pt idx="0">
                  <c:v>200</c:v>
                </c:pt>
                <c:pt idx="1">
                  <c:v>201</c:v>
                </c:pt>
                <c:pt idx="2">
                  <c:v>404</c:v>
                </c:pt>
                <c:pt idx="3">
                  <c:v>422</c:v>
                </c:pt>
                <c:pt idx="4">
                  <c:v>500</c:v>
                </c:pt>
              </c:strCache>
            </c:strRef>
          </c:cat>
          <c:val>
            <c:numRef>
              <c:f>Sheet1!$B$2:$B$6</c:f>
              <c:numCache>
                <c:formatCode>General</c:formatCode>
                <c:ptCount val="5"/>
                <c:pt idx="0">
                  <c:v>58</c:v>
                </c:pt>
                <c:pt idx="1">
                  <c:v>14</c:v>
                </c:pt>
                <c:pt idx="2">
                  <c:v>9</c:v>
                </c:pt>
                <c:pt idx="3">
                  <c:v>17</c:v>
                </c:pt>
                <c:pt idx="4">
                  <c:v>2</c:v>
                </c:pt>
              </c:numCache>
            </c:numRef>
          </c:val>
        </c:ser>
        <c:axId val="2226939960"/>
        <c:axId val="2180972856"/>
      </c:barChart>
      <c:catAx>
        <c:axId val="2226939960"/>
        <c:scaling>
          <c:orientation val="minMax"/>
        </c:scaling>
        <c:delete val="0"/>
        <c:axPos val="b"/>
        <c:majorTickMark val="out"/>
        <c:minorTickMark val="none"/>
        <c:tickLblPos val="nextTo"/>
        <c:txPr>
          <a:bodyPr/>
          <a:lstStyle/>
          <a:p>
            <a:pPr>
              <a:defRPr sz="1000"/>
            </a:pPr>
          </a:p>
        </c:txPr>
        <c:crossAx val="2180972856"/>
        <c:crosses val="autoZero"/>
        <c:auto val="1"/>
        <c:lblAlgn val="ctr"/>
        <c:lblOffset val="100"/>
        <c:noMultiLvlLbl val="0"/>
      </c:catAx>
      <c:valAx>
        <c:axId val="2180972856"/>
        <c:scaling/>
        <c:delete val="0"/>
        <c:axPos val="l"/>
        <c:majorGridlines>
          <c:spPr>
            <a:ln>
              <a:solidFill>
                <a:srgbClr val="E2E8F0"/>
              </a:solidFill>
            </a:ln>
          </c:spPr>
        </c:majorGridlines>
        <c:majorTickMark val="out"/>
        <c:minorTickMark val="none"/>
        <c:tickLblPos val="nextTo"/>
        <c:txPr>
          <a:bodyPr/>
          <a:lstStyle/>
          <a:p>
            <a:pPr>
              <a:defRPr sz="900"/>
            </a:pPr>
          </a:p>
        </c:txPr>
        <c:crossAx val="2226939960"/>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Observed</c:v>
                </c:pt>
              </c:strCache>
            </c:strRef>
          </c:tx>
          <c:spPr>
            <a:solidFill>
              <a:srgbClr val="06B6D4"/>
            </a:solidFill>
          </c:spPr>
          <c:cat>
            <c:strRef>
              <c:f>Sheet1!$A$2:$A$5</c:f>
              <c:strCache>
                <c:ptCount val="4"/>
                <c:pt idx="0">
                  <c:v>1 user</c:v>
                </c:pt>
                <c:pt idx="1">
                  <c:v>5 users</c:v>
                </c:pt>
                <c:pt idx="2">
                  <c:v>10 users</c:v>
                </c:pt>
                <c:pt idx="3">
                  <c:v>20 users</c:v>
                </c:pt>
              </c:strCache>
            </c:strRef>
          </c:cat>
          <c:val>
            <c:numRef>
              <c:f>Sheet1!$B$2:$B$5</c:f>
              <c:numCache>
                <c:formatCode>General</c:formatCode>
                <c:ptCount val="4"/>
                <c:pt idx="0">
                  <c:v>22</c:v>
                </c:pt>
                <c:pt idx="1">
                  <c:v>31</c:v>
                </c:pt>
                <c:pt idx="2">
                  <c:v>47</c:v>
                </c:pt>
                <c:pt idx="3">
                  <c:v>86</c:v>
                </c:pt>
              </c:numCache>
            </c:numRef>
          </c:val>
        </c:ser>
        <c:axId val="2226939960"/>
        <c:axId val="2180972856"/>
      </c:barChart>
      <c:catAx>
        <c:axId val="2226939960"/>
        <c:scaling>
          <c:orientation val="minMax"/>
        </c:scaling>
        <c:delete val="0"/>
        <c:axPos val="b"/>
        <c:majorTickMark val="out"/>
        <c:minorTickMark val="none"/>
        <c:tickLblPos val="nextTo"/>
        <c:txPr>
          <a:bodyPr/>
          <a:lstStyle/>
          <a:p>
            <a:pPr>
              <a:defRPr sz="1000"/>
            </a:pPr>
          </a:p>
        </c:txPr>
        <c:crossAx val="2180972856"/>
        <c:crosses val="autoZero"/>
        <c:auto val="1"/>
        <c:lblAlgn val="ctr"/>
        <c:lblOffset val="100"/>
        <c:noMultiLvlLbl val="0"/>
      </c:catAx>
      <c:valAx>
        <c:axId val="2180972856"/>
        <c:scaling/>
        <c:delete val="0"/>
        <c:axPos val="l"/>
        <c:majorGridlines>
          <c:spPr>
            <a:ln>
              <a:solidFill>
                <a:srgbClr val="E2E8F0"/>
              </a:solidFill>
            </a:ln>
          </c:spPr>
        </c:majorGridlines>
        <c:majorTickMark val="out"/>
        <c:minorTickMark val="none"/>
        <c:tickLblPos val="nextTo"/>
        <c:txPr>
          <a:bodyPr/>
          <a:lstStyle/>
          <a:p>
            <a:pPr>
              <a:defRPr sz="900"/>
            </a:pPr>
          </a:p>
        </c:txPr>
        <c:crossAx val="2226939960"/>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Observed</c:v>
                </c:pt>
              </c:strCache>
            </c:strRef>
          </c:tx>
          <c:spPr>
            <a:solidFill>
              <a:srgbClr val="10B981"/>
            </a:solidFill>
          </c:spPr>
          <c:cat>
            <c:strRef>
              <c:f>Sheet1!$A$2:$A$5</c:f>
              <c:strCache>
                <c:ptCount val="4"/>
                <c:pt idx="0">
                  <c:v>10</c:v>
                </c:pt>
                <c:pt idx="1">
                  <c:v>20</c:v>
                </c:pt>
                <c:pt idx="2">
                  <c:v>50</c:v>
                </c:pt>
                <c:pt idx="3">
                  <c:v>100</c:v>
                </c:pt>
              </c:strCache>
            </c:strRef>
          </c:cat>
          <c:val>
            <c:numRef>
              <c:f>Sheet1!$B$2:$B$5</c:f>
              <c:numCache>
                <c:formatCode>General</c:formatCode>
                <c:ptCount val="4"/>
                <c:pt idx="0">
                  <c:v>6</c:v>
                </c:pt>
                <c:pt idx="1">
                  <c:v>11</c:v>
                </c:pt>
                <c:pt idx="2">
                  <c:v>26</c:v>
                </c:pt>
                <c:pt idx="3">
                  <c:v>52</c:v>
                </c:pt>
              </c:numCache>
            </c:numRef>
          </c:val>
        </c:ser>
        <c:axId val="2226939960"/>
        <c:axId val="2180972856"/>
      </c:barChart>
      <c:catAx>
        <c:axId val="2226939960"/>
        <c:scaling>
          <c:orientation val="minMax"/>
        </c:scaling>
        <c:delete val="0"/>
        <c:axPos val="b"/>
        <c:majorTickMark val="out"/>
        <c:minorTickMark val="none"/>
        <c:tickLblPos val="nextTo"/>
        <c:txPr>
          <a:bodyPr/>
          <a:lstStyle/>
          <a:p>
            <a:pPr>
              <a:defRPr sz="1000"/>
            </a:pPr>
          </a:p>
        </c:txPr>
        <c:crossAx val="2180972856"/>
        <c:crosses val="autoZero"/>
        <c:auto val="1"/>
        <c:lblAlgn val="ctr"/>
        <c:lblOffset val="100"/>
        <c:noMultiLvlLbl val="0"/>
      </c:catAx>
      <c:valAx>
        <c:axId val="2180972856"/>
        <c:scaling/>
        <c:delete val="0"/>
        <c:axPos val="l"/>
        <c:majorGridlines>
          <c:spPr>
            <a:ln>
              <a:solidFill>
                <a:srgbClr val="E2E8F0"/>
              </a:solidFill>
            </a:ln>
          </c:spPr>
        </c:majorGridlines>
        <c:majorTickMark val="out"/>
        <c:minorTickMark val="none"/>
        <c:tickLblPos val="nextTo"/>
        <c:txPr>
          <a:bodyPr/>
          <a:lstStyle/>
          <a:p>
            <a:pPr>
              <a:defRPr sz="900"/>
            </a:pPr>
          </a:p>
        </c:txPr>
        <c:crossAx val="2226939960"/>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Observed</c:v>
                </c:pt>
              </c:strCache>
            </c:strRef>
          </c:tx>
          <c:spPr>
            <a:solidFill>
              <a:srgbClr val="7C3AED"/>
            </a:solidFill>
          </c:spPr>
          <c:cat>
            <c:strRef>
              <c:f>Sheet1!$A$2:$A$6</c:f>
              <c:strCache>
                <c:ptCount val="5"/>
                <c:pt idx="0">
                  <c:v>Happy</c:v>
                </c:pt>
                <c:pt idx="1">
                  <c:v>Validation</c:v>
                </c:pt>
                <c:pt idx="2">
                  <c:v>404</c:v>
                </c:pt>
                <c:pt idx="3">
                  <c:v>Conflict</c:v>
                </c:pt>
                <c:pt idx="4">
                  <c:v>Auth</c:v>
                </c:pt>
              </c:strCache>
            </c:strRef>
          </c:cat>
          <c:val>
            <c:numRef>
              <c:f>Sheet1!$B$2:$B$6</c:f>
              <c:numCache>
                <c:formatCode>General</c:formatCode>
                <c:ptCount val="5"/>
                <c:pt idx="0">
                  <c:v>8</c:v>
                </c:pt>
                <c:pt idx="1">
                  <c:v>7</c:v>
                </c:pt>
                <c:pt idx="2">
                  <c:v>5</c:v>
                </c:pt>
                <c:pt idx="3">
                  <c:v>4</c:v>
                </c:pt>
                <c:pt idx="4">
                  <c:v>6</c:v>
                </c:pt>
              </c:numCache>
            </c:numRef>
          </c:val>
        </c:ser>
        <c:axId val="2226939960"/>
        <c:axId val="2180972856"/>
      </c:barChart>
      <c:catAx>
        <c:axId val="2226939960"/>
        <c:scaling>
          <c:orientation val="minMax"/>
        </c:scaling>
        <c:delete val="0"/>
        <c:axPos val="b"/>
        <c:majorTickMark val="out"/>
        <c:minorTickMark val="none"/>
        <c:tickLblPos val="nextTo"/>
        <c:txPr>
          <a:bodyPr/>
          <a:lstStyle/>
          <a:p>
            <a:pPr>
              <a:defRPr sz="1000"/>
            </a:pPr>
          </a:p>
        </c:txPr>
        <c:crossAx val="2180972856"/>
        <c:crosses val="autoZero"/>
        <c:auto val="1"/>
        <c:lblAlgn val="ctr"/>
        <c:lblOffset val="100"/>
        <c:noMultiLvlLbl val="0"/>
      </c:catAx>
      <c:valAx>
        <c:axId val="2180972856"/>
        <c:scaling/>
        <c:delete val="0"/>
        <c:axPos val="l"/>
        <c:majorGridlines>
          <c:spPr>
            <a:ln>
              <a:solidFill>
                <a:srgbClr val="E2E8F0"/>
              </a:solidFill>
            </a:ln>
          </c:spPr>
        </c:majorGridlines>
        <c:majorTickMark val="out"/>
        <c:minorTickMark val="none"/>
        <c:tickLblPos val="nextTo"/>
        <c:txPr>
          <a:bodyPr/>
          <a:lstStyle/>
          <a:p>
            <a:pPr>
              <a:defRPr sz="900"/>
            </a:pPr>
          </a:p>
        </c:txPr>
        <c:crossAx val="2226939960"/>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Observed</c:v>
                </c:pt>
              </c:strCache>
            </c:strRef>
          </c:tx>
          <c:spPr>
            <a:solidFill>
              <a:srgbClr val="F59E0B"/>
            </a:solidFill>
          </c:spPr>
          <c:cat>
            <c:strRef>
              <c:f>Sheet1!$A$2:$A$5</c:f>
              <c:strCache>
                <c:ptCount val="4"/>
                <c:pt idx="0">
                  <c:v>100</c:v>
                </c:pt>
                <c:pt idx="1">
                  <c:v>1k</c:v>
                </c:pt>
                <c:pt idx="2">
                  <c:v>10k</c:v>
                </c:pt>
                <c:pt idx="3">
                  <c:v>50k</c:v>
                </c:pt>
              </c:strCache>
            </c:strRef>
          </c:cat>
          <c:val>
            <c:numRef>
              <c:f>Sheet1!$B$2:$B$5</c:f>
              <c:numCache>
                <c:formatCode>General</c:formatCode>
                <c:ptCount val="4"/>
                <c:pt idx="0">
                  <c:v>2</c:v>
                </c:pt>
                <c:pt idx="1">
                  <c:v>4</c:v>
                </c:pt>
                <c:pt idx="2">
                  <c:v>17</c:v>
                </c:pt>
                <c:pt idx="3">
                  <c:v>71</c:v>
                </c:pt>
              </c:numCache>
            </c:numRef>
          </c:val>
        </c:ser>
        <c:axId val="2226939960"/>
        <c:axId val="2180972856"/>
      </c:barChart>
      <c:catAx>
        <c:axId val="2226939960"/>
        <c:scaling>
          <c:orientation val="minMax"/>
        </c:scaling>
        <c:delete val="0"/>
        <c:axPos val="b"/>
        <c:majorTickMark val="out"/>
        <c:minorTickMark val="none"/>
        <c:tickLblPos val="nextTo"/>
        <c:txPr>
          <a:bodyPr/>
          <a:lstStyle/>
          <a:p>
            <a:pPr>
              <a:defRPr sz="1000"/>
            </a:pPr>
          </a:p>
        </c:txPr>
        <c:crossAx val="2180972856"/>
        <c:crosses val="autoZero"/>
        <c:auto val="1"/>
        <c:lblAlgn val="ctr"/>
        <c:lblOffset val="100"/>
        <c:noMultiLvlLbl val="0"/>
      </c:catAx>
      <c:valAx>
        <c:axId val="2180972856"/>
        <c:scaling/>
        <c:delete val="0"/>
        <c:axPos val="l"/>
        <c:majorGridlines>
          <c:spPr>
            <a:ln>
              <a:solidFill>
                <a:srgbClr val="E2E8F0"/>
              </a:solidFill>
            </a:ln>
          </c:spPr>
        </c:majorGridlines>
        <c:majorTickMark val="out"/>
        <c:minorTickMark val="none"/>
        <c:tickLblPos val="nextTo"/>
        <c:txPr>
          <a:bodyPr/>
          <a:lstStyle/>
          <a:p>
            <a:pPr>
              <a:defRPr sz="900"/>
            </a:pPr>
          </a:p>
        </c:txPr>
        <c:crossAx val="2226939960"/>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Observed</c:v>
                </c:pt>
              </c:strCache>
            </c:strRef>
          </c:tx>
          <c:spPr>
            <a:solidFill>
              <a:srgbClr val="2563EB"/>
            </a:solidFill>
          </c:spPr>
          <c:cat>
            <c:strRef>
              <c:f>Sheet1!$A$2:$A$5</c:f>
              <c:strCache>
                <c:ptCount val="4"/>
                <c:pt idx="0">
                  <c:v>Week 0</c:v>
                </c:pt>
                <c:pt idx="1">
                  <c:v>Week 2</c:v>
                </c:pt>
                <c:pt idx="2">
                  <c:v>Week 4</c:v>
                </c:pt>
                <c:pt idx="3">
                  <c:v>Week 6</c:v>
                </c:pt>
              </c:strCache>
            </c:strRef>
          </c:cat>
          <c:val>
            <c:numRef>
              <c:f>Sheet1!$B$2:$B$5</c:f>
              <c:numCache>
                <c:formatCode>General</c:formatCode>
                <c:ptCount val="4"/>
                <c:pt idx="0">
                  <c:v>100</c:v>
                </c:pt>
                <c:pt idx="1">
                  <c:v>72</c:v>
                </c:pt>
                <c:pt idx="2">
                  <c:v>35</c:v>
                </c:pt>
                <c:pt idx="3">
                  <c:v>8</c:v>
                </c:pt>
              </c:numCache>
            </c:numRef>
          </c:val>
        </c:ser>
        <c:axId val="2226939960"/>
        <c:axId val="2180972856"/>
      </c:barChart>
      <c:catAx>
        <c:axId val="2226939960"/>
        <c:scaling>
          <c:orientation val="minMax"/>
        </c:scaling>
        <c:delete val="0"/>
        <c:axPos val="b"/>
        <c:majorTickMark val="out"/>
        <c:minorTickMark val="none"/>
        <c:tickLblPos val="nextTo"/>
        <c:txPr>
          <a:bodyPr/>
          <a:lstStyle/>
          <a:p>
            <a:pPr>
              <a:defRPr sz="1000"/>
            </a:pPr>
          </a:p>
        </c:txPr>
        <c:crossAx val="2180972856"/>
        <c:crosses val="autoZero"/>
        <c:auto val="1"/>
        <c:lblAlgn val="ctr"/>
        <c:lblOffset val="100"/>
        <c:noMultiLvlLbl val="0"/>
      </c:catAx>
      <c:valAx>
        <c:axId val="2180972856"/>
        <c:scaling/>
        <c:delete val="0"/>
        <c:axPos val="l"/>
        <c:majorGridlines>
          <c:spPr>
            <a:ln>
              <a:solidFill>
                <a:srgbClr val="E2E8F0"/>
              </a:solidFill>
            </a:ln>
          </c:spPr>
        </c:majorGridlines>
        <c:majorTickMark val="out"/>
        <c:minorTickMark val="none"/>
        <c:tickLblPos val="nextTo"/>
        <c:txPr>
          <a:bodyPr/>
          <a:lstStyle/>
          <a:p>
            <a:pPr>
              <a:defRPr sz="900"/>
            </a:pPr>
          </a:p>
        </c:txPr>
        <c:crossAx val="2226939960"/>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hero-v1.pn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7040880"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94360" y="502920"/>
            <a:ext cx="2240280" cy="75895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ertiary-infotech-logo.png"/>
          <p:cNvPicPr>
            <a:picLocks noChangeAspect="1"/>
          </p:cNvPicPr>
          <p:nvPr/>
        </p:nvPicPr>
        <p:blipFill>
          <a:blip r:embed="rId3"/>
          <a:stretch>
            <a:fillRect/>
          </a:stretch>
        </p:blipFill>
        <p:spPr>
          <a:xfrm>
            <a:off x="777240" y="603504"/>
            <a:ext cx="1874519" cy="1874519"/>
          </a:xfrm>
          <a:prstGeom prst="rect">
            <a:avLst/>
          </a:prstGeom>
        </p:spPr>
      </p:pic>
      <p:sp>
        <p:nvSpPr>
          <p:cNvPr id="7" name="TextBox 6"/>
          <p:cNvSpPr txBox="1"/>
          <p:nvPr/>
        </p:nvSpPr>
        <p:spPr>
          <a:xfrm>
            <a:off x="2971800" y="749808"/>
            <a:ext cx="3474720" cy="320040"/>
          </a:xfrm>
          <a:prstGeom prst="rect">
            <a:avLst/>
          </a:prstGeom>
          <a:noFill/>
        </p:spPr>
        <p:txBody>
          <a:bodyPr wrap="square" anchor="t" lIns="36576" rIns="36576" tIns="36576" bIns="36576">
            <a:spAutoFit/>
          </a:bodyPr>
          <a:lstStyle/>
          <a:p>
            <a:pPr algn="l">
              <a:spcAft>
                <a:spcPts val="0"/>
              </a:spcAft>
            </a:pPr>
            <a:r>
              <a:rPr sz="1300" b="1">
                <a:solidFill>
                  <a:srgbClr val="06B6D4"/>
                </a:solidFill>
                <a:latin typeface="Arial"/>
              </a:rPr>
              <a:t>WSQ COURSE SLIDES</a:t>
            </a:r>
          </a:p>
        </p:txBody>
      </p:sp>
      <p:sp>
        <p:nvSpPr>
          <p:cNvPr id="8" name="TextBox 7"/>
          <p:cNvSpPr txBox="1"/>
          <p:nvPr/>
        </p:nvSpPr>
        <p:spPr>
          <a:xfrm>
            <a:off x="713232" y="1901952"/>
            <a:ext cx="5897880" cy="1901952"/>
          </a:xfrm>
          <a:prstGeom prst="rect">
            <a:avLst/>
          </a:prstGeom>
          <a:noFill/>
        </p:spPr>
        <p:txBody>
          <a:bodyPr wrap="square" anchor="t" lIns="36576" rIns="36576" tIns="36576" bIns="36576">
            <a:spAutoFit/>
          </a:bodyPr>
          <a:lstStyle/>
          <a:p>
            <a:pPr algn="l">
              <a:spcAft>
                <a:spcPts val="0"/>
              </a:spcAft>
            </a:pPr>
            <a:r>
              <a:rPr sz="2800" b="1">
                <a:solidFill>
                  <a:srgbClr val="FFFFFF"/>
                </a:solidFill>
                <a:latin typeface="Arial"/>
              </a:rPr>
              <a:t>Create RESTful APIs and Web Apps with Python Flask</a:t>
            </a:r>
          </a:p>
        </p:txBody>
      </p:sp>
      <p:sp>
        <p:nvSpPr>
          <p:cNvPr id="9" name="TextBox 8"/>
          <p:cNvSpPr txBox="1"/>
          <p:nvPr/>
        </p:nvSpPr>
        <p:spPr>
          <a:xfrm>
            <a:off x="731520" y="3895344"/>
            <a:ext cx="5394960" cy="621792"/>
          </a:xfrm>
          <a:prstGeom prst="rect">
            <a:avLst/>
          </a:prstGeom>
          <a:noFill/>
        </p:spPr>
        <p:txBody>
          <a:bodyPr wrap="square" anchor="t" lIns="36576" rIns="36576" tIns="36576" bIns="36576">
            <a:spAutoFit/>
          </a:bodyPr>
          <a:lstStyle/>
          <a:p>
            <a:pPr algn="l">
              <a:spcAft>
                <a:spcPts val="0"/>
              </a:spcAft>
            </a:pPr>
            <a:r>
              <a:rPr sz="1600" b="0">
                <a:solidFill>
                  <a:srgbClr val="CCFBF1"/>
                </a:solidFill>
                <a:latin typeface="Arial"/>
              </a:rPr>
              <a:t>FastAPI · OpenAPI 3.1 · SQLite · VS Code · AI Vibe Coding</a:t>
            </a:r>
          </a:p>
        </p:txBody>
      </p:sp>
      <p:sp>
        <p:nvSpPr>
          <p:cNvPr id="10" name="TextBox 9"/>
          <p:cNvSpPr txBox="1"/>
          <p:nvPr/>
        </p:nvSpPr>
        <p:spPr>
          <a:xfrm>
            <a:off x="731520" y="4791456"/>
            <a:ext cx="5394960" cy="585216"/>
          </a:xfrm>
          <a:prstGeom prst="rect">
            <a:avLst/>
          </a:prstGeom>
          <a:noFill/>
        </p:spPr>
        <p:txBody>
          <a:bodyPr wrap="square" anchor="t" lIns="36576" rIns="36576" tIns="36576" bIns="36576">
            <a:spAutoFit/>
          </a:bodyPr>
          <a:lstStyle/>
          <a:p>
            <a:pPr algn="l">
              <a:spcAft>
                <a:spcPts val="0"/>
              </a:spcAft>
            </a:pPr>
            <a:r>
              <a:rPr sz="1300" b="0">
                <a:solidFill>
                  <a:srgbClr val="FFFFFF"/>
                </a:solidFill>
                <a:latin typeface="Arial"/>
              </a:rPr>
              <a:t>Course Code TGS-2021010365
Tertiary Infotech Academy Pte Ltd · UEN 201200696W</a:t>
            </a:r>
          </a:p>
        </p:txBody>
      </p:sp>
      <p:sp>
        <p:nvSpPr>
          <p:cNvPr id="11" name="TextBox 10"/>
          <p:cNvSpPr txBox="1"/>
          <p:nvPr/>
        </p:nvSpPr>
        <p:spPr>
          <a:xfrm>
            <a:off x="731520" y="5879592"/>
            <a:ext cx="5394960" cy="310896"/>
          </a:xfrm>
          <a:prstGeom prst="rect">
            <a:avLst/>
          </a:prstGeom>
          <a:noFill/>
        </p:spPr>
        <p:txBody>
          <a:bodyPr wrap="square" anchor="t" lIns="36576" rIns="36576" tIns="36576" bIns="36576">
            <a:spAutoFit/>
          </a:bodyPr>
          <a:lstStyle/>
          <a:p>
            <a:pPr algn="l">
              <a:spcAft>
                <a:spcPts val="0"/>
              </a:spcAft>
            </a:pPr>
            <a:r>
              <a:rPr sz="1100" b="1">
                <a:solidFill>
                  <a:srgbClr val="CBD5E1"/>
                </a:solidFill>
                <a:latin typeface="Arial"/>
              </a:rPr>
              <a:t>Version v11.0 · 5 September 2026</a:t>
            </a:r>
          </a:p>
        </p:txBody>
      </p:sp>
    </p:spTree>
  </p:cSld>
  <p:transition spd="fast">
    <p:fade/>
  </p:transition>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06B6D4"/>
                </a:solidFill>
                <a:latin typeface="Arial"/>
              </a:rPr>
              <a:t>COURSE ADMINISTRATION</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Digital Attendance (Mandatory)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37360"/>
            <a:ext cx="5289804" cy="2093976"/>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37360"/>
            <a:ext cx="73152" cy="209397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938528"/>
            <a:ext cx="475488" cy="475488"/>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993392"/>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1</a:t>
            </a:r>
          </a:p>
        </p:txBody>
      </p:sp>
      <p:sp>
        <p:nvSpPr>
          <p:cNvPr id="11" name="TextBox 10"/>
          <p:cNvSpPr txBox="1"/>
          <p:nvPr/>
        </p:nvSpPr>
        <p:spPr>
          <a:xfrm>
            <a:off x="1554480" y="1901952"/>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AM attendance</a:t>
            </a:r>
          </a:p>
        </p:txBody>
      </p:sp>
      <p:sp>
        <p:nvSpPr>
          <p:cNvPr id="12" name="TextBox 11"/>
          <p:cNvSpPr txBox="1"/>
          <p:nvPr/>
        </p:nvSpPr>
        <p:spPr>
          <a:xfrm>
            <a:off x="1554480" y="2304288"/>
            <a:ext cx="4238244" cy="1435608"/>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Scan the SSG QR code at the start of each day.</a:t>
            </a:r>
          </a:p>
        </p:txBody>
      </p:sp>
      <p:sp>
        <p:nvSpPr>
          <p:cNvPr id="13" name="Rounded Rectangle 12"/>
          <p:cNvSpPr/>
          <p:nvPr/>
        </p:nvSpPr>
        <p:spPr>
          <a:xfrm>
            <a:off x="6259068" y="1737360"/>
            <a:ext cx="5289804" cy="2093976"/>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59068" y="1737360"/>
            <a:ext cx="73152" cy="20939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60236" y="1938528"/>
            <a:ext cx="475488" cy="475488"/>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0236" y="1993392"/>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2</a:t>
            </a:r>
          </a:p>
        </p:txBody>
      </p:sp>
      <p:sp>
        <p:nvSpPr>
          <p:cNvPr id="17" name="TextBox 16"/>
          <p:cNvSpPr txBox="1"/>
          <p:nvPr/>
        </p:nvSpPr>
        <p:spPr>
          <a:xfrm>
            <a:off x="7100316" y="1901952"/>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PM attendance</a:t>
            </a:r>
          </a:p>
        </p:txBody>
      </p:sp>
      <p:sp>
        <p:nvSpPr>
          <p:cNvPr id="18" name="TextBox 17"/>
          <p:cNvSpPr txBox="1"/>
          <p:nvPr/>
        </p:nvSpPr>
        <p:spPr>
          <a:xfrm>
            <a:off x="7100316" y="2304288"/>
            <a:ext cx="4238244" cy="1435608"/>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Scan again after lunch.</a:t>
            </a:r>
          </a:p>
        </p:txBody>
      </p:sp>
      <p:sp>
        <p:nvSpPr>
          <p:cNvPr id="19" name="Rounded Rectangle 18"/>
          <p:cNvSpPr/>
          <p:nvPr/>
        </p:nvSpPr>
        <p:spPr>
          <a:xfrm>
            <a:off x="713232" y="4050792"/>
            <a:ext cx="5289804" cy="2093976"/>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13232" y="4050792"/>
            <a:ext cx="73152" cy="20939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4400" y="4251960"/>
            <a:ext cx="475488" cy="47548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306824"/>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3</a:t>
            </a:r>
          </a:p>
        </p:txBody>
      </p:sp>
      <p:sp>
        <p:nvSpPr>
          <p:cNvPr id="23" name="TextBox 22"/>
          <p:cNvSpPr txBox="1"/>
          <p:nvPr/>
        </p:nvSpPr>
        <p:spPr>
          <a:xfrm>
            <a:off x="1554480" y="4215384"/>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Assessment attendance</a:t>
            </a:r>
          </a:p>
        </p:txBody>
      </p:sp>
      <p:sp>
        <p:nvSpPr>
          <p:cNvPr id="24" name="TextBox 23"/>
          <p:cNvSpPr txBox="1"/>
          <p:nvPr/>
        </p:nvSpPr>
        <p:spPr>
          <a:xfrm>
            <a:off x="1554480" y="4617720"/>
            <a:ext cx="4238244" cy="1435608"/>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A separate assessment attendance is required.</a:t>
            </a:r>
          </a:p>
        </p:txBody>
      </p:sp>
      <p:sp>
        <p:nvSpPr>
          <p:cNvPr id="25" name="Rounded Rectangle 24"/>
          <p:cNvSpPr/>
          <p:nvPr/>
        </p:nvSpPr>
        <p:spPr>
          <a:xfrm>
            <a:off x="6259068" y="4050792"/>
            <a:ext cx="5289804" cy="2093976"/>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59068" y="4050792"/>
            <a:ext cx="73152" cy="209397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460236" y="4251960"/>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60236" y="4306824"/>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4</a:t>
            </a:r>
          </a:p>
        </p:txBody>
      </p:sp>
      <p:sp>
        <p:nvSpPr>
          <p:cNvPr id="29" name="TextBox 28"/>
          <p:cNvSpPr txBox="1"/>
          <p:nvPr/>
        </p:nvSpPr>
        <p:spPr>
          <a:xfrm>
            <a:off x="7100316" y="4215384"/>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Eligibility</a:t>
            </a:r>
          </a:p>
        </p:txBody>
      </p:sp>
      <p:sp>
        <p:nvSpPr>
          <p:cNvPr id="30" name="TextBox 29"/>
          <p:cNvSpPr txBox="1"/>
          <p:nvPr/>
        </p:nvSpPr>
        <p:spPr>
          <a:xfrm>
            <a:off x="7100316" y="4617720"/>
            <a:ext cx="4238244" cy="1435608"/>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Maintain at least 75% attendance and complete assessments.</a:t>
            </a:r>
          </a:p>
        </p:txBody>
      </p:sp>
      <p:sp>
        <p:nvSpPr>
          <p:cNvPr id="31" name="TextBox 30"/>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2" name="TextBox 31"/>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3" name="TextBox 3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2</a:t>
            </a:r>
          </a:p>
        </p:txBody>
      </p:sp>
    </p:spTree>
  </p:cSld>
  <p:transition spd="fast">
    <p:fade/>
  </p:transition>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475569"/>
                </a:solidFill>
                <a:latin typeface="Arial"/>
              </a:rPr>
              <a:t>YOUR TRAINER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About the Trainer</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3246120" cy="4297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508760" y="2240280"/>
            <a:ext cx="1645920" cy="164592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2670048"/>
            <a:ext cx="1645920" cy="548640"/>
          </a:xfrm>
          <a:prstGeom prst="rect">
            <a:avLst/>
          </a:prstGeom>
          <a:noFill/>
        </p:spPr>
        <p:txBody>
          <a:bodyPr wrap="square" anchor="t" lIns="36576" rIns="36576" tIns="36576" bIns="36576">
            <a:spAutoFit/>
          </a:bodyPr>
          <a:lstStyle/>
          <a:p>
            <a:pPr algn="ctr">
              <a:spcAft>
                <a:spcPts val="0"/>
              </a:spcAft>
            </a:pPr>
            <a:r>
              <a:rPr sz="3800" b="1">
                <a:solidFill>
                  <a:srgbClr val="FFFFFF"/>
                </a:solidFill>
                <a:latin typeface="Arial"/>
              </a:rPr>
              <a:t>?</a:t>
            </a:r>
          </a:p>
        </p:txBody>
      </p:sp>
      <p:sp>
        <p:nvSpPr>
          <p:cNvPr id="10" name="TextBox 9"/>
          <p:cNvSpPr txBox="1"/>
          <p:nvPr/>
        </p:nvSpPr>
        <p:spPr>
          <a:xfrm>
            <a:off x="941832" y="4206240"/>
            <a:ext cx="2788920" cy="502920"/>
          </a:xfrm>
          <a:prstGeom prst="rect">
            <a:avLst/>
          </a:prstGeom>
          <a:noFill/>
        </p:spPr>
        <p:txBody>
          <a:bodyPr wrap="square" anchor="t" lIns="36576" rIns="36576" tIns="36576" bIns="36576">
            <a:spAutoFit/>
          </a:bodyPr>
          <a:lstStyle/>
          <a:p>
            <a:pPr algn="ctr">
              <a:spcAft>
                <a:spcPts val="0"/>
              </a:spcAft>
            </a:pPr>
            <a:r>
              <a:rPr sz="2000" b="1">
                <a:solidFill>
                  <a:srgbClr val="172433"/>
                </a:solidFill>
                <a:latin typeface="Arial"/>
              </a:rPr>
              <a:t>Your Trainer</a:t>
            </a:r>
          </a:p>
        </p:txBody>
      </p:sp>
      <p:sp>
        <p:nvSpPr>
          <p:cNvPr id="11" name="TextBox 10"/>
          <p:cNvSpPr txBox="1"/>
          <p:nvPr/>
        </p:nvSpPr>
        <p:spPr>
          <a:xfrm>
            <a:off x="941832" y="4773168"/>
            <a:ext cx="2788920" cy="822960"/>
          </a:xfrm>
          <a:prstGeom prst="rect">
            <a:avLst/>
          </a:prstGeom>
          <a:noFill/>
        </p:spPr>
        <p:txBody>
          <a:bodyPr wrap="square" anchor="t" lIns="36576" rIns="36576" tIns="36576" bIns="36576">
            <a:spAutoFit/>
          </a:bodyPr>
          <a:lstStyle/>
          <a:p>
            <a:pPr algn="ctr">
              <a:spcAft>
                <a:spcPts val="0"/>
              </a:spcAft>
            </a:pPr>
            <a:r>
              <a:rPr sz="1250" b="0">
                <a:solidFill>
                  <a:srgbClr val="475569"/>
                </a:solidFill>
                <a:latin typeface="Arial"/>
              </a:rPr>
              <a:t>General trainer template — complete before class</a:t>
            </a:r>
          </a:p>
        </p:txBody>
      </p:sp>
      <p:sp>
        <p:nvSpPr>
          <p:cNvPr id="12" name="Rounded Rectangle 11"/>
          <p:cNvSpPr/>
          <p:nvPr/>
        </p:nvSpPr>
        <p:spPr>
          <a:xfrm>
            <a:off x="4315968" y="1783080"/>
            <a:ext cx="7223760" cy="89611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1929384"/>
            <a:ext cx="1572768" cy="228600"/>
          </a:xfrm>
          <a:prstGeom prst="rect">
            <a:avLst/>
          </a:prstGeom>
          <a:noFill/>
        </p:spPr>
        <p:txBody>
          <a:bodyPr wrap="square" anchor="t" lIns="36576" rIns="36576" tIns="36576" bIns="36576">
            <a:spAutoFit/>
          </a:bodyPr>
          <a:lstStyle/>
          <a:p>
            <a:pPr algn="l">
              <a:spcAft>
                <a:spcPts val="0"/>
              </a:spcAft>
            </a:pPr>
            <a:r>
              <a:rPr sz="950" b="1">
                <a:solidFill>
                  <a:srgbClr val="2563EB"/>
                </a:solidFill>
                <a:latin typeface="Arial"/>
              </a:rPr>
              <a:t>NAME</a:t>
            </a:r>
          </a:p>
        </p:txBody>
      </p:sp>
      <p:sp>
        <p:nvSpPr>
          <p:cNvPr id="14" name="TextBox 13"/>
          <p:cNvSpPr txBox="1"/>
          <p:nvPr/>
        </p:nvSpPr>
        <p:spPr>
          <a:xfrm>
            <a:off x="6144768" y="1911096"/>
            <a:ext cx="5074920" cy="530352"/>
          </a:xfrm>
          <a:prstGeom prst="rect">
            <a:avLst/>
          </a:prstGeom>
          <a:noFill/>
        </p:spPr>
        <p:txBody>
          <a:bodyPr wrap="square" anchor="t" lIns="36576" rIns="36576" tIns="36576" bIns="36576">
            <a:spAutoFit/>
          </a:bodyPr>
          <a:lstStyle/>
          <a:p>
            <a:pPr algn="l">
              <a:spcAft>
                <a:spcPts val="0"/>
              </a:spcAft>
            </a:pPr>
            <a:r>
              <a:rPr sz="1200" b="0">
                <a:solidFill>
                  <a:srgbClr val="172433"/>
                </a:solidFill>
                <a:latin typeface="Arial"/>
              </a:rPr>
              <a:t>________________________________________</a:t>
            </a:r>
          </a:p>
        </p:txBody>
      </p:sp>
      <p:sp>
        <p:nvSpPr>
          <p:cNvPr id="15" name="Rounded Rectangle 14"/>
          <p:cNvSpPr/>
          <p:nvPr/>
        </p:nvSpPr>
        <p:spPr>
          <a:xfrm>
            <a:off x="4315968" y="2816351"/>
            <a:ext cx="7223760" cy="89611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0288" y="2962655"/>
            <a:ext cx="1572768" cy="228600"/>
          </a:xfrm>
          <a:prstGeom prst="rect">
            <a:avLst/>
          </a:prstGeom>
          <a:noFill/>
        </p:spPr>
        <p:txBody>
          <a:bodyPr wrap="square" anchor="t" lIns="36576" rIns="36576" tIns="36576" bIns="36576">
            <a:spAutoFit/>
          </a:bodyPr>
          <a:lstStyle/>
          <a:p>
            <a:pPr algn="l">
              <a:spcAft>
                <a:spcPts val="0"/>
              </a:spcAft>
            </a:pPr>
            <a:r>
              <a:rPr sz="950" b="1">
                <a:solidFill>
                  <a:srgbClr val="06B6D4"/>
                </a:solidFill>
                <a:latin typeface="Arial"/>
              </a:rPr>
              <a:t>DESIGNATION</a:t>
            </a:r>
          </a:p>
        </p:txBody>
      </p:sp>
      <p:sp>
        <p:nvSpPr>
          <p:cNvPr id="17" name="TextBox 16"/>
          <p:cNvSpPr txBox="1"/>
          <p:nvPr/>
        </p:nvSpPr>
        <p:spPr>
          <a:xfrm>
            <a:off x="6144768" y="2944367"/>
            <a:ext cx="5074920" cy="530352"/>
          </a:xfrm>
          <a:prstGeom prst="rect">
            <a:avLst/>
          </a:prstGeom>
          <a:noFill/>
        </p:spPr>
        <p:txBody>
          <a:bodyPr wrap="square" anchor="t" lIns="36576" rIns="36576" tIns="36576" bIns="36576">
            <a:spAutoFit/>
          </a:bodyPr>
          <a:lstStyle/>
          <a:p>
            <a:pPr algn="l">
              <a:spcAft>
                <a:spcPts val="0"/>
              </a:spcAft>
            </a:pPr>
            <a:r>
              <a:rPr sz="1200" b="0">
                <a:solidFill>
                  <a:srgbClr val="172433"/>
                </a:solidFill>
                <a:latin typeface="Arial"/>
              </a:rPr>
              <a:t>________________________________________</a:t>
            </a:r>
          </a:p>
        </p:txBody>
      </p:sp>
      <p:sp>
        <p:nvSpPr>
          <p:cNvPr id="18" name="Rounded Rectangle 17"/>
          <p:cNvSpPr/>
          <p:nvPr/>
        </p:nvSpPr>
        <p:spPr>
          <a:xfrm>
            <a:off x="4315968" y="3849622"/>
            <a:ext cx="7223760" cy="89611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0288" y="3995926"/>
            <a:ext cx="1572768" cy="228600"/>
          </a:xfrm>
          <a:prstGeom prst="rect">
            <a:avLst/>
          </a:prstGeom>
          <a:noFill/>
        </p:spPr>
        <p:txBody>
          <a:bodyPr wrap="square" anchor="t" lIns="36576" rIns="36576" tIns="36576" bIns="36576">
            <a:spAutoFit/>
          </a:bodyPr>
          <a:lstStyle/>
          <a:p>
            <a:pPr algn="l">
              <a:spcAft>
                <a:spcPts val="0"/>
              </a:spcAft>
            </a:pPr>
            <a:r>
              <a:rPr sz="950" b="1">
                <a:solidFill>
                  <a:srgbClr val="10B981"/>
                </a:solidFill>
                <a:latin typeface="Arial"/>
              </a:rPr>
              <a:t>QUALIFICATIONS</a:t>
            </a:r>
          </a:p>
        </p:txBody>
      </p:sp>
      <p:sp>
        <p:nvSpPr>
          <p:cNvPr id="20" name="TextBox 19"/>
          <p:cNvSpPr txBox="1"/>
          <p:nvPr/>
        </p:nvSpPr>
        <p:spPr>
          <a:xfrm>
            <a:off x="6144768" y="3977638"/>
            <a:ext cx="5074920" cy="530352"/>
          </a:xfrm>
          <a:prstGeom prst="rect">
            <a:avLst/>
          </a:prstGeom>
          <a:noFill/>
        </p:spPr>
        <p:txBody>
          <a:bodyPr wrap="square" anchor="t" lIns="36576" rIns="36576" tIns="36576" bIns="36576">
            <a:spAutoFit/>
          </a:bodyPr>
          <a:lstStyle/>
          <a:p>
            <a:pPr algn="l">
              <a:spcAft>
                <a:spcPts val="0"/>
              </a:spcAft>
            </a:pPr>
            <a:r>
              <a:rPr sz="1200" b="0">
                <a:solidFill>
                  <a:srgbClr val="172433"/>
                </a:solidFill>
                <a:latin typeface="Arial"/>
              </a:rPr>
              <a:t>________________________________________</a:t>
            </a:r>
          </a:p>
        </p:txBody>
      </p:sp>
      <p:sp>
        <p:nvSpPr>
          <p:cNvPr id="21" name="Rounded Rectangle 20"/>
          <p:cNvSpPr/>
          <p:nvPr/>
        </p:nvSpPr>
        <p:spPr>
          <a:xfrm>
            <a:off x="4315968" y="4882893"/>
            <a:ext cx="7223760" cy="89611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90288" y="5029197"/>
            <a:ext cx="1572768" cy="228600"/>
          </a:xfrm>
          <a:prstGeom prst="rect">
            <a:avLst/>
          </a:prstGeom>
          <a:noFill/>
        </p:spPr>
        <p:txBody>
          <a:bodyPr wrap="square" anchor="t" lIns="36576" rIns="36576" tIns="36576" bIns="36576">
            <a:spAutoFit/>
          </a:bodyPr>
          <a:lstStyle/>
          <a:p>
            <a:pPr algn="l">
              <a:spcAft>
                <a:spcPts val="0"/>
              </a:spcAft>
            </a:pPr>
            <a:r>
              <a:rPr sz="950" b="1">
                <a:solidFill>
                  <a:srgbClr val="7C3AED"/>
                </a:solidFill>
                <a:latin typeface="Arial"/>
              </a:rPr>
              <a:t>TECHNICAL EXPERTISE</a:t>
            </a:r>
          </a:p>
        </p:txBody>
      </p:sp>
      <p:sp>
        <p:nvSpPr>
          <p:cNvPr id="23" name="TextBox 22"/>
          <p:cNvSpPr txBox="1"/>
          <p:nvPr/>
        </p:nvSpPr>
        <p:spPr>
          <a:xfrm>
            <a:off x="6144768" y="5010909"/>
            <a:ext cx="5074920" cy="530352"/>
          </a:xfrm>
          <a:prstGeom prst="rect">
            <a:avLst/>
          </a:prstGeom>
          <a:noFill/>
        </p:spPr>
        <p:txBody>
          <a:bodyPr wrap="square" anchor="t" lIns="36576" rIns="36576" tIns="36576" bIns="36576">
            <a:spAutoFit/>
          </a:bodyPr>
          <a:lstStyle/>
          <a:p>
            <a:pPr algn="l">
              <a:spcAft>
                <a:spcPts val="0"/>
              </a:spcAft>
            </a:pPr>
            <a:r>
              <a:rPr sz="1200" b="0">
                <a:solidFill>
                  <a:srgbClr val="172433"/>
                </a:solidFill>
                <a:latin typeface="Arial"/>
              </a:rPr>
              <a:t>________________________________________</a:t>
            </a:r>
          </a:p>
        </p:txBody>
      </p:sp>
      <p:sp>
        <p:nvSpPr>
          <p:cNvPr id="24" name="Rounded Rectangle 23"/>
          <p:cNvSpPr/>
          <p:nvPr/>
        </p:nvSpPr>
        <p:spPr>
          <a:xfrm>
            <a:off x="4315968" y="5916164"/>
            <a:ext cx="7223760" cy="89611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90288" y="6062468"/>
            <a:ext cx="1572768" cy="228600"/>
          </a:xfrm>
          <a:prstGeom prst="rect">
            <a:avLst/>
          </a:prstGeom>
          <a:noFill/>
        </p:spPr>
        <p:txBody>
          <a:bodyPr wrap="square" anchor="t" lIns="36576" rIns="36576" tIns="36576" bIns="36576">
            <a:spAutoFit/>
          </a:bodyPr>
          <a:lstStyle/>
          <a:p>
            <a:pPr algn="l">
              <a:spcAft>
                <a:spcPts val="0"/>
              </a:spcAft>
            </a:pPr>
            <a:r>
              <a:rPr sz="950" b="1">
                <a:solidFill>
                  <a:srgbClr val="F59E0B"/>
                </a:solidFill>
                <a:latin typeface="Arial"/>
              </a:rPr>
              <a:t>INDUSTRY AND TRAINING EXPERIENCE</a:t>
            </a:r>
          </a:p>
        </p:txBody>
      </p:sp>
      <p:sp>
        <p:nvSpPr>
          <p:cNvPr id="26" name="TextBox 25"/>
          <p:cNvSpPr txBox="1"/>
          <p:nvPr/>
        </p:nvSpPr>
        <p:spPr>
          <a:xfrm>
            <a:off x="6144768" y="6044180"/>
            <a:ext cx="5074920" cy="530352"/>
          </a:xfrm>
          <a:prstGeom prst="rect">
            <a:avLst/>
          </a:prstGeom>
          <a:noFill/>
        </p:spPr>
        <p:txBody>
          <a:bodyPr wrap="square" anchor="t" lIns="36576" rIns="36576" tIns="36576" bIns="36576">
            <a:spAutoFit/>
          </a:bodyPr>
          <a:lstStyle/>
          <a:p>
            <a:pPr algn="l">
              <a:spcAft>
                <a:spcPts val="0"/>
              </a:spcAft>
            </a:pPr>
            <a:r>
              <a:rPr sz="1200" b="0">
                <a:solidFill>
                  <a:srgbClr val="172433"/>
                </a:solidFill>
                <a:latin typeface="Arial"/>
              </a:rPr>
              <a:t>________________________________________</a:t>
            </a:r>
          </a:p>
        </p:txBody>
      </p:sp>
      <p:sp>
        <p:nvSpPr>
          <p:cNvPr id="27" name="TextBox 26"/>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8" name="TextBox 27"/>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9" name="TextBox 2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3</a:t>
            </a:r>
          </a:p>
        </p:txBody>
      </p:sp>
    </p:spTree>
  </p:cSld>
  <p:transition spd="fast">
    <p:fade/>
  </p:transition>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YOUR TRAINER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About the Trainer</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3246120" cy="4297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508760" y="2240280"/>
            <a:ext cx="1645920" cy="164592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2670048"/>
            <a:ext cx="1645920" cy="548640"/>
          </a:xfrm>
          <a:prstGeom prst="rect">
            <a:avLst/>
          </a:prstGeom>
          <a:noFill/>
        </p:spPr>
        <p:txBody>
          <a:bodyPr wrap="square" anchor="t" lIns="36576" rIns="36576" tIns="36576" bIns="36576">
            <a:spAutoFit/>
          </a:bodyPr>
          <a:lstStyle/>
          <a:p>
            <a:pPr algn="ctr">
              <a:spcAft>
                <a:spcPts val="0"/>
              </a:spcAft>
            </a:pPr>
            <a:r>
              <a:rPr sz="3800" b="1">
                <a:solidFill>
                  <a:srgbClr val="FFFFFF"/>
                </a:solidFill>
                <a:latin typeface="Arial"/>
              </a:rPr>
              <a:t>AA</a:t>
            </a:r>
          </a:p>
        </p:txBody>
      </p:sp>
      <p:sp>
        <p:nvSpPr>
          <p:cNvPr id="10" name="TextBox 9"/>
          <p:cNvSpPr txBox="1"/>
          <p:nvPr/>
        </p:nvSpPr>
        <p:spPr>
          <a:xfrm>
            <a:off x="941832" y="4206240"/>
            <a:ext cx="2788920" cy="502920"/>
          </a:xfrm>
          <a:prstGeom prst="rect">
            <a:avLst/>
          </a:prstGeom>
          <a:noFill/>
        </p:spPr>
        <p:txBody>
          <a:bodyPr wrap="square" anchor="t" lIns="36576" rIns="36576" tIns="36576" bIns="36576">
            <a:spAutoFit/>
          </a:bodyPr>
          <a:lstStyle/>
          <a:p>
            <a:pPr algn="ctr">
              <a:spcAft>
                <a:spcPts val="0"/>
              </a:spcAft>
            </a:pPr>
            <a:r>
              <a:rPr sz="2000" b="1">
                <a:solidFill>
                  <a:srgbClr val="172433"/>
                </a:solidFill>
                <a:latin typeface="Arial"/>
              </a:rPr>
              <a:t>Dr Alfred Ang</a:t>
            </a:r>
          </a:p>
        </p:txBody>
      </p:sp>
      <p:sp>
        <p:nvSpPr>
          <p:cNvPr id="11" name="TextBox 10"/>
          <p:cNvSpPr txBox="1"/>
          <p:nvPr/>
        </p:nvSpPr>
        <p:spPr>
          <a:xfrm>
            <a:off x="941832" y="4773168"/>
            <a:ext cx="2788920" cy="822960"/>
          </a:xfrm>
          <a:prstGeom prst="rect">
            <a:avLst/>
          </a:prstGeom>
          <a:noFill/>
        </p:spPr>
        <p:txBody>
          <a:bodyPr wrap="square" anchor="t" lIns="36576" rIns="36576" tIns="36576" bIns="36576">
            <a:spAutoFit/>
          </a:bodyPr>
          <a:lstStyle/>
          <a:p>
            <a:pPr algn="ctr">
              <a:spcAft>
                <a:spcPts val="0"/>
              </a:spcAft>
            </a:pPr>
            <a:r>
              <a:rPr sz="1250" b="0">
                <a:solidFill>
                  <a:srgbClr val="475569"/>
                </a:solidFill>
                <a:latin typeface="Arial"/>
              </a:rPr>
              <a:t>Principal Trainer · Tertiary Infotech Academy</a:t>
            </a:r>
          </a:p>
        </p:txBody>
      </p:sp>
      <p:sp>
        <p:nvSpPr>
          <p:cNvPr id="12" name="Rounded Rectangle 11"/>
          <p:cNvSpPr/>
          <p:nvPr/>
        </p:nvSpPr>
        <p:spPr>
          <a:xfrm>
            <a:off x="4315968" y="1783080"/>
            <a:ext cx="7223760" cy="89611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1929384"/>
            <a:ext cx="1572768" cy="228600"/>
          </a:xfrm>
          <a:prstGeom prst="rect">
            <a:avLst/>
          </a:prstGeom>
          <a:noFill/>
        </p:spPr>
        <p:txBody>
          <a:bodyPr wrap="square" anchor="t" lIns="36576" rIns="36576" tIns="36576" bIns="36576">
            <a:spAutoFit/>
          </a:bodyPr>
          <a:lstStyle/>
          <a:p>
            <a:pPr algn="l">
              <a:spcAft>
                <a:spcPts val="0"/>
              </a:spcAft>
            </a:pPr>
            <a:r>
              <a:rPr sz="950" b="1">
                <a:solidFill>
                  <a:srgbClr val="2563EB"/>
                </a:solidFill>
                <a:latin typeface="Arial"/>
              </a:rPr>
              <a:t>ROLE</a:t>
            </a:r>
          </a:p>
        </p:txBody>
      </p:sp>
      <p:sp>
        <p:nvSpPr>
          <p:cNvPr id="14" name="TextBox 13"/>
          <p:cNvSpPr txBox="1"/>
          <p:nvPr/>
        </p:nvSpPr>
        <p:spPr>
          <a:xfrm>
            <a:off x="6144768" y="1911096"/>
            <a:ext cx="5074920" cy="530352"/>
          </a:xfrm>
          <a:prstGeom prst="rect">
            <a:avLst/>
          </a:prstGeom>
          <a:noFill/>
        </p:spPr>
        <p:txBody>
          <a:bodyPr wrap="square" anchor="t" lIns="36576" rIns="36576" tIns="36576" bIns="36576">
            <a:spAutoFit/>
          </a:bodyPr>
          <a:lstStyle/>
          <a:p>
            <a:pPr algn="l">
              <a:spcAft>
                <a:spcPts val="0"/>
              </a:spcAft>
            </a:pPr>
            <a:r>
              <a:rPr sz="1200" b="0">
                <a:solidFill>
                  <a:srgbClr val="172433"/>
                </a:solidFill>
                <a:latin typeface="Arial"/>
              </a:rPr>
              <a:t>Founder and principal trainer</a:t>
            </a:r>
          </a:p>
        </p:txBody>
      </p:sp>
      <p:sp>
        <p:nvSpPr>
          <p:cNvPr id="15" name="Rounded Rectangle 14"/>
          <p:cNvSpPr/>
          <p:nvPr/>
        </p:nvSpPr>
        <p:spPr>
          <a:xfrm>
            <a:off x="4315968" y="2816351"/>
            <a:ext cx="7223760" cy="89611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0288" y="2962655"/>
            <a:ext cx="1572768" cy="228600"/>
          </a:xfrm>
          <a:prstGeom prst="rect">
            <a:avLst/>
          </a:prstGeom>
          <a:noFill/>
        </p:spPr>
        <p:txBody>
          <a:bodyPr wrap="square" anchor="t" lIns="36576" rIns="36576" tIns="36576" bIns="36576">
            <a:spAutoFit/>
          </a:bodyPr>
          <a:lstStyle/>
          <a:p>
            <a:pPr algn="l">
              <a:spcAft>
                <a:spcPts val="0"/>
              </a:spcAft>
            </a:pPr>
            <a:r>
              <a:rPr sz="950" b="1">
                <a:solidFill>
                  <a:srgbClr val="06B6D4"/>
                </a:solidFill>
                <a:latin typeface="Arial"/>
              </a:rPr>
              <a:t>FOCUS</a:t>
            </a:r>
          </a:p>
        </p:txBody>
      </p:sp>
      <p:sp>
        <p:nvSpPr>
          <p:cNvPr id="17" name="TextBox 16"/>
          <p:cNvSpPr txBox="1"/>
          <p:nvPr/>
        </p:nvSpPr>
        <p:spPr>
          <a:xfrm>
            <a:off x="6144768" y="2944367"/>
            <a:ext cx="5074920" cy="530352"/>
          </a:xfrm>
          <a:prstGeom prst="rect">
            <a:avLst/>
          </a:prstGeom>
          <a:noFill/>
        </p:spPr>
        <p:txBody>
          <a:bodyPr wrap="square" anchor="t" lIns="36576" rIns="36576" tIns="36576" bIns="36576">
            <a:spAutoFit/>
          </a:bodyPr>
          <a:lstStyle/>
          <a:p>
            <a:pPr algn="l">
              <a:spcAft>
                <a:spcPts val="0"/>
              </a:spcAft>
            </a:pPr>
            <a:r>
              <a:rPr sz="1200" b="0">
                <a:solidFill>
                  <a:srgbClr val="172433"/>
                </a:solidFill>
                <a:latin typeface="Arial"/>
              </a:rPr>
              <a:t>AI, cloud, software engineering and applied digital skills</a:t>
            </a:r>
          </a:p>
        </p:txBody>
      </p:sp>
      <p:sp>
        <p:nvSpPr>
          <p:cNvPr id="18" name="Rounded Rectangle 17"/>
          <p:cNvSpPr/>
          <p:nvPr/>
        </p:nvSpPr>
        <p:spPr>
          <a:xfrm>
            <a:off x="4315968" y="3849622"/>
            <a:ext cx="7223760" cy="89611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0288" y="3995926"/>
            <a:ext cx="1572768" cy="228600"/>
          </a:xfrm>
          <a:prstGeom prst="rect">
            <a:avLst/>
          </a:prstGeom>
          <a:noFill/>
        </p:spPr>
        <p:txBody>
          <a:bodyPr wrap="square" anchor="t" lIns="36576" rIns="36576" tIns="36576" bIns="36576">
            <a:spAutoFit/>
          </a:bodyPr>
          <a:lstStyle/>
          <a:p>
            <a:pPr algn="l">
              <a:spcAft>
                <a:spcPts val="0"/>
              </a:spcAft>
            </a:pPr>
            <a:r>
              <a:rPr sz="950" b="1">
                <a:solidFill>
                  <a:srgbClr val="10B981"/>
                </a:solidFill>
                <a:latin typeface="Arial"/>
              </a:rPr>
              <a:t>QUALIFICATIONS</a:t>
            </a:r>
          </a:p>
        </p:txBody>
      </p:sp>
      <p:sp>
        <p:nvSpPr>
          <p:cNvPr id="20" name="TextBox 19"/>
          <p:cNvSpPr txBox="1"/>
          <p:nvPr/>
        </p:nvSpPr>
        <p:spPr>
          <a:xfrm>
            <a:off x="6144768" y="3977638"/>
            <a:ext cx="5074920" cy="530352"/>
          </a:xfrm>
          <a:prstGeom prst="rect">
            <a:avLst/>
          </a:prstGeom>
          <a:noFill/>
        </p:spPr>
        <p:txBody>
          <a:bodyPr wrap="square" anchor="t" lIns="36576" rIns="36576" tIns="36576" bIns="36576">
            <a:spAutoFit/>
          </a:bodyPr>
          <a:lstStyle/>
          <a:p>
            <a:pPr algn="l">
              <a:spcAft>
                <a:spcPts val="0"/>
              </a:spcAft>
            </a:pPr>
            <a:r>
              <a:rPr sz="1200" b="0">
                <a:solidFill>
                  <a:srgbClr val="172433"/>
                </a:solidFill>
                <a:latin typeface="Arial"/>
              </a:rPr>
              <a:t>PhD · DACE · ACTA</a:t>
            </a:r>
          </a:p>
        </p:txBody>
      </p:sp>
      <p:sp>
        <p:nvSpPr>
          <p:cNvPr id="21" name="Rounded Rectangle 20"/>
          <p:cNvSpPr/>
          <p:nvPr/>
        </p:nvSpPr>
        <p:spPr>
          <a:xfrm>
            <a:off x="4315968" y="4882893"/>
            <a:ext cx="7223760" cy="89611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90288" y="5029197"/>
            <a:ext cx="1572768" cy="228600"/>
          </a:xfrm>
          <a:prstGeom prst="rect">
            <a:avLst/>
          </a:prstGeom>
          <a:noFill/>
        </p:spPr>
        <p:txBody>
          <a:bodyPr wrap="square" anchor="t" lIns="36576" rIns="36576" tIns="36576" bIns="36576">
            <a:spAutoFit/>
          </a:bodyPr>
          <a:lstStyle/>
          <a:p>
            <a:pPr algn="l">
              <a:spcAft>
                <a:spcPts val="0"/>
              </a:spcAft>
            </a:pPr>
            <a:r>
              <a:rPr sz="950" b="1">
                <a:solidFill>
                  <a:srgbClr val="7C3AED"/>
                </a:solidFill>
                <a:latin typeface="Arial"/>
              </a:rPr>
              <a:t>TEACHING APPROACH</a:t>
            </a:r>
          </a:p>
        </p:txBody>
      </p:sp>
      <p:sp>
        <p:nvSpPr>
          <p:cNvPr id="23" name="TextBox 22"/>
          <p:cNvSpPr txBox="1"/>
          <p:nvPr/>
        </p:nvSpPr>
        <p:spPr>
          <a:xfrm>
            <a:off x="6144768" y="5010909"/>
            <a:ext cx="5074920" cy="530352"/>
          </a:xfrm>
          <a:prstGeom prst="rect">
            <a:avLst/>
          </a:prstGeom>
          <a:noFill/>
        </p:spPr>
        <p:txBody>
          <a:bodyPr wrap="square" anchor="t" lIns="36576" rIns="36576" tIns="36576" bIns="36576">
            <a:spAutoFit/>
          </a:bodyPr>
          <a:lstStyle/>
          <a:p>
            <a:pPr algn="l">
              <a:spcAft>
                <a:spcPts val="0"/>
              </a:spcAft>
            </a:pPr>
            <a:r>
              <a:rPr sz="1200" b="0">
                <a:solidFill>
                  <a:srgbClr val="172433"/>
                </a:solidFill>
                <a:latin typeface="Arial"/>
              </a:rPr>
              <a:t>Mechanism, evidence, safe experimentation and verification</a:t>
            </a:r>
          </a:p>
        </p:txBody>
      </p:sp>
      <p:sp>
        <p:nvSpPr>
          <p:cNvPr id="24" name="TextBox 23"/>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5" name="TextBox 24"/>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6" name="TextBox 25"/>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4</a:t>
            </a:r>
          </a:p>
        </p:txBody>
      </p:sp>
    </p:spTree>
  </p:cSld>
  <p:transition spd="fast">
    <p:fade/>
  </p:transition>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COURSE ADMINISTRATION</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Let’s Know Each Other</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37360"/>
            <a:ext cx="5289804" cy="2093976"/>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37360"/>
            <a:ext cx="73152" cy="209397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938528"/>
            <a:ext cx="475488" cy="475488"/>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993392"/>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1</a:t>
            </a:r>
          </a:p>
        </p:txBody>
      </p:sp>
      <p:sp>
        <p:nvSpPr>
          <p:cNvPr id="11" name="TextBox 10"/>
          <p:cNvSpPr txBox="1"/>
          <p:nvPr/>
        </p:nvSpPr>
        <p:spPr>
          <a:xfrm>
            <a:off x="1554480" y="1901952"/>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Role</a:t>
            </a:r>
          </a:p>
        </p:txBody>
      </p:sp>
      <p:sp>
        <p:nvSpPr>
          <p:cNvPr id="12" name="TextBox 11"/>
          <p:cNvSpPr txBox="1"/>
          <p:nvPr/>
        </p:nvSpPr>
        <p:spPr>
          <a:xfrm>
            <a:off x="1554480" y="2304288"/>
            <a:ext cx="4238244" cy="1435608"/>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What systems or business processes do you work with?</a:t>
            </a:r>
          </a:p>
        </p:txBody>
      </p:sp>
      <p:sp>
        <p:nvSpPr>
          <p:cNvPr id="13" name="Rounded Rectangle 12"/>
          <p:cNvSpPr/>
          <p:nvPr/>
        </p:nvSpPr>
        <p:spPr>
          <a:xfrm>
            <a:off x="6259068" y="1737360"/>
            <a:ext cx="5289804" cy="2093976"/>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59068" y="1737360"/>
            <a:ext cx="73152" cy="20939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60236" y="1938528"/>
            <a:ext cx="475488" cy="475488"/>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0236" y="1993392"/>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2</a:t>
            </a:r>
          </a:p>
        </p:txBody>
      </p:sp>
      <p:sp>
        <p:nvSpPr>
          <p:cNvPr id="17" name="TextBox 16"/>
          <p:cNvSpPr txBox="1"/>
          <p:nvPr/>
        </p:nvSpPr>
        <p:spPr>
          <a:xfrm>
            <a:off x="7100316" y="1901952"/>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Experience</a:t>
            </a:r>
          </a:p>
        </p:txBody>
      </p:sp>
      <p:sp>
        <p:nvSpPr>
          <p:cNvPr id="18" name="TextBox 17"/>
          <p:cNvSpPr txBox="1"/>
          <p:nvPr/>
        </p:nvSpPr>
        <p:spPr>
          <a:xfrm>
            <a:off x="7100316" y="2304288"/>
            <a:ext cx="4238244" cy="1435608"/>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What have you built with Python, JavaScript or APIs?</a:t>
            </a:r>
          </a:p>
        </p:txBody>
      </p:sp>
      <p:sp>
        <p:nvSpPr>
          <p:cNvPr id="19" name="Rounded Rectangle 18"/>
          <p:cNvSpPr/>
          <p:nvPr/>
        </p:nvSpPr>
        <p:spPr>
          <a:xfrm>
            <a:off x="713232" y="4050792"/>
            <a:ext cx="5289804" cy="2093976"/>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13232" y="4050792"/>
            <a:ext cx="73152" cy="20939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4400" y="4251960"/>
            <a:ext cx="475488" cy="47548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306824"/>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3</a:t>
            </a:r>
          </a:p>
        </p:txBody>
      </p:sp>
      <p:sp>
        <p:nvSpPr>
          <p:cNvPr id="23" name="TextBox 22"/>
          <p:cNvSpPr txBox="1"/>
          <p:nvPr/>
        </p:nvSpPr>
        <p:spPr>
          <a:xfrm>
            <a:off x="1554480" y="4215384"/>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Goal</a:t>
            </a:r>
          </a:p>
        </p:txBody>
      </p:sp>
      <p:sp>
        <p:nvSpPr>
          <p:cNvPr id="24" name="TextBox 23"/>
          <p:cNvSpPr txBox="1"/>
          <p:nvPr/>
        </p:nvSpPr>
        <p:spPr>
          <a:xfrm>
            <a:off x="1554480" y="4617720"/>
            <a:ext cx="4238244" cy="1435608"/>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What API should you be able to build after this course?</a:t>
            </a:r>
          </a:p>
        </p:txBody>
      </p:sp>
      <p:sp>
        <p:nvSpPr>
          <p:cNvPr id="25" name="Rounded Rectangle 24"/>
          <p:cNvSpPr/>
          <p:nvPr/>
        </p:nvSpPr>
        <p:spPr>
          <a:xfrm>
            <a:off x="6259068" y="4050792"/>
            <a:ext cx="5289804" cy="2093976"/>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59068" y="4050792"/>
            <a:ext cx="73152" cy="209397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460236" y="4251960"/>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60236" y="4306824"/>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4</a:t>
            </a:r>
          </a:p>
        </p:txBody>
      </p:sp>
      <p:sp>
        <p:nvSpPr>
          <p:cNvPr id="29" name="TextBox 28"/>
          <p:cNvSpPr txBox="1"/>
          <p:nvPr/>
        </p:nvSpPr>
        <p:spPr>
          <a:xfrm>
            <a:off x="7100316" y="4215384"/>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Risk</a:t>
            </a:r>
          </a:p>
        </p:txBody>
      </p:sp>
      <p:sp>
        <p:nvSpPr>
          <p:cNvPr id="30" name="TextBox 29"/>
          <p:cNvSpPr txBox="1"/>
          <p:nvPr/>
        </p:nvSpPr>
        <p:spPr>
          <a:xfrm>
            <a:off x="7100316" y="4617720"/>
            <a:ext cx="4238244" cy="1435608"/>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What is one concern about AI-generated code?</a:t>
            </a:r>
          </a:p>
        </p:txBody>
      </p:sp>
      <p:sp>
        <p:nvSpPr>
          <p:cNvPr id="31" name="TextBox 30"/>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2" name="TextBox 31"/>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3" name="TextBox 3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5</a:t>
            </a:r>
          </a:p>
        </p:txBody>
      </p:sp>
    </p:spTree>
  </p:cSld>
  <p:transition spd="fast">
    <p:fade/>
  </p:transition>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F59E0B"/>
                </a:solidFill>
                <a:latin typeface="Arial"/>
              </a:rPr>
              <a:t>COURSE ADMINISTRATION</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Ground Rules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37360"/>
            <a:ext cx="5289804" cy="132283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37360"/>
            <a:ext cx="73152" cy="132283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938528"/>
            <a:ext cx="475488" cy="475488"/>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993392"/>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1</a:t>
            </a:r>
          </a:p>
        </p:txBody>
      </p:sp>
      <p:sp>
        <p:nvSpPr>
          <p:cNvPr id="11" name="TextBox 10"/>
          <p:cNvSpPr txBox="1"/>
          <p:nvPr/>
        </p:nvSpPr>
        <p:spPr>
          <a:xfrm>
            <a:off x="1554480" y="1965960"/>
            <a:ext cx="4238244" cy="957072"/>
          </a:xfrm>
          <a:prstGeom prst="rect">
            <a:avLst/>
          </a:prstGeom>
          <a:noFill/>
        </p:spPr>
        <p:txBody>
          <a:bodyPr wrap="square" anchor="ctr" lIns="36576" rIns="36576" tIns="36576" bIns="36576">
            <a:spAutoFit/>
          </a:bodyPr>
          <a:lstStyle/>
          <a:p>
            <a:pPr algn="l">
              <a:spcAft>
                <a:spcPts val="0"/>
              </a:spcAft>
            </a:pPr>
            <a:r>
              <a:rPr sz="1300" b="0">
                <a:solidFill>
                  <a:srgbClr val="172433"/>
                </a:solidFill>
                <a:latin typeface="Arial"/>
              </a:rPr>
              <a:t>Participate actively and ask technical questions.</a:t>
            </a:r>
          </a:p>
        </p:txBody>
      </p:sp>
      <p:sp>
        <p:nvSpPr>
          <p:cNvPr id="12" name="Rounded Rectangle 11"/>
          <p:cNvSpPr/>
          <p:nvPr/>
        </p:nvSpPr>
        <p:spPr>
          <a:xfrm>
            <a:off x="6259068" y="1737360"/>
            <a:ext cx="5289804" cy="132283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59068" y="1737360"/>
            <a:ext cx="73152" cy="132283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60236" y="1938528"/>
            <a:ext cx="475488" cy="475488"/>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1993392"/>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2</a:t>
            </a:r>
          </a:p>
        </p:txBody>
      </p:sp>
      <p:sp>
        <p:nvSpPr>
          <p:cNvPr id="16" name="TextBox 15"/>
          <p:cNvSpPr txBox="1"/>
          <p:nvPr/>
        </p:nvSpPr>
        <p:spPr>
          <a:xfrm>
            <a:off x="7100316" y="1965960"/>
            <a:ext cx="4238244" cy="957072"/>
          </a:xfrm>
          <a:prstGeom prst="rect">
            <a:avLst/>
          </a:prstGeom>
          <a:noFill/>
        </p:spPr>
        <p:txBody>
          <a:bodyPr wrap="square" anchor="ctr" lIns="36576" rIns="36576" tIns="36576" bIns="36576">
            <a:spAutoFit/>
          </a:bodyPr>
          <a:lstStyle/>
          <a:p>
            <a:pPr algn="l">
              <a:spcAft>
                <a:spcPts val="0"/>
              </a:spcAft>
            </a:pPr>
            <a:r>
              <a:rPr sz="1300" b="0">
                <a:solidFill>
                  <a:srgbClr val="172433"/>
                </a:solidFill>
                <a:latin typeface="Arial"/>
              </a:rPr>
              <a:t>One conversation at a time; respect different approaches.</a:t>
            </a:r>
          </a:p>
        </p:txBody>
      </p:sp>
      <p:sp>
        <p:nvSpPr>
          <p:cNvPr id="17" name="Rounded Rectangle 16"/>
          <p:cNvSpPr/>
          <p:nvPr/>
        </p:nvSpPr>
        <p:spPr>
          <a:xfrm>
            <a:off x="713232" y="3279648"/>
            <a:ext cx="5289804" cy="132283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3279648"/>
            <a:ext cx="73152"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4400" y="3480816"/>
            <a:ext cx="475488" cy="47548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535680"/>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3</a:t>
            </a:r>
          </a:p>
        </p:txBody>
      </p:sp>
      <p:sp>
        <p:nvSpPr>
          <p:cNvPr id="21" name="TextBox 20"/>
          <p:cNvSpPr txBox="1"/>
          <p:nvPr/>
        </p:nvSpPr>
        <p:spPr>
          <a:xfrm>
            <a:off x="1554480" y="3508248"/>
            <a:ext cx="4238244" cy="957072"/>
          </a:xfrm>
          <a:prstGeom prst="rect">
            <a:avLst/>
          </a:prstGeom>
          <a:noFill/>
        </p:spPr>
        <p:txBody>
          <a:bodyPr wrap="square" anchor="ctr" lIns="36576" rIns="36576" tIns="36576" bIns="36576">
            <a:spAutoFit/>
          </a:bodyPr>
          <a:lstStyle/>
          <a:p>
            <a:pPr algn="l">
              <a:spcAft>
                <a:spcPts val="0"/>
              </a:spcAft>
            </a:pPr>
            <a:r>
              <a:rPr sz="1300" b="0">
                <a:solidFill>
                  <a:srgbClr val="172433"/>
                </a:solidFill>
                <a:latin typeface="Arial"/>
              </a:rPr>
              <a:t>Use only the authorised local demo data and endpoints.</a:t>
            </a:r>
          </a:p>
        </p:txBody>
      </p:sp>
      <p:sp>
        <p:nvSpPr>
          <p:cNvPr id="22" name="Rounded Rectangle 21"/>
          <p:cNvSpPr/>
          <p:nvPr/>
        </p:nvSpPr>
        <p:spPr>
          <a:xfrm>
            <a:off x="6259068" y="3279648"/>
            <a:ext cx="5289804" cy="132283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59068" y="3279648"/>
            <a:ext cx="73152" cy="1322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460236" y="3480816"/>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535680"/>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4</a:t>
            </a:r>
          </a:p>
        </p:txBody>
      </p:sp>
      <p:sp>
        <p:nvSpPr>
          <p:cNvPr id="26" name="TextBox 25"/>
          <p:cNvSpPr txBox="1"/>
          <p:nvPr/>
        </p:nvSpPr>
        <p:spPr>
          <a:xfrm>
            <a:off x="7100316" y="3508248"/>
            <a:ext cx="4238244" cy="957072"/>
          </a:xfrm>
          <a:prstGeom prst="rect">
            <a:avLst/>
          </a:prstGeom>
          <a:noFill/>
        </p:spPr>
        <p:txBody>
          <a:bodyPr wrap="square" anchor="ctr" lIns="36576" rIns="36576" tIns="36576" bIns="36576">
            <a:spAutoFit/>
          </a:bodyPr>
          <a:lstStyle/>
          <a:p>
            <a:pPr algn="l">
              <a:spcAft>
                <a:spcPts val="0"/>
              </a:spcAft>
            </a:pPr>
            <a:r>
              <a:rPr sz="1300" b="0">
                <a:solidFill>
                  <a:srgbClr val="172433"/>
                </a:solidFill>
                <a:latin typeface="Arial"/>
              </a:rPr>
              <a:t>Never paste live credentials or personal data into AI tools.</a:t>
            </a:r>
          </a:p>
        </p:txBody>
      </p:sp>
      <p:sp>
        <p:nvSpPr>
          <p:cNvPr id="27" name="Rounded Rectangle 26"/>
          <p:cNvSpPr/>
          <p:nvPr/>
        </p:nvSpPr>
        <p:spPr>
          <a:xfrm>
            <a:off x="713232" y="4821936"/>
            <a:ext cx="5289804" cy="132283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 y="4821936"/>
            <a:ext cx="73152" cy="1322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14400" y="5023104"/>
            <a:ext cx="475488" cy="475488"/>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5077968"/>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5</a:t>
            </a:r>
          </a:p>
        </p:txBody>
      </p:sp>
      <p:sp>
        <p:nvSpPr>
          <p:cNvPr id="31" name="TextBox 30"/>
          <p:cNvSpPr txBox="1"/>
          <p:nvPr/>
        </p:nvSpPr>
        <p:spPr>
          <a:xfrm>
            <a:off x="1554480" y="5050536"/>
            <a:ext cx="4238244" cy="957072"/>
          </a:xfrm>
          <a:prstGeom prst="rect">
            <a:avLst/>
          </a:prstGeom>
          <a:noFill/>
        </p:spPr>
        <p:txBody>
          <a:bodyPr wrap="square" anchor="ctr" lIns="36576" rIns="36576" tIns="36576" bIns="36576">
            <a:spAutoFit/>
          </a:bodyPr>
          <a:lstStyle/>
          <a:p>
            <a:pPr algn="l">
              <a:spcAft>
                <a:spcPts val="0"/>
              </a:spcAft>
            </a:pPr>
            <a:r>
              <a:rPr sz="1300" b="0">
                <a:solidFill>
                  <a:srgbClr val="172433"/>
                </a:solidFill>
                <a:latin typeface="Arial"/>
              </a:rPr>
              <a:t>Return from breaks on time.</a:t>
            </a:r>
          </a:p>
        </p:txBody>
      </p:sp>
      <p:sp>
        <p:nvSpPr>
          <p:cNvPr id="32" name="Rounded Rectangle 31"/>
          <p:cNvSpPr/>
          <p:nvPr/>
        </p:nvSpPr>
        <p:spPr>
          <a:xfrm>
            <a:off x="6259068" y="4821936"/>
            <a:ext cx="5289804" cy="132283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59068" y="4821936"/>
            <a:ext cx="73152" cy="132283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460236" y="5023104"/>
            <a:ext cx="475488" cy="475488"/>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077968"/>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6</a:t>
            </a:r>
          </a:p>
        </p:txBody>
      </p:sp>
      <p:sp>
        <p:nvSpPr>
          <p:cNvPr id="36" name="TextBox 35"/>
          <p:cNvSpPr txBox="1"/>
          <p:nvPr/>
        </p:nvSpPr>
        <p:spPr>
          <a:xfrm>
            <a:off x="7100316" y="5050536"/>
            <a:ext cx="4238244" cy="957072"/>
          </a:xfrm>
          <a:prstGeom prst="rect">
            <a:avLst/>
          </a:prstGeom>
          <a:noFill/>
        </p:spPr>
        <p:txBody>
          <a:bodyPr wrap="square" anchor="ctr" lIns="36576" rIns="36576" tIns="36576" bIns="36576">
            <a:spAutoFit/>
          </a:bodyPr>
          <a:lstStyle/>
          <a:p>
            <a:pPr algn="l">
              <a:spcAft>
                <a:spcPts val="0"/>
              </a:spcAft>
            </a:pPr>
            <a:r>
              <a:rPr sz="1300" b="0">
                <a:solidFill>
                  <a:srgbClr val="172433"/>
                </a:solidFill>
                <a:latin typeface="Arial"/>
              </a:rPr>
              <a:t>Capture evidence as you complete each lab.</a:t>
            </a:r>
          </a:p>
        </p:txBody>
      </p:sp>
      <p:sp>
        <p:nvSpPr>
          <p:cNvPr id="37" name="TextBox 36"/>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8" name="TextBox 37"/>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9" name="TextBox 3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6</a:t>
            </a:r>
          </a:p>
        </p:txBody>
      </p:sp>
    </p:spTree>
  </p:cSld>
  <p:transition spd="fast">
    <p:fade/>
  </p:transition>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COURSE ADMINISTRATION</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Course at a Glance</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37360"/>
            <a:ext cx="3441192" cy="2093976"/>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37360"/>
            <a:ext cx="73152" cy="209397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938528"/>
            <a:ext cx="475488" cy="475488"/>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993392"/>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1</a:t>
            </a:r>
          </a:p>
        </p:txBody>
      </p:sp>
      <p:sp>
        <p:nvSpPr>
          <p:cNvPr id="11" name="TextBox 10"/>
          <p:cNvSpPr txBox="1"/>
          <p:nvPr/>
        </p:nvSpPr>
        <p:spPr>
          <a:xfrm>
            <a:off x="1554480" y="1901952"/>
            <a:ext cx="2389632"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Course</a:t>
            </a:r>
          </a:p>
        </p:txBody>
      </p:sp>
      <p:sp>
        <p:nvSpPr>
          <p:cNvPr id="12" name="TextBox 11"/>
          <p:cNvSpPr txBox="1"/>
          <p:nvPr/>
        </p:nvSpPr>
        <p:spPr>
          <a:xfrm>
            <a:off x="1554480" y="2304288"/>
            <a:ext cx="2389632" cy="1435608"/>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Create RESTful APIs and Web Apps with Python Flask</a:t>
            </a:r>
          </a:p>
        </p:txBody>
      </p:sp>
      <p:sp>
        <p:nvSpPr>
          <p:cNvPr id="13" name="Rounded Rectangle 12"/>
          <p:cNvSpPr/>
          <p:nvPr/>
        </p:nvSpPr>
        <p:spPr>
          <a:xfrm>
            <a:off x="4410456" y="1737360"/>
            <a:ext cx="3441192" cy="2093976"/>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0456" y="1737360"/>
            <a:ext cx="73152" cy="20939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611624" y="1938528"/>
            <a:ext cx="475488" cy="475488"/>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1624" y="1993392"/>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2</a:t>
            </a:r>
          </a:p>
        </p:txBody>
      </p:sp>
      <p:sp>
        <p:nvSpPr>
          <p:cNvPr id="17" name="TextBox 16"/>
          <p:cNvSpPr txBox="1"/>
          <p:nvPr/>
        </p:nvSpPr>
        <p:spPr>
          <a:xfrm>
            <a:off x="5251704" y="1901952"/>
            <a:ext cx="2389632"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Code</a:t>
            </a:r>
          </a:p>
        </p:txBody>
      </p:sp>
      <p:sp>
        <p:nvSpPr>
          <p:cNvPr id="18" name="TextBox 17"/>
          <p:cNvSpPr txBox="1"/>
          <p:nvPr/>
        </p:nvSpPr>
        <p:spPr>
          <a:xfrm>
            <a:off x="5251704" y="2304288"/>
            <a:ext cx="2389632" cy="1435608"/>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TGS-2021010365</a:t>
            </a:r>
          </a:p>
        </p:txBody>
      </p:sp>
      <p:sp>
        <p:nvSpPr>
          <p:cNvPr id="19" name="Rounded Rectangle 18"/>
          <p:cNvSpPr/>
          <p:nvPr/>
        </p:nvSpPr>
        <p:spPr>
          <a:xfrm>
            <a:off x="8107680" y="1737360"/>
            <a:ext cx="3441192" cy="2093976"/>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07680" y="1737360"/>
            <a:ext cx="73152" cy="20939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308848" y="1938528"/>
            <a:ext cx="475488" cy="47548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08848" y="1993392"/>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3</a:t>
            </a:r>
          </a:p>
        </p:txBody>
      </p:sp>
      <p:sp>
        <p:nvSpPr>
          <p:cNvPr id="23" name="TextBox 22"/>
          <p:cNvSpPr txBox="1"/>
          <p:nvPr/>
        </p:nvSpPr>
        <p:spPr>
          <a:xfrm>
            <a:off x="8948928" y="1901952"/>
            <a:ext cx="2389632"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Duration</a:t>
            </a:r>
          </a:p>
        </p:txBody>
      </p:sp>
      <p:sp>
        <p:nvSpPr>
          <p:cNvPr id="24" name="TextBox 23"/>
          <p:cNvSpPr txBox="1"/>
          <p:nvPr/>
        </p:nvSpPr>
        <p:spPr>
          <a:xfrm>
            <a:off x="8948928" y="2304288"/>
            <a:ext cx="2389632" cy="1435608"/>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2 days · 16 training hours</a:t>
            </a:r>
          </a:p>
        </p:txBody>
      </p:sp>
      <p:sp>
        <p:nvSpPr>
          <p:cNvPr id="25" name="Rounded Rectangle 24"/>
          <p:cNvSpPr/>
          <p:nvPr/>
        </p:nvSpPr>
        <p:spPr>
          <a:xfrm>
            <a:off x="713232" y="4050792"/>
            <a:ext cx="3441192" cy="2093976"/>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13232" y="4050792"/>
            <a:ext cx="73152" cy="209397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14400" y="4251960"/>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4306824"/>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4</a:t>
            </a:r>
          </a:p>
        </p:txBody>
      </p:sp>
      <p:sp>
        <p:nvSpPr>
          <p:cNvPr id="29" name="TextBox 28"/>
          <p:cNvSpPr txBox="1"/>
          <p:nvPr/>
        </p:nvSpPr>
        <p:spPr>
          <a:xfrm>
            <a:off x="1554480" y="4215384"/>
            <a:ext cx="2389632"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Level</a:t>
            </a:r>
          </a:p>
        </p:txBody>
      </p:sp>
      <p:sp>
        <p:nvSpPr>
          <p:cNvPr id="30" name="TextBox 29"/>
          <p:cNvSpPr txBox="1"/>
          <p:nvPr/>
        </p:nvSpPr>
        <p:spPr>
          <a:xfrm>
            <a:off x="1554480" y="4617720"/>
            <a:ext cx="2389632" cy="1435608"/>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Beginner</a:t>
            </a:r>
          </a:p>
        </p:txBody>
      </p:sp>
      <p:sp>
        <p:nvSpPr>
          <p:cNvPr id="31" name="Rounded Rectangle 30"/>
          <p:cNvSpPr/>
          <p:nvPr/>
        </p:nvSpPr>
        <p:spPr>
          <a:xfrm>
            <a:off x="4410456" y="4050792"/>
            <a:ext cx="3441192" cy="2093976"/>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410456" y="4050792"/>
            <a:ext cx="73152" cy="20939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611624" y="4251960"/>
            <a:ext cx="475488" cy="475488"/>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11624" y="4306824"/>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5</a:t>
            </a:r>
          </a:p>
        </p:txBody>
      </p:sp>
      <p:sp>
        <p:nvSpPr>
          <p:cNvPr id="35" name="TextBox 34"/>
          <p:cNvSpPr txBox="1"/>
          <p:nvPr/>
        </p:nvSpPr>
        <p:spPr>
          <a:xfrm>
            <a:off x="5251704" y="4215384"/>
            <a:ext cx="2389632"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TSC</a:t>
            </a:r>
          </a:p>
        </p:txBody>
      </p:sp>
      <p:sp>
        <p:nvSpPr>
          <p:cNvPr id="36" name="TextBox 35"/>
          <p:cNvSpPr txBox="1"/>
          <p:nvPr/>
        </p:nvSpPr>
        <p:spPr>
          <a:xfrm>
            <a:off x="5251704" y="4617720"/>
            <a:ext cx="2389632" cy="1435608"/>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Applications Integration · ICT-DIT-3003-1.1</a:t>
            </a:r>
          </a:p>
        </p:txBody>
      </p:sp>
      <p:sp>
        <p:nvSpPr>
          <p:cNvPr id="37" name="Rounded Rectangle 36"/>
          <p:cNvSpPr/>
          <p:nvPr/>
        </p:nvSpPr>
        <p:spPr>
          <a:xfrm>
            <a:off x="8107680" y="4050792"/>
            <a:ext cx="3441192" cy="2093976"/>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107680" y="4050792"/>
            <a:ext cx="73152" cy="209397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308848" y="4251960"/>
            <a:ext cx="475488" cy="475488"/>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08848" y="4306824"/>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6</a:t>
            </a:r>
          </a:p>
        </p:txBody>
      </p:sp>
      <p:sp>
        <p:nvSpPr>
          <p:cNvPr id="41" name="TextBox 40"/>
          <p:cNvSpPr txBox="1"/>
          <p:nvPr/>
        </p:nvSpPr>
        <p:spPr>
          <a:xfrm>
            <a:off x="8948928" y="4215384"/>
            <a:ext cx="2389632"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Stack</a:t>
            </a:r>
          </a:p>
        </p:txBody>
      </p:sp>
      <p:sp>
        <p:nvSpPr>
          <p:cNvPr id="42" name="TextBox 41"/>
          <p:cNvSpPr txBox="1"/>
          <p:nvPr/>
        </p:nvSpPr>
        <p:spPr>
          <a:xfrm>
            <a:off x="8948928" y="4617720"/>
            <a:ext cx="2389632" cy="1435608"/>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OpenAI Python SDK · FastAPI · SQLite · browser client</a:t>
            </a:r>
          </a:p>
        </p:txBody>
      </p:sp>
      <p:sp>
        <p:nvSpPr>
          <p:cNvPr id="43" name="TextBox 4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44" name="TextBox 4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45" name="TextBox 44"/>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7</a:t>
            </a:r>
          </a:p>
        </p:txBody>
      </p:sp>
    </p:spTree>
  </p:cSld>
  <p:transition spd="fast">
    <p:fade/>
  </p:transition>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COURSE ADMINISTRATION</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Learning Outcomes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37360"/>
            <a:ext cx="5289804" cy="132283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37360"/>
            <a:ext cx="73152" cy="132283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938528"/>
            <a:ext cx="475488" cy="475488"/>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993392"/>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1</a:t>
            </a:r>
          </a:p>
        </p:txBody>
      </p:sp>
      <p:sp>
        <p:nvSpPr>
          <p:cNvPr id="11" name="TextBox 10"/>
          <p:cNvSpPr txBox="1"/>
          <p:nvPr/>
        </p:nvSpPr>
        <p:spPr>
          <a:xfrm>
            <a:off x="1554480" y="1901952"/>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LO1</a:t>
            </a:r>
          </a:p>
        </p:txBody>
      </p:sp>
      <p:sp>
        <p:nvSpPr>
          <p:cNvPr id="12" name="TextBox 11"/>
          <p:cNvSpPr txBox="1"/>
          <p:nvPr/>
        </p:nvSpPr>
        <p:spPr>
          <a:xfrm>
            <a:off x="1554480" y="2304288"/>
            <a:ext cx="4238244" cy="664464"/>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Identify and assess FastAPI as middleware for creating connections between web clients, applications and data stores.</a:t>
            </a:r>
          </a:p>
        </p:txBody>
      </p:sp>
      <p:sp>
        <p:nvSpPr>
          <p:cNvPr id="13" name="Rounded Rectangle 12"/>
          <p:cNvSpPr/>
          <p:nvPr/>
        </p:nvSpPr>
        <p:spPr>
          <a:xfrm>
            <a:off x="6259068" y="1737360"/>
            <a:ext cx="5289804" cy="132283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59068" y="1737360"/>
            <a:ext cx="73152" cy="132283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60236" y="1938528"/>
            <a:ext cx="475488" cy="475488"/>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0236" y="1993392"/>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2</a:t>
            </a:r>
          </a:p>
        </p:txBody>
      </p:sp>
      <p:sp>
        <p:nvSpPr>
          <p:cNvPr id="17" name="TextBox 16"/>
          <p:cNvSpPr txBox="1"/>
          <p:nvPr/>
        </p:nvSpPr>
        <p:spPr>
          <a:xfrm>
            <a:off x="7100316" y="1901952"/>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LO2</a:t>
            </a:r>
          </a:p>
        </p:txBody>
      </p:sp>
      <p:sp>
        <p:nvSpPr>
          <p:cNvPr id="18" name="TextBox 17"/>
          <p:cNvSpPr txBox="1"/>
          <p:nvPr/>
        </p:nvSpPr>
        <p:spPr>
          <a:xfrm>
            <a:off x="7100316" y="2304288"/>
            <a:ext cx="4238244" cy="664464"/>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Integrate data and functions into a browser web app through typed FastAPI routes and reusable Python services.</a:t>
            </a:r>
          </a:p>
        </p:txBody>
      </p:sp>
      <p:sp>
        <p:nvSpPr>
          <p:cNvPr id="19" name="Rounded Rectangle 18"/>
          <p:cNvSpPr/>
          <p:nvPr/>
        </p:nvSpPr>
        <p:spPr>
          <a:xfrm>
            <a:off x="713232" y="3279648"/>
            <a:ext cx="5289804" cy="132283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13232" y="3279648"/>
            <a:ext cx="73152"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4400" y="3480816"/>
            <a:ext cx="475488" cy="47548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3535680"/>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3</a:t>
            </a:r>
          </a:p>
        </p:txBody>
      </p:sp>
      <p:sp>
        <p:nvSpPr>
          <p:cNvPr id="23" name="TextBox 22"/>
          <p:cNvSpPr txBox="1"/>
          <p:nvPr/>
        </p:nvSpPr>
        <p:spPr>
          <a:xfrm>
            <a:off x="1554480" y="3444240"/>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LO3</a:t>
            </a:r>
          </a:p>
        </p:txBody>
      </p:sp>
      <p:sp>
        <p:nvSpPr>
          <p:cNvPr id="24" name="TextBox 23"/>
          <p:cNvSpPr txBox="1"/>
          <p:nvPr/>
        </p:nvSpPr>
        <p:spPr>
          <a:xfrm>
            <a:off x="1554480" y="3846576"/>
            <a:ext cx="4238244" cy="664464"/>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Support API-level integration using REST semantics, JSON and an OpenAPI 3.1 contract.</a:t>
            </a:r>
          </a:p>
        </p:txBody>
      </p:sp>
      <p:sp>
        <p:nvSpPr>
          <p:cNvPr id="25" name="Rounded Rectangle 24"/>
          <p:cNvSpPr/>
          <p:nvPr/>
        </p:nvSpPr>
        <p:spPr>
          <a:xfrm>
            <a:off x="6259068" y="3279648"/>
            <a:ext cx="5289804" cy="132283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59068" y="3279648"/>
            <a:ext cx="73152" cy="1322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460236" y="3480816"/>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60236" y="3535680"/>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4</a:t>
            </a:r>
          </a:p>
        </p:txBody>
      </p:sp>
      <p:sp>
        <p:nvSpPr>
          <p:cNvPr id="29" name="TextBox 28"/>
          <p:cNvSpPr txBox="1"/>
          <p:nvPr/>
        </p:nvSpPr>
        <p:spPr>
          <a:xfrm>
            <a:off x="7100316" y="3444240"/>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LO4</a:t>
            </a:r>
          </a:p>
        </p:txBody>
      </p:sp>
      <p:sp>
        <p:nvSpPr>
          <p:cNvPr id="30" name="TextBox 29"/>
          <p:cNvSpPr txBox="1"/>
          <p:nvPr/>
        </p:nvSpPr>
        <p:spPr>
          <a:xfrm>
            <a:off x="7100316" y="3846576"/>
            <a:ext cx="4238244" cy="664464"/>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Perform tests and checks on FastAPI-to-SQLite connections using Swagger UI, pytest, logs and VS Code debugging.</a:t>
            </a:r>
          </a:p>
        </p:txBody>
      </p:sp>
      <p:sp>
        <p:nvSpPr>
          <p:cNvPr id="31" name="Rounded Rectangle 30"/>
          <p:cNvSpPr/>
          <p:nvPr/>
        </p:nvSpPr>
        <p:spPr>
          <a:xfrm>
            <a:off x="713232" y="4821936"/>
            <a:ext cx="5289804" cy="132283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13232" y="4821936"/>
            <a:ext cx="73152" cy="1322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14400" y="5023104"/>
            <a:ext cx="475488" cy="475488"/>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5077968"/>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5</a:t>
            </a:r>
          </a:p>
        </p:txBody>
      </p:sp>
      <p:sp>
        <p:nvSpPr>
          <p:cNvPr id="35" name="TextBox 34"/>
          <p:cNvSpPr txBox="1"/>
          <p:nvPr/>
        </p:nvSpPr>
        <p:spPr>
          <a:xfrm>
            <a:off x="1554480" y="4986528"/>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LO5</a:t>
            </a:r>
          </a:p>
        </p:txBody>
      </p:sp>
      <p:sp>
        <p:nvSpPr>
          <p:cNvPr id="36" name="TextBox 35"/>
          <p:cNvSpPr txBox="1"/>
          <p:nvPr/>
        </p:nvSpPr>
        <p:spPr>
          <a:xfrm>
            <a:off x="1554480" y="5388864"/>
            <a:ext cx="4238244" cy="664464"/>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Modify a FastAPI service to improve integration, validation, compatibility, performance and security.</a:t>
            </a:r>
          </a:p>
        </p:txBody>
      </p:sp>
      <p:sp>
        <p:nvSpPr>
          <p:cNvPr id="37" name="TextBox 36"/>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8" name="TextBox 37"/>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9" name="TextBox 3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8</a:t>
            </a:r>
          </a:p>
        </p:txBody>
      </p:sp>
    </p:spTree>
  </p:cSld>
  <p:transition spd="fast">
    <p:fade/>
  </p:transition>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TSC ALIGNMENT</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Knowledge Criteria K1–K5</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37360"/>
            <a:ext cx="5289804" cy="132283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37360"/>
            <a:ext cx="73152" cy="132283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938528"/>
            <a:ext cx="475488" cy="475488"/>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993392"/>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1</a:t>
            </a:r>
          </a:p>
        </p:txBody>
      </p:sp>
      <p:sp>
        <p:nvSpPr>
          <p:cNvPr id="11" name="TextBox 10"/>
          <p:cNvSpPr txBox="1"/>
          <p:nvPr/>
        </p:nvSpPr>
        <p:spPr>
          <a:xfrm>
            <a:off x="1554480" y="1901952"/>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K1</a:t>
            </a:r>
          </a:p>
        </p:txBody>
      </p:sp>
      <p:sp>
        <p:nvSpPr>
          <p:cNvPr id="12" name="TextBox 11"/>
          <p:cNvSpPr txBox="1"/>
          <p:nvPr/>
        </p:nvSpPr>
        <p:spPr>
          <a:xfrm>
            <a:off x="1554480" y="2304288"/>
            <a:ext cx="4238244" cy="664464"/>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Types of middleware and their features</a:t>
            </a:r>
          </a:p>
        </p:txBody>
      </p:sp>
      <p:sp>
        <p:nvSpPr>
          <p:cNvPr id="13" name="Rounded Rectangle 12"/>
          <p:cNvSpPr/>
          <p:nvPr/>
        </p:nvSpPr>
        <p:spPr>
          <a:xfrm>
            <a:off x="6259068" y="1737360"/>
            <a:ext cx="5289804" cy="132283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59068" y="1737360"/>
            <a:ext cx="73152" cy="132283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60236" y="1938528"/>
            <a:ext cx="475488" cy="475488"/>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0236" y="1993392"/>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2</a:t>
            </a:r>
          </a:p>
        </p:txBody>
      </p:sp>
      <p:sp>
        <p:nvSpPr>
          <p:cNvPr id="17" name="TextBox 16"/>
          <p:cNvSpPr txBox="1"/>
          <p:nvPr/>
        </p:nvSpPr>
        <p:spPr>
          <a:xfrm>
            <a:off x="7100316" y="1901952"/>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K2</a:t>
            </a:r>
          </a:p>
        </p:txBody>
      </p:sp>
      <p:sp>
        <p:nvSpPr>
          <p:cNvPr id="18" name="TextBox 17"/>
          <p:cNvSpPr txBox="1"/>
          <p:nvPr/>
        </p:nvSpPr>
        <p:spPr>
          <a:xfrm>
            <a:off x="7100316" y="2304288"/>
            <a:ext cx="4238244" cy="664464"/>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Proper usage of middleware</a:t>
            </a:r>
          </a:p>
        </p:txBody>
      </p:sp>
      <p:sp>
        <p:nvSpPr>
          <p:cNvPr id="19" name="Rounded Rectangle 18"/>
          <p:cNvSpPr/>
          <p:nvPr/>
        </p:nvSpPr>
        <p:spPr>
          <a:xfrm>
            <a:off x="713232" y="3279648"/>
            <a:ext cx="5289804" cy="132283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13232" y="3279648"/>
            <a:ext cx="73152"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4400" y="3480816"/>
            <a:ext cx="475488" cy="47548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3535680"/>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3</a:t>
            </a:r>
          </a:p>
        </p:txBody>
      </p:sp>
      <p:sp>
        <p:nvSpPr>
          <p:cNvPr id="23" name="TextBox 22"/>
          <p:cNvSpPr txBox="1"/>
          <p:nvPr/>
        </p:nvSpPr>
        <p:spPr>
          <a:xfrm>
            <a:off x="1554480" y="3444240"/>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K3</a:t>
            </a:r>
          </a:p>
        </p:txBody>
      </p:sp>
      <p:sp>
        <p:nvSpPr>
          <p:cNvPr id="24" name="TextBox 23"/>
          <p:cNvSpPr txBox="1"/>
          <p:nvPr/>
        </p:nvSpPr>
        <p:spPr>
          <a:xfrm>
            <a:off x="1554480" y="3846576"/>
            <a:ext cx="4238244" cy="664464"/>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Different types of platforms on which applications run</a:t>
            </a:r>
          </a:p>
        </p:txBody>
      </p:sp>
      <p:sp>
        <p:nvSpPr>
          <p:cNvPr id="25" name="Rounded Rectangle 24"/>
          <p:cNvSpPr/>
          <p:nvPr/>
        </p:nvSpPr>
        <p:spPr>
          <a:xfrm>
            <a:off x="6259068" y="3279648"/>
            <a:ext cx="5289804" cy="132283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59068" y="3279648"/>
            <a:ext cx="73152" cy="1322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460236" y="3480816"/>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60236" y="3535680"/>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4</a:t>
            </a:r>
          </a:p>
        </p:txBody>
      </p:sp>
      <p:sp>
        <p:nvSpPr>
          <p:cNvPr id="29" name="TextBox 28"/>
          <p:cNvSpPr txBox="1"/>
          <p:nvPr/>
        </p:nvSpPr>
        <p:spPr>
          <a:xfrm>
            <a:off x="7100316" y="3444240"/>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K4</a:t>
            </a:r>
          </a:p>
        </p:txBody>
      </p:sp>
      <p:sp>
        <p:nvSpPr>
          <p:cNvPr id="30" name="TextBox 29"/>
          <p:cNvSpPr txBox="1"/>
          <p:nvPr/>
        </p:nvSpPr>
        <p:spPr>
          <a:xfrm>
            <a:off x="7100316" y="3846576"/>
            <a:ext cx="4238244" cy="664464"/>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Potential technical, compatibility or performance issues in application integration</a:t>
            </a:r>
          </a:p>
        </p:txBody>
      </p:sp>
      <p:sp>
        <p:nvSpPr>
          <p:cNvPr id="31" name="Rounded Rectangle 30"/>
          <p:cNvSpPr/>
          <p:nvPr/>
        </p:nvSpPr>
        <p:spPr>
          <a:xfrm>
            <a:off x="713232" y="4821936"/>
            <a:ext cx="5289804" cy="132283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13232" y="4821936"/>
            <a:ext cx="73152" cy="1322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14400" y="5023104"/>
            <a:ext cx="475488" cy="475488"/>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5077968"/>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5</a:t>
            </a:r>
          </a:p>
        </p:txBody>
      </p:sp>
      <p:sp>
        <p:nvSpPr>
          <p:cNvPr id="35" name="TextBox 34"/>
          <p:cNvSpPr txBox="1"/>
          <p:nvPr/>
        </p:nvSpPr>
        <p:spPr>
          <a:xfrm>
            <a:off x="1554480" y="4986528"/>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K5</a:t>
            </a:r>
          </a:p>
        </p:txBody>
      </p:sp>
      <p:sp>
        <p:nvSpPr>
          <p:cNvPr id="36" name="TextBox 35"/>
          <p:cNvSpPr txBox="1"/>
          <p:nvPr/>
        </p:nvSpPr>
        <p:spPr>
          <a:xfrm>
            <a:off x="1554480" y="5388864"/>
            <a:ext cx="4238244" cy="664464"/>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Functions of Application Programming Interfaces and OpenAPI descriptions</a:t>
            </a:r>
          </a:p>
        </p:txBody>
      </p:sp>
      <p:sp>
        <p:nvSpPr>
          <p:cNvPr id="37" name="TextBox 36"/>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8" name="TextBox 37"/>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9" name="TextBox 3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9</a:t>
            </a:r>
          </a:p>
        </p:txBody>
      </p:sp>
    </p:spTree>
  </p:cSld>
  <p:transition spd="fast">
    <p:fade/>
  </p:transition>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TSC ALIGNMENT</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Ability Criteria A1–A4</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37360"/>
            <a:ext cx="5289804" cy="2093976"/>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37360"/>
            <a:ext cx="73152" cy="209397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938528"/>
            <a:ext cx="475488" cy="475488"/>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993392"/>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1</a:t>
            </a:r>
          </a:p>
        </p:txBody>
      </p:sp>
      <p:sp>
        <p:nvSpPr>
          <p:cNvPr id="11" name="TextBox 10"/>
          <p:cNvSpPr txBox="1"/>
          <p:nvPr/>
        </p:nvSpPr>
        <p:spPr>
          <a:xfrm>
            <a:off x="1554480" y="1901952"/>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A1</a:t>
            </a:r>
          </a:p>
        </p:txBody>
      </p:sp>
      <p:sp>
        <p:nvSpPr>
          <p:cNvPr id="12" name="TextBox 11"/>
          <p:cNvSpPr txBox="1"/>
          <p:nvPr/>
        </p:nvSpPr>
        <p:spPr>
          <a:xfrm>
            <a:off x="1554480" y="2304288"/>
            <a:ext cx="4238244" cy="1435608"/>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Identify opportunities for creating connections among devices, databases, software and applications</a:t>
            </a:r>
          </a:p>
        </p:txBody>
      </p:sp>
      <p:sp>
        <p:nvSpPr>
          <p:cNvPr id="13" name="Rounded Rectangle 12"/>
          <p:cNvSpPr/>
          <p:nvPr/>
        </p:nvSpPr>
        <p:spPr>
          <a:xfrm>
            <a:off x="6259068" y="1737360"/>
            <a:ext cx="5289804" cy="2093976"/>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59068" y="1737360"/>
            <a:ext cx="73152" cy="20939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60236" y="1938528"/>
            <a:ext cx="475488" cy="475488"/>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0236" y="1993392"/>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2</a:t>
            </a:r>
          </a:p>
        </p:txBody>
      </p:sp>
      <p:sp>
        <p:nvSpPr>
          <p:cNvPr id="17" name="TextBox 16"/>
          <p:cNvSpPr txBox="1"/>
          <p:nvPr/>
        </p:nvSpPr>
        <p:spPr>
          <a:xfrm>
            <a:off x="7100316" y="1901952"/>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A2</a:t>
            </a:r>
          </a:p>
        </p:txBody>
      </p:sp>
      <p:sp>
        <p:nvSpPr>
          <p:cNvPr id="18" name="TextBox 17"/>
          <p:cNvSpPr txBox="1"/>
          <p:nvPr/>
        </p:nvSpPr>
        <p:spPr>
          <a:xfrm>
            <a:off x="7100316" y="2304288"/>
            <a:ext cx="4238244" cy="1435608"/>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Perform a feasibility scan to identify suitable middleware</a:t>
            </a:r>
          </a:p>
        </p:txBody>
      </p:sp>
      <p:sp>
        <p:nvSpPr>
          <p:cNvPr id="19" name="Rounded Rectangle 18"/>
          <p:cNvSpPr/>
          <p:nvPr/>
        </p:nvSpPr>
        <p:spPr>
          <a:xfrm>
            <a:off x="713232" y="4050792"/>
            <a:ext cx="5289804" cy="2093976"/>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13232" y="4050792"/>
            <a:ext cx="73152" cy="20939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4400" y="4251960"/>
            <a:ext cx="475488" cy="47548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306824"/>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3</a:t>
            </a:r>
          </a:p>
        </p:txBody>
      </p:sp>
      <p:sp>
        <p:nvSpPr>
          <p:cNvPr id="23" name="TextBox 22"/>
          <p:cNvSpPr txBox="1"/>
          <p:nvPr/>
        </p:nvSpPr>
        <p:spPr>
          <a:xfrm>
            <a:off x="1554480" y="4215384"/>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A3</a:t>
            </a:r>
          </a:p>
        </p:txBody>
      </p:sp>
      <p:sp>
        <p:nvSpPr>
          <p:cNvPr id="24" name="TextBox 23"/>
          <p:cNvSpPr txBox="1"/>
          <p:nvPr/>
        </p:nvSpPr>
        <p:spPr>
          <a:xfrm>
            <a:off x="1554480" y="4617720"/>
            <a:ext cx="4238244" cy="1435608"/>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Use middleware to integrate data and functions across application programs</a:t>
            </a:r>
          </a:p>
        </p:txBody>
      </p:sp>
      <p:sp>
        <p:nvSpPr>
          <p:cNvPr id="25" name="Rounded Rectangle 24"/>
          <p:cNvSpPr/>
          <p:nvPr/>
        </p:nvSpPr>
        <p:spPr>
          <a:xfrm>
            <a:off x="6259068" y="4050792"/>
            <a:ext cx="5289804" cy="2093976"/>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59068" y="4050792"/>
            <a:ext cx="73152" cy="209397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460236" y="4251960"/>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60236" y="4306824"/>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4</a:t>
            </a:r>
          </a:p>
        </p:txBody>
      </p:sp>
      <p:sp>
        <p:nvSpPr>
          <p:cNvPr id="29" name="TextBox 28"/>
          <p:cNvSpPr txBox="1"/>
          <p:nvPr/>
        </p:nvSpPr>
        <p:spPr>
          <a:xfrm>
            <a:off x="7100316" y="4215384"/>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A4</a:t>
            </a:r>
          </a:p>
        </p:txBody>
      </p:sp>
      <p:sp>
        <p:nvSpPr>
          <p:cNvPr id="30" name="TextBox 29"/>
          <p:cNvSpPr txBox="1"/>
          <p:nvPr/>
        </p:nvSpPr>
        <p:spPr>
          <a:xfrm>
            <a:off x="7100316" y="4617720"/>
            <a:ext cx="4238244" cy="1435608"/>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Support API-level integration</a:t>
            </a:r>
          </a:p>
        </p:txBody>
      </p:sp>
      <p:sp>
        <p:nvSpPr>
          <p:cNvPr id="31" name="TextBox 30"/>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2" name="TextBox 31"/>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3" name="TextBox 3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10</a:t>
            </a:r>
          </a:p>
        </p:txBody>
      </p:sp>
    </p:spTree>
  </p:cSld>
  <p:transition spd="fast">
    <p:fade/>
  </p:transition>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TSC ALIGNMENT</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Ability Criteria A5–A8</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37360"/>
            <a:ext cx="5289804" cy="2093976"/>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37360"/>
            <a:ext cx="73152" cy="209397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938528"/>
            <a:ext cx="475488" cy="475488"/>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993392"/>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1</a:t>
            </a:r>
          </a:p>
        </p:txBody>
      </p:sp>
      <p:sp>
        <p:nvSpPr>
          <p:cNvPr id="11" name="TextBox 10"/>
          <p:cNvSpPr txBox="1"/>
          <p:nvPr/>
        </p:nvSpPr>
        <p:spPr>
          <a:xfrm>
            <a:off x="1554480" y="1901952"/>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A5</a:t>
            </a:r>
          </a:p>
        </p:txBody>
      </p:sp>
      <p:sp>
        <p:nvSpPr>
          <p:cNvPr id="12" name="TextBox 11"/>
          <p:cNvSpPr txBox="1"/>
          <p:nvPr/>
        </p:nvSpPr>
        <p:spPr>
          <a:xfrm>
            <a:off x="1554480" y="2304288"/>
            <a:ext cx="4238244" cy="1435608"/>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Perform tests and checks on connections between disparate application programs</a:t>
            </a:r>
          </a:p>
        </p:txBody>
      </p:sp>
      <p:sp>
        <p:nvSpPr>
          <p:cNvPr id="13" name="Rounded Rectangle 12"/>
          <p:cNvSpPr/>
          <p:nvPr/>
        </p:nvSpPr>
        <p:spPr>
          <a:xfrm>
            <a:off x="6259068" y="1737360"/>
            <a:ext cx="5289804" cy="2093976"/>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59068" y="1737360"/>
            <a:ext cx="73152" cy="20939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60236" y="1938528"/>
            <a:ext cx="475488" cy="475488"/>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0236" y="1993392"/>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2</a:t>
            </a:r>
          </a:p>
        </p:txBody>
      </p:sp>
      <p:sp>
        <p:nvSpPr>
          <p:cNvPr id="17" name="TextBox 16"/>
          <p:cNvSpPr txBox="1"/>
          <p:nvPr/>
        </p:nvSpPr>
        <p:spPr>
          <a:xfrm>
            <a:off x="7100316" y="1901952"/>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A6</a:t>
            </a:r>
          </a:p>
        </p:txBody>
      </p:sp>
      <p:sp>
        <p:nvSpPr>
          <p:cNvPr id="18" name="TextBox 17"/>
          <p:cNvSpPr txBox="1"/>
          <p:nvPr/>
        </p:nvSpPr>
        <p:spPr>
          <a:xfrm>
            <a:off x="7100316" y="2304288"/>
            <a:ext cx="4238244" cy="1435608"/>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Verify proper functioning across integrated platforms</a:t>
            </a:r>
          </a:p>
        </p:txBody>
      </p:sp>
      <p:sp>
        <p:nvSpPr>
          <p:cNvPr id="19" name="Rounded Rectangle 18"/>
          <p:cNvSpPr/>
          <p:nvPr/>
        </p:nvSpPr>
        <p:spPr>
          <a:xfrm>
            <a:off x="713232" y="4050792"/>
            <a:ext cx="5289804" cy="2093976"/>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13232" y="4050792"/>
            <a:ext cx="73152" cy="20939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4400" y="4251960"/>
            <a:ext cx="475488" cy="47548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306824"/>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3</a:t>
            </a:r>
          </a:p>
        </p:txBody>
      </p:sp>
      <p:sp>
        <p:nvSpPr>
          <p:cNvPr id="23" name="TextBox 22"/>
          <p:cNvSpPr txBox="1"/>
          <p:nvPr/>
        </p:nvSpPr>
        <p:spPr>
          <a:xfrm>
            <a:off x="1554480" y="4215384"/>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A7</a:t>
            </a:r>
          </a:p>
        </p:txBody>
      </p:sp>
      <p:sp>
        <p:nvSpPr>
          <p:cNvPr id="24" name="TextBox 23"/>
          <p:cNvSpPr txBox="1"/>
          <p:nvPr/>
        </p:nvSpPr>
        <p:spPr>
          <a:xfrm>
            <a:off x="1554480" y="4617720"/>
            <a:ext cx="4238244" cy="1435608"/>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Highlight technical, compatibility or performance issues following integration</a:t>
            </a:r>
          </a:p>
        </p:txBody>
      </p:sp>
      <p:sp>
        <p:nvSpPr>
          <p:cNvPr id="25" name="Rounded Rectangle 24"/>
          <p:cNvSpPr/>
          <p:nvPr/>
        </p:nvSpPr>
        <p:spPr>
          <a:xfrm>
            <a:off x="6259068" y="4050792"/>
            <a:ext cx="5289804" cy="2093976"/>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59068" y="4050792"/>
            <a:ext cx="73152" cy="209397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460236" y="4251960"/>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60236" y="4306824"/>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4</a:t>
            </a:r>
          </a:p>
        </p:txBody>
      </p:sp>
      <p:sp>
        <p:nvSpPr>
          <p:cNvPr id="29" name="TextBox 28"/>
          <p:cNvSpPr txBox="1"/>
          <p:nvPr/>
        </p:nvSpPr>
        <p:spPr>
          <a:xfrm>
            <a:off x="7100316" y="4215384"/>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A8</a:t>
            </a:r>
          </a:p>
        </p:txBody>
      </p:sp>
      <p:sp>
        <p:nvSpPr>
          <p:cNvPr id="30" name="TextBox 29"/>
          <p:cNvSpPr txBox="1"/>
          <p:nvPr/>
        </p:nvSpPr>
        <p:spPr>
          <a:xfrm>
            <a:off x="7100316" y="4617720"/>
            <a:ext cx="4238244" cy="1435608"/>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Modify middleware or programming processes to enhance integration and connections</a:t>
            </a:r>
          </a:p>
        </p:txBody>
      </p:sp>
      <p:sp>
        <p:nvSpPr>
          <p:cNvPr id="31" name="TextBox 30"/>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2" name="TextBox 31"/>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3" name="TextBox 3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11</a:t>
            </a:r>
          </a:p>
        </p:txBody>
      </p:sp>
    </p:spTree>
  </p:cSld>
  <p:transition spd="fast">
    <p:fade/>
  </p:transition>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COURSE STRUCTURE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Six-Topic Technical Map</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37360"/>
            <a:ext cx="5289804" cy="132283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37360"/>
            <a:ext cx="73152" cy="132283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938528"/>
            <a:ext cx="475488" cy="475488"/>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993392"/>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1</a:t>
            </a:r>
          </a:p>
        </p:txBody>
      </p:sp>
      <p:sp>
        <p:nvSpPr>
          <p:cNvPr id="11" name="TextBox 10"/>
          <p:cNvSpPr txBox="1"/>
          <p:nvPr/>
        </p:nvSpPr>
        <p:spPr>
          <a:xfrm>
            <a:off x="1554480" y="1901952"/>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Topic 01</a:t>
            </a:r>
          </a:p>
        </p:txBody>
      </p:sp>
      <p:sp>
        <p:nvSpPr>
          <p:cNvPr id="12" name="TextBox 11"/>
          <p:cNvSpPr txBox="1"/>
          <p:nvPr/>
        </p:nvSpPr>
        <p:spPr>
          <a:xfrm>
            <a:off x="1554480" y="2304288"/>
            <a:ext cx="4238244" cy="664464"/>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REST API Fundamentals and AI Vibe Coding</a:t>
            </a:r>
          </a:p>
        </p:txBody>
      </p:sp>
      <p:sp>
        <p:nvSpPr>
          <p:cNvPr id="13" name="Rounded Rectangle 12"/>
          <p:cNvSpPr/>
          <p:nvPr/>
        </p:nvSpPr>
        <p:spPr>
          <a:xfrm>
            <a:off x="6259068" y="1737360"/>
            <a:ext cx="5289804" cy="132283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59068" y="1737360"/>
            <a:ext cx="73152" cy="132283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60236" y="1938528"/>
            <a:ext cx="475488" cy="475488"/>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0236" y="1993392"/>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2</a:t>
            </a:r>
          </a:p>
        </p:txBody>
      </p:sp>
      <p:sp>
        <p:nvSpPr>
          <p:cNvPr id="17" name="TextBox 16"/>
          <p:cNvSpPr txBox="1"/>
          <p:nvPr/>
        </p:nvSpPr>
        <p:spPr>
          <a:xfrm>
            <a:off x="7100316" y="1901952"/>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Topic 02</a:t>
            </a:r>
          </a:p>
        </p:txBody>
      </p:sp>
      <p:sp>
        <p:nvSpPr>
          <p:cNvPr id="18" name="TextBox 17"/>
          <p:cNvSpPr txBox="1"/>
          <p:nvPr/>
        </p:nvSpPr>
        <p:spPr>
          <a:xfrm>
            <a:off x="7100316" y="2304288"/>
            <a:ext cx="4238244" cy="664464"/>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AI-Assisted API Functions, Routing and Security</a:t>
            </a:r>
          </a:p>
        </p:txBody>
      </p:sp>
      <p:sp>
        <p:nvSpPr>
          <p:cNvPr id="19" name="Rounded Rectangle 18"/>
          <p:cNvSpPr/>
          <p:nvPr/>
        </p:nvSpPr>
        <p:spPr>
          <a:xfrm>
            <a:off x="713232" y="3279648"/>
            <a:ext cx="5289804" cy="132283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13232" y="3279648"/>
            <a:ext cx="73152"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4400" y="3480816"/>
            <a:ext cx="475488" cy="47548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3535680"/>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3</a:t>
            </a:r>
          </a:p>
        </p:txBody>
      </p:sp>
      <p:sp>
        <p:nvSpPr>
          <p:cNvPr id="23" name="TextBox 22"/>
          <p:cNvSpPr txBox="1"/>
          <p:nvPr/>
        </p:nvSpPr>
        <p:spPr>
          <a:xfrm>
            <a:off x="1554480" y="3444240"/>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Topic 03</a:t>
            </a:r>
          </a:p>
        </p:txBody>
      </p:sp>
      <p:sp>
        <p:nvSpPr>
          <p:cNvPr id="24" name="TextBox 23"/>
          <p:cNvSpPr txBox="1"/>
          <p:nvPr/>
        </p:nvSpPr>
        <p:spPr>
          <a:xfrm>
            <a:off x="1554480" y="3846576"/>
            <a:ext cx="4238244" cy="664464"/>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Request Handling, Data Validation and JSON Responses</a:t>
            </a:r>
          </a:p>
        </p:txBody>
      </p:sp>
      <p:sp>
        <p:nvSpPr>
          <p:cNvPr id="25" name="Rounded Rectangle 24"/>
          <p:cNvSpPr/>
          <p:nvPr/>
        </p:nvSpPr>
        <p:spPr>
          <a:xfrm>
            <a:off x="6259068" y="3279648"/>
            <a:ext cx="5289804" cy="132283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59068" y="3279648"/>
            <a:ext cx="73152" cy="1322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460236" y="3480816"/>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60236" y="3535680"/>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4</a:t>
            </a:r>
          </a:p>
        </p:txBody>
      </p:sp>
      <p:sp>
        <p:nvSpPr>
          <p:cNvPr id="29" name="TextBox 28"/>
          <p:cNvSpPr txBox="1"/>
          <p:nvPr/>
        </p:nvSpPr>
        <p:spPr>
          <a:xfrm>
            <a:off x="7100316" y="3444240"/>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Topic 04</a:t>
            </a:r>
          </a:p>
        </p:txBody>
      </p:sp>
      <p:sp>
        <p:nvSpPr>
          <p:cNvPr id="30" name="TextBox 29"/>
          <p:cNvSpPr txBox="1"/>
          <p:nvPr/>
        </p:nvSpPr>
        <p:spPr>
          <a:xfrm>
            <a:off x="7100316" y="3846576"/>
            <a:ext cx="4238244" cy="664464"/>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API Error Handling, Testing and Debugging</a:t>
            </a:r>
          </a:p>
        </p:txBody>
      </p:sp>
      <p:sp>
        <p:nvSpPr>
          <p:cNvPr id="31" name="Rounded Rectangle 30"/>
          <p:cNvSpPr/>
          <p:nvPr/>
        </p:nvSpPr>
        <p:spPr>
          <a:xfrm>
            <a:off x="713232" y="4821936"/>
            <a:ext cx="5289804" cy="132283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13232" y="4821936"/>
            <a:ext cx="73152" cy="1322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14400" y="5023104"/>
            <a:ext cx="475488" cy="475488"/>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5077968"/>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5</a:t>
            </a:r>
          </a:p>
        </p:txBody>
      </p:sp>
      <p:sp>
        <p:nvSpPr>
          <p:cNvPr id="35" name="TextBox 34"/>
          <p:cNvSpPr txBox="1"/>
          <p:nvPr/>
        </p:nvSpPr>
        <p:spPr>
          <a:xfrm>
            <a:off x="1554480" y="4986528"/>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Topic 05</a:t>
            </a:r>
          </a:p>
        </p:txBody>
      </p:sp>
      <p:sp>
        <p:nvSpPr>
          <p:cNvPr id="36" name="TextBox 35"/>
          <p:cNvSpPr txBox="1"/>
          <p:nvPr/>
        </p:nvSpPr>
        <p:spPr>
          <a:xfrm>
            <a:off x="1554480" y="5388864"/>
            <a:ext cx="4238244" cy="664464"/>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API Architecture, Data Models and Database Integration</a:t>
            </a:r>
          </a:p>
        </p:txBody>
      </p:sp>
      <p:sp>
        <p:nvSpPr>
          <p:cNvPr id="37" name="Rounded Rectangle 36"/>
          <p:cNvSpPr/>
          <p:nvPr/>
        </p:nvSpPr>
        <p:spPr>
          <a:xfrm>
            <a:off x="6259068" y="4821936"/>
            <a:ext cx="5289804" cy="132283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259068" y="4821936"/>
            <a:ext cx="73152" cy="132283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460236" y="5023104"/>
            <a:ext cx="475488" cy="475488"/>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60236" y="5077968"/>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6</a:t>
            </a:r>
          </a:p>
        </p:txBody>
      </p:sp>
      <p:sp>
        <p:nvSpPr>
          <p:cNvPr id="41" name="TextBox 40"/>
          <p:cNvSpPr txBox="1"/>
          <p:nvPr/>
        </p:nvSpPr>
        <p:spPr>
          <a:xfrm>
            <a:off x="7100316" y="4986528"/>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Topic 06</a:t>
            </a:r>
          </a:p>
        </p:txBody>
      </p:sp>
      <p:sp>
        <p:nvSpPr>
          <p:cNvPr id="42" name="TextBox 41"/>
          <p:cNvSpPr txBox="1"/>
          <p:nvPr/>
        </p:nvSpPr>
        <p:spPr>
          <a:xfrm>
            <a:off x="7100316" y="5388864"/>
            <a:ext cx="4238244" cy="664464"/>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REST API Documentation, Integration and Deployment</a:t>
            </a:r>
          </a:p>
        </p:txBody>
      </p:sp>
      <p:sp>
        <p:nvSpPr>
          <p:cNvPr id="43" name="TextBox 4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44" name="TextBox 4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45" name="TextBox 44"/>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12</a:t>
            </a:r>
          </a:p>
        </p:txBody>
      </p:sp>
    </p:spTree>
  </p:cSld>
  <p:transition spd="fast">
    <p:fade/>
  </p:transition>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DEVELOPMENT ENVIRONMENT</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VS Code Engineering Workspace</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2057400"/>
            <a:ext cx="1984248" cy="324612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76172" y="2395728"/>
            <a:ext cx="658368" cy="658368"/>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6172" y="2560320"/>
            <a:ext cx="658368" cy="292608"/>
          </a:xfrm>
          <a:prstGeom prst="rect">
            <a:avLst/>
          </a:prstGeom>
          <a:noFill/>
        </p:spPr>
        <p:txBody>
          <a:bodyPr wrap="square" anchor="t" lIns="36576" rIns="36576" tIns="36576" bIns="36576">
            <a:spAutoFit/>
          </a:bodyPr>
          <a:lstStyle/>
          <a:p>
            <a:pPr algn="ctr">
              <a:spcAft>
                <a:spcPts val="0"/>
              </a:spcAft>
            </a:pPr>
            <a:r>
              <a:rPr sz="1800" b="1">
                <a:solidFill>
                  <a:srgbClr val="FFFFFF"/>
                </a:solidFill>
                <a:latin typeface="Arial"/>
              </a:rPr>
              <a:t>1</a:t>
            </a:r>
          </a:p>
        </p:txBody>
      </p:sp>
      <p:sp>
        <p:nvSpPr>
          <p:cNvPr id="10" name="TextBox 9"/>
          <p:cNvSpPr txBox="1"/>
          <p:nvPr/>
        </p:nvSpPr>
        <p:spPr>
          <a:xfrm>
            <a:off x="822960" y="3310128"/>
            <a:ext cx="1764792" cy="1417320"/>
          </a:xfrm>
          <a:prstGeom prst="rect">
            <a:avLst/>
          </a:prstGeom>
          <a:noFill/>
        </p:spPr>
        <p:txBody>
          <a:bodyPr wrap="square" anchor="ctr" lIns="36576" rIns="36576" tIns="36576" bIns="36576">
            <a:spAutoFit/>
          </a:bodyPr>
          <a:lstStyle/>
          <a:p>
            <a:pPr algn="ctr">
              <a:spcAft>
                <a:spcPts val="0"/>
              </a:spcAft>
            </a:pPr>
            <a:r>
              <a:rPr sz="1300" b="0">
                <a:solidFill>
                  <a:srgbClr val="172433"/>
                </a:solidFill>
                <a:latin typeface="Arial"/>
              </a:rPr>
              <a:t>Python + Pylance</a:t>
            </a:r>
          </a:p>
        </p:txBody>
      </p:sp>
      <p:cxnSp>
        <p:nvCxnSpPr>
          <p:cNvPr id="11" name="Connector 10"/>
          <p:cNvCxnSpPr/>
          <p:nvPr/>
        </p:nvCxnSpPr>
        <p:spPr>
          <a:xfrm>
            <a:off x="2697480" y="3657600"/>
            <a:ext cx="228600" cy="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926080" y="2057400"/>
            <a:ext cx="1984248" cy="324612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89020" y="2395728"/>
            <a:ext cx="658368" cy="658368"/>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89020" y="2560320"/>
            <a:ext cx="658368" cy="292608"/>
          </a:xfrm>
          <a:prstGeom prst="rect">
            <a:avLst/>
          </a:prstGeom>
          <a:noFill/>
        </p:spPr>
        <p:txBody>
          <a:bodyPr wrap="square" anchor="t" lIns="36576" rIns="36576" tIns="36576" bIns="36576">
            <a:spAutoFit/>
          </a:bodyPr>
          <a:lstStyle/>
          <a:p>
            <a:pPr algn="ctr">
              <a:spcAft>
                <a:spcPts val="0"/>
              </a:spcAft>
            </a:pPr>
            <a:r>
              <a:rPr sz="1800" b="1">
                <a:solidFill>
                  <a:srgbClr val="FFFFFF"/>
                </a:solidFill>
                <a:latin typeface="Arial"/>
              </a:rPr>
              <a:t>2</a:t>
            </a:r>
          </a:p>
        </p:txBody>
      </p:sp>
      <p:sp>
        <p:nvSpPr>
          <p:cNvPr id="15" name="TextBox 14"/>
          <p:cNvSpPr txBox="1"/>
          <p:nvPr/>
        </p:nvSpPr>
        <p:spPr>
          <a:xfrm>
            <a:off x="3035808" y="3310128"/>
            <a:ext cx="1764792" cy="1417320"/>
          </a:xfrm>
          <a:prstGeom prst="rect">
            <a:avLst/>
          </a:prstGeom>
          <a:noFill/>
        </p:spPr>
        <p:txBody>
          <a:bodyPr wrap="square" anchor="ctr" lIns="36576" rIns="36576" tIns="36576" bIns="36576">
            <a:spAutoFit/>
          </a:bodyPr>
          <a:lstStyle/>
          <a:p>
            <a:pPr algn="ctr">
              <a:spcAft>
                <a:spcPts val="0"/>
              </a:spcAft>
            </a:pPr>
            <a:r>
              <a:rPr sz="1300" b="0">
                <a:solidFill>
                  <a:srgbClr val="172433"/>
                </a:solidFill>
                <a:latin typeface="Arial"/>
              </a:rPr>
              <a:t>REST Client</a:t>
            </a:r>
          </a:p>
        </p:txBody>
      </p:sp>
      <p:cxnSp>
        <p:nvCxnSpPr>
          <p:cNvPr id="16" name="Connector 15"/>
          <p:cNvCxnSpPr/>
          <p:nvPr/>
        </p:nvCxnSpPr>
        <p:spPr>
          <a:xfrm>
            <a:off x="4910328" y="3657600"/>
            <a:ext cx="228600" cy="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38928" y="2057400"/>
            <a:ext cx="1984248" cy="324612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801868" y="2395728"/>
            <a:ext cx="658368" cy="658368"/>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01868" y="2560320"/>
            <a:ext cx="658368" cy="292608"/>
          </a:xfrm>
          <a:prstGeom prst="rect">
            <a:avLst/>
          </a:prstGeom>
          <a:noFill/>
        </p:spPr>
        <p:txBody>
          <a:bodyPr wrap="square" anchor="t" lIns="36576" rIns="36576" tIns="36576" bIns="36576">
            <a:spAutoFit/>
          </a:bodyPr>
          <a:lstStyle/>
          <a:p>
            <a:pPr algn="ctr">
              <a:spcAft>
                <a:spcPts val="0"/>
              </a:spcAft>
            </a:pPr>
            <a:r>
              <a:rPr sz="1800" b="1">
                <a:solidFill>
                  <a:srgbClr val="FFFFFF"/>
                </a:solidFill>
                <a:latin typeface="Arial"/>
              </a:rPr>
              <a:t>3</a:t>
            </a:r>
          </a:p>
        </p:txBody>
      </p:sp>
      <p:sp>
        <p:nvSpPr>
          <p:cNvPr id="20" name="TextBox 19"/>
          <p:cNvSpPr txBox="1"/>
          <p:nvPr/>
        </p:nvSpPr>
        <p:spPr>
          <a:xfrm>
            <a:off x="5248656" y="3310128"/>
            <a:ext cx="1764792" cy="1417320"/>
          </a:xfrm>
          <a:prstGeom prst="rect">
            <a:avLst/>
          </a:prstGeom>
          <a:noFill/>
        </p:spPr>
        <p:txBody>
          <a:bodyPr wrap="square" anchor="ctr" lIns="36576" rIns="36576" tIns="36576" bIns="36576">
            <a:spAutoFit/>
          </a:bodyPr>
          <a:lstStyle/>
          <a:p>
            <a:pPr algn="ctr">
              <a:spcAft>
                <a:spcPts val="0"/>
              </a:spcAft>
            </a:pPr>
            <a:r>
              <a:rPr sz="1300" b="0">
                <a:solidFill>
                  <a:srgbClr val="172433"/>
                </a:solidFill>
                <a:latin typeface="Arial"/>
              </a:rPr>
              <a:t>SQLite Viewer</a:t>
            </a:r>
          </a:p>
        </p:txBody>
      </p:sp>
      <p:cxnSp>
        <p:nvCxnSpPr>
          <p:cNvPr id="21" name="Connector 20"/>
          <p:cNvCxnSpPr/>
          <p:nvPr/>
        </p:nvCxnSpPr>
        <p:spPr>
          <a:xfrm>
            <a:off x="7123176" y="3657600"/>
            <a:ext cx="228600" cy="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351776" y="2057400"/>
            <a:ext cx="1984248" cy="324612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14716" y="2395728"/>
            <a:ext cx="658368" cy="658368"/>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14716" y="2560320"/>
            <a:ext cx="658368" cy="292608"/>
          </a:xfrm>
          <a:prstGeom prst="rect">
            <a:avLst/>
          </a:prstGeom>
          <a:noFill/>
        </p:spPr>
        <p:txBody>
          <a:bodyPr wrap="square" anchor="t" lIns="36576" rIns="36576" tIns="36576" bIns="36576">
            <a:spAutoFit/>
          </a:bodyPr>
          <a:lstStyle/>
          <a:p>
            <a:pPr algn="ctr">
              <a:spcAft>
                <a:spcPts val="0"/>
              </a:spcAft>
            </a:pPr>
            <a:r>
              <a:rPr sz="1800" b="1">
                <a:solidFill>
                  <a:srgbClr val="FFFFFF"/>
                </a:solidFill>
                <a:latin typeface="Arial"/>
              </a:rPr>
              <a:t>4</a:t>
            </a:r>
          </a:p>
        </p:txBody>
      </p:sp>
      <p:sp>
        <p:nvSpPr>
          <p:cNvPr id="25" name="TextBox 24"/>
          <p:cNvSpPr txBox="1"/>
          <p:nvPr/>
        </p:nvSpPr>
        <p:spPr>
          <a:xfrm>
            <a:off x="7461504" y="3310128"/>
            <a:ext cx="1764792" cy="1417320"/>
          </a:xfrm>
          <a:prstGeom prst="rect">
            <a:avLst/>
          </a:prstGeom>
          <a:noFill/>
        </p:spPr>
        <p:txBody>
          <a:bodyPr wrap="square" anchor="ctr" lIns="36576" rIns="36576" tIns="36576" bIns="36576">
            <a:spAutoFit/>
          </a:bodyPr>
          <a:lstStyle/>
          <a:p>
            <a:pPr algn="ctr">
              <a:spcAft>
                <a:spcPts val="0"/>
              </a:spcAft>
            </a:pPr>
            <a:r>
              <a:rPr sz="1300" b="0">
                <a:solidFill>
                  <a:srgbClr val="172433"/>
                </a:solidFill>
                <a:latin typeface="Arial"/>
              </a:rPr>
              <a:t>YAML validation</a:t>
            </a:r>
          </a:p>
        </p:txBody>
      </p:sp>
      <p:cxnSp>
        <p:nvCxnSpPr>
          <p:cNvPr id="26" name="Connector 25"/>
          <p:cNvCxnSpPr/>
          <p:nvPr/>
        </p:nvCxnSpPr>
        <p:spPr>
          <a:xfrm>
            <a:off x="9336024" y="3657600"/>
            <a:ext cx="228600" cy="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564624" y="2057400"/>
            <a:ext cx="1984248" cy="324612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227564" y="2395728"/>
            <a:ext cx="658368" cy="658368"/>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27564" y="2560320"/>
            <a:ext cx="658368" cy="292608"/>
          </a:xfrm>
          <a:prstGeom prst="rect">
            <a:avLst/>
          </a:prstGeom>
          <a:noFill/>
        </p:spPr>
        <p:txBody>
          <a:bodyPr wrap="square" anchor="t" lIns="36576" rIns="36576" tIns="36576" bIns="36576">
            <a:spAutoFit/>
          </a:bodyPr>
          <a:lstStyle/>
          <a:p>
            <a:pPr algn="ctr">
              <a:spcAft>
                <a:spcPts val="0"/>
              </a:spcAft>
            </a:pPr>
            <a:r>
              <a:rPr sz="1800" b="1">
                <a:solidFill>
                  <a:srgbClr val="FFFFFF"/>
                </a:solidFill>
                <a:latin typeface="Arial"/>
              </a:rPr>
              <a:t>5</a:t>
            </a:r>
          </a:p>
        </p:txBody>
      </p:sp>
      <p:sp>
        <p:nvSpPr>
          <p:cNvPr id="30" name="TextBox 29"/>
          <p:cNvSpPr txBox="1"/>
          <p:nvPr/>
        </p:nvSpPr>
        <p:spPr>
          <a:xfrm>
            <a:off x="9674352" y="3310128"/>
            <a:ext cx="1764792" cy="1417320"/>
          </a:xfrm>
          <a:prstGeom prst="rect">
            <a:avLst/>
          </a:prstGeom>
          <a:noFill/>
        </p:spPr>
        <p:txBody>
          <a:bodyPr wrap="square" anchor="ctr" lIns="36576" rIns="36576" tIns="36576" bIns="36576">
            <a:spAutoFit/>
          </a:bodyPr>
          <a:lstStyle/>
          <a:p>
            <a:pPr algn="ctr">
              <a:spcAft>
                <a:spcPts val="0"/>
              </a:spcAft>
            </a:pPr>
            <a:r>
              <a:rPr sz="1300" b="0">
                <a:solidFill>
                  <a:srgbClr val="172433"/>
                </a:solidFill>
                <a:latin typeface="Arial"/>
              </a:rPr>
              <a:t>pytest + debugger</a:t>
            </a:r>
          </a:p>
        </p:txBody>
      </p:sp>
      <p:sp>
        <p:nvSpPr>
          <p:cNvPr id="31" name="TextBox 30"/>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2" name="TextBox 31"/>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3" name="TextBox 3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13</a:t>
            </a:r>
          </a:p>
        </p:txBody>
      </p:sp>
    </p:spTree>
  </p:cSld>
  <p:transition spd="fast">
    <p:fade/>
  </p:transition>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REALISTIC CAPSTONE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Northstar Commerce Architecture</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2057400"/>
            <a:ext cx="1984248" cy="324612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76172" y="239572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6172" y="2560320"/>
            <a:ext cx="658368" cy="292608"/>
          </a:xfrm>
          <a:prstGeom prst="rect">
            <a:avLst/>
          </a:prstGeom>
          <a:noFill/>
        </p:spPr>
        <p:txBody>
          <a:bodyPr wrap="square" anchor="t" lIns="36576" rIns="36576" tIns="36576" bIns="36576">
            <a:spAutoFit/>
          </a:bodyPr>
          <a:lstStyle/>
          <a:p>
            <a:pPr algn="ctr">
              <a:spcAft>
                <a:spcPts val="0"/>
              </a:spcAft>
            </a:pPr>
            <a:r>
              <a:rPr sz="1800" b="1">
                <a:solidFill>
                  <a:srgbClr val="FFFFFF"/>
                </a:solidFill>
                <a:latin typeface="Arial"/>
              </a:rPr>
              <a:t>1</a:t>
            </a:r>
          </a:p>
        </p:txBody>
      </p:sp>
      <p:sp>
        <p:nvSpPr>
          <p:cNvPr id="10" name="TextBox 9"/>
          <p:cNvSpPr txBox="1"/>
          <p:nvPr/>
        </p:nvSpPr>
        <p:spPr>
          <a:xfrm>
            <a:off x="822960" y="3310128"/>
            <a:ext cx="1764792" cy="1417320"/>
          </a:xfrm>
          <a:prstGeom prst="rect">
            <a:avLst/>
          </a:prstGeom>
          <a:noFill/>
        </p:spPr>
        <p:txBody>
          <a:bodyPr wrap="square" anchor="ctr" lIns="36576" rIns="36576" tIns="36576" bIns="36576">
            <a:spAutoFit/>
          </a:bodyPr>
          <a:lstStyle/>
          <a:p>
            <a:pPr algn="ctr">
              <a:spcAft>
                <a:spcPts val="0"/>
              </a:spcAft>
            </a:pPr>
            <a:r>
              <a:rPr sz="1300" b="0">
                <a:solidFill>
                  <a:srgbClr val="172433"/>
                </a:solidFill>
                <a:latin typeface="Arial"/>
              </a:rPr>
              <a:t>Responsive browser UI</a:t>
            </a:r>
          </a:p>
        </p:txBody>
      </p:sp>
      <p:cxnSp>
        <p:nvCxnSpPr>
          <p:cNvPr id="11" name="Connector 10"/>
          <p:cNvCxnSpPr/>
          <p:nvPr/>
        </p:nvCxnSpPr>
        <p:spPr>
          <a:xfrm>
            <a:off x="2697480" y="3657600"/>
            <a:ext cx="228600"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926080" y="2057400"/>
            <a:ext cx="1984248" cy="324612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89020" y="239572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89020" y="2560320"/>
            <a:ext cx="658368" cy="292608"/>
          </a:xfrm>
          <a:prstGeom prst="rect">
            <a:avLst/>
          </a:prstGeom>
          <a:noFill/>
        </p:spPr>
        <p:txBody>
          <a:bodyPr wrap="square" anchor="t" lIns="36576" rIns="36576" tIns="36576" bIns="36576">
            <a:spAutoFit/>
          </a:bodyPr>
          <a:lstStyle/>
          <a:p>
            <a:pPr algn="ctr">
              <a:spcAft>
                <a:spcPts val="0"/>
              </a:spcAft>
            </a:pPr>
            <a:r>
              <a:rPr sz="1800" b="1">
                <a:solidFill>
                  <a:srgbClr val="FFFFFF"/>
                </a:solidFill>
                <a:latin typeface="Arial"/>
              </a:rPr>
              <a:t>2</a:t>
            </a:r>
          </a:p>
        </p:txBody>
      </p:sp>
      <p:sp>
        <p:nvSpPr>
          <p:cNvPr id="15" name="TextBox 14"/>
          <p:cNvSpPr txBox="1"/>
          <p:nvPr/>
        </p:nvSpPr>
        <p:spPr>
          <a:xfrm>
            <a:off x="3035808" y="3310128"/>
            <a:ext cx="1764792" cy="1417320"/>
          </a:xfrm>
          <a:prstGeom prst="rect">
            <a:avLst/>
          </a:prstGeom>
          <a:noFill/>
        </p:spPr>
        <p:txBody>
          <a:bodyPr wrap="square" anchor="ctr" lIns="36576" rIns="36576" tIns="36576" bIns="36576">
            <a:spAutoFit/>
          </a:bodyPr>
          <a:lstStyle/>
          <a:p>
            <a:pPr algn="ctr">
              <a:spcAft>
                <a:spcPts val="0"/>
              </a:spcAft>
            </a:pPr>
            <a:r>
              <a:rPr sz="1300" b="0">
                <a:solidFill>
                  <a:srgbClr val="172433"/>
                </a:solidFill>
                <a:latin typeface="Arial"/>
              </a:rPr>
              <a:t>FastAPI /api/v1 routes</a:t>
            </a:r>
          </a:p>
        </p:txBody>
      </p:sp>
      <p:cxnSp>
        <p:nvCxnSpPr>
          <p:cNvPr id="16" name="Connector 15"/>
          <p:cNvCxnSpPr/>
          <p:nvPr/>
        </p:nvCxnSpPr>
        <p:spPr>
          <a:xfrm>
            <a:off x="4910328" y="3657600"/>
            <a:ext cx="228600"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38928" y="2057400"/>
            <a:ext cx="1984248" cy="324612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801868" y="239572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01868" y="2560320"/>
            <a:ext cx="658368" cy="292608"/>
          </a:xfrm>
          <a:prstGeom prst="rect">
            <a:avLst/>
          </a:prstGeom>
          <a:noFill/>
        </p:spPr>
        <p:txBody>
          <a:bodyPr wrap="square" anchor="t" lIns="36576" rIns="36576" tIns="36576" bIns="36576">
            <a:spAutoFit/>
          </a:bodyPr>
          <a:lstStyle/>
          <a:p>
            <a:pPr algn="ctr">
              <a:spcAft>
                <a:spcPts val="0"/>
              </a:spcAft>
            </a:pPr>
            <a:r>
              <a:rPr sz="1800" b="1">
                <a:solidFill>
                  <a:srgbClr val="FFFFFF"/>
                </a:solidFill>
                <a:latin typeface="Arial"/>
              </a:rPr>
              <a:t>3</a:t>
            </a:r>
          </a:p>
        </p:txBody>
      </p:sp>
      <p:sp>
        <p:nvSpPr>
          <p:cNvPr id="20" name="TextBox 19"/>
          <p:cNvSpPr txBox="1"/>
          <p:nvPr/>
        </p:nvSpPr>
        <p:spPr>
          <a:xfrm>
            <a:off x="5248656" y="3310128"/>
            <a:ext cx="1764792" cy="1417320"/>
          </a:xfrm>
          <a:prstGeom prst="rect">
            <a:avLst/>
          </a:prstGeom>
          <a:noFill/>
        </p:spPr>
        <p:txBody>
          <a:bodyPr wrap="square" anchor="ctr" lIns="36576" rIns="36576" tIns="36576" bIns="36576">
            <a:spAutoFit/>
          </a:bodyPr>
          <a:lstStyle/>
          <a:p>
            <a:pPr algn="ctr">
              <a:spcAft>
                <a:spcPts val="0"/>
              </a:spcAft>
            </a:pPr>
            <a:r>
              <a:rPr sz="1300" b="0">
                <a:solidFill>
                  <a:srgbClr val="172433"/>
                </a:solidFill>
                <a:latin typeface="Arial"/>
              </a:rPr>
              <a:t>Pydantic contracts</a:t>
            </a:r>
          </a:p>
        </p:txBody>
      </p:sp>
      <p:cxnSp>
        <p:nvCxnSpPr>
          <p:cNvPr id="21" name="Connector 20"/>
          <p:cNvCxnSpPr/>
          <p:nvPr/>
        </p:nvCxnSpPr>
        <p:spPr>
          <a:xfrm>
            <a:off x="7123176" y="3657600"/>
            <a:ext cx="228600"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351776" y="2057400"/>
            <a:ext cx="1984248" cy="324612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14716" y="239572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14716" y="2560320"/>
            <a:ext cx="658368" cy="292608"/>
          </a:xfrm>
          <a:prstGeom prst="rect">
            <a:avLst/>
          </a:prstGeom>
          <a:noFill/>
        </p:spPr>
        <p:txBody>
          <a:bodyPr wrap="square" anchor="t" lIns="36576" rIns="36576" tIns="36576" bIns="36576">
            <a:spAutoFit/>
          </a:bodyPr>
          <a:lstStyle/>
          <a:p>
            <a:pPr algn="ctr">
              <a:spcAft>
                <a:spcPts val="0"/>
              </a:spcAft>
            </a:pPr>
            <a:r>
              <a:rPr sz="1800" b="1">
                <a:solidFill>
                  <a:srgbClr val="FFFFFF"/>
                </a:solidFill>
                <a:latin typeface="Arial"/>
              </a:rPr>
              <a:t>4</a:t>
            </a:r>
          </a:p>
        </p:txBody>
      </p:sp>
      <p:sp>
        <p:nvSpPr>
          <p:cNvPr id="25" name="TextBox 24"/>
          <p:cNvSpPr txBox="1"/>
          <p:nvPr/>
        </p:nvSpPr>
        <p:spPr>
          <a:xfrm>
            <a:off x="7461504" y="3310128"/>
            <a:ext cx="1764792" cy="1417320"/>
          </a:xfrm>
          <a:prstGeom prst="rect">
            <a:avLst/>
          </a:prstGeom>
          <a:noFill/>
        </p:spPr>
        <p:txBody>
          <a:bodyPr wrap="square" anchor="ctr" lIns="36576" rIns="36576" tIns="36576" bIns="36576">
            <a:spAutoFit/>
          </a:bodyPr>
          <a:lstStyle/>
          <a:p>
            <a:pPr algn="ctr">
              <a:spcAft>
                <a:spcPts val="0"/>
              </a:spcAft>
            </a:pPr>
            <a:r>
              <a:rPr sz="1300" b="0">
                <a:solidFill>
                  <a:srgbClr val="172433"/>
                </a:solidFill>
                <a:latin typeface="Arial"/>
              </a:rPr>
              <a:t>Repository transactions</a:t>
            </a:r>
          </a:p>
        </p:txBody>
      </p:sp>
      <p:cxnSp>
        <p:nvCxnSpPr>
          <p:cNvPr id="26" name="Connector 25"/>
          <p:cNvCxnSpPr/>
          <p:nvPr/>
        </p:nvCxnSpPr>
        <p:spPr>
          <a:xfrm>
            <a:off x="9336024" y="3657600"/>
            <a:ext cx="228600"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564624" y="2057400"/>
            <a:ext cx="1984248" cy="324612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227564" y="239572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27564" y="2560320"/>
            <a:ext cx="658368" cy="292608"/>
          </a:xfrm>
          <a:prstGeom prst="rect">
            <a:avLst/>
          </a:prstGeom>
          <a:noFill/>
        </p:spPr>
        <p:txBody>
          <a:bodyPr wrap="square" anchor="t" lIns="36576" rIns="36576" tIns="36576" bIns="36576">
            <a:spAutoFit/>
          </a:bodyPr>
          <a:lstStyle/>
          <a:p>
            <a:pPr algn="ctr">
              <a:spcAft>
                <a:spcPts val="0"/>
              </a:spcAft>
            </a:pPr>
            <a:r>
              <a:rPr sz="1800" b="1">
                <a:solidFill>
                  <a:srgbClr val="FFFFFF"/>
                </a:solidFill>
                <a:latin typeface="Arial"/>
              </a:rPr>
              <a:t>5</a:t>
            </a:r>
          </a:p>
        </p:txBody>
      </p:sp>
      <p:sp>
        <p:nvSpPr>
          <p:cNvPr id="30" name="TextBox 29"/>
          <p:cNvSpPr txBox="1"/>
          <p:nvPr/>
        </p:nvSpPr>
        <p:spPr>
          <a:xfrm>
            <a:off x="9674352" y="3310128"/>
            <a:ext cx="1764792" cy="1417320"/>
          </a:xfrm>
          <a:prstGeom prst="rect">
            <a:avLst/>
          </a:prstGeom>
          <a:noFill/>
        </p:spPr>
        <p:txBody>
          <a:bodyPr wrap="square" anchor="ctr" lIns="36576" rIns="36576" tIns="36576" bIns="36576">
            <a:spAutoFit/>
          </a:bodyPr>
          <a:lstStyle/>
          <a:p>
            <a:pPr algn="ctr">
              <a:spcAft>
                <a:spcPts val="0"/>
              </a:spcAft>
            </a:pPr>
            <a:r>
              <a:rPr sz="1300" b="0">
                <a:solidFill>
                  <a:srgbClr val="172433"/>
                </a:solidFill>
                <a:latin typeface="Arial"/>
              </a:rPr>
              <a:t>SQLite products + CRM + orders</a:t>
            </a:r>
          </a:p>
        </p:txBody>
      </p:sp>
      <p:sp>
        <p:nvSpPr>
          <p:cNvPr id="31" name="TextBox 30"/>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2" name="TextBox 31"/>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3" name="TextBox 3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14</a:t>
            </a:r>
          </a:p>
        </p:txBody>
      </p:sp>
    </p:spTree>
  </p:cSld>
  <p:transition spd="fast">
    <p:fade/>
  </p:transition>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CONTRACT FIRST</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OpenAPI 3.1 Contract Map</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2057400"/>
            <a:ext cx="1984248" cy="324612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76172" y="2395728"/>
            <a:ext cx="658368" cy="65836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6172" y="2560320"/>
            <a:ext cx="658368" cy="292608"/>
          </a:xfrm>
          <a:prstGeom prst="rect">
            <a:avLst/>
          </a:prstGeom>
          <a:noFill/>
        </p:spPr>
        <p:txBody>
          <a:bodyPr wrap="square" anchor="t" lIns="36576" rIns="36576" tIns="36576" bIns="36576">
            <a:spAutoFit/>
          </a:bodyPr>
          <a:lstStyle/>
          <a:p>
            <a:pPr algn="ctr">
              <a:spcAft>
                <a:spcPts val="0"/>
              </a:spcAft>
            </a:pPr>
            <a:r>
              <a:rPr sz="1800" b="1">
                <a:solidFill>
                  <a:srgbClr val="FFFFFF"/>
                </a:solidFill>
                <a:latin typeface="Arial"/>
              </a:rPr>
              <a:t>1</a:t>
            </a:r>
          </a:p>
        </p:txBody>
      </p:sp>
      <p:sp>
        <p:nvSpPr>
          <p:cNvPr id="10" name="TextBox 9"/>
          <p:cNvSpPr txBox="1"/>
          <p:nvPr/>
        </p:nvSpPr>
        <p:spPr>
          <a:xfrm>
            <a:off x="822960" y="3310128"/>
            <a:ext cx="1764792" cy="1417320"/>
          </a:xfrm>
          <a:prstGeom prst="rect">
            <a:avLst/>
          </a:prstGeom>
          <a:noFill/>
        </p:spPr>
        <p:txBody>
          <a:bodyPr wrap="square" anchor="ctr" lIns="36576" rIns="36576" tIns="36576" bIns="36576">
            <a:spAutoFit/>
          </a:bodyPr>
          <a:lstStyle/>
          <a:p>
            <a:pPr algn="ctr">
              <a:spcAft>
                <a:spcPts val="0"/>
              </a:spcAft>
            </a:pPr>
            <a:r>
              <a:rPr sz="1300" b="0">
                <a:solidFill>
                  <a:srgbClr val="172433"/>
                </a:solidFill>
                <a:latin typeface="Arial"/>
              </a:rPr>
              <a:t>info + servers</a:t>
            </a:r>
          </a:p>
        </p:txBody>
      </p:sp>
      <p:cxnSp>
        <p:nvCxnSpPr>
          <p:cNvPr id="11" name="Connector 10"/>
          <p:cNvCxnSpPr/>
          <p:nvPr/>
        </p:nvCxnSpPr>
        <p:spPr>
          <a:xfrm>
            <a:off x="2697480" y="3657600"/>
            <a:ext cx="228600"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926080" y="2057400"/>
            <a:ext cx="1984248" cy="324612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89020" y="2395728"/>
            <a:ext cx="658368" cy="65836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89020" y="2560320"/>
            <a:ext cx="658368" cy="292608"/>
          </a:xfrm>
          <a:prstGeom prst="rect">
            <a:avLst/>
          </a:prstGeom>
          <a:noFill/>
        </p:spPr>
        <p:txBody>
          <a:bodyPr wrap="square" anchor="t" lIns="36576" rIns="36576" tIns="36576" bIns="36576">
            <a:spAutoFit/>
          </a:bodyPr>
          <a:lstStyle/>
          <a:p>
            <a:pPr algn="ctr">
              <a:spcAft>
                <a:spcPts val="0"/>
              </a:spcAft>
            </a:pPr>
            <a:r>
              <a:rPr sz="1800" b="1">
                <a:solidFill>
                  <a:srgbClr val="FFFFFF"/>
                </a:solidFill>
                <a:latin typeface="Arial"/>
              </a:rPr>
              <a:t>2</a:t>
            </a:r>
          </a:p>
        </p:txBody>
      </p:sp>
      <p:sp>
        <p:nvSpPr>
          <p:cNvPr id="15" name="TextBox 14"/>
          <p:cNvSpPr txBox="1"/>
          <p:nvPr/>
        </p:nvSpPr>
        <p:spPr>
          <a:xfrm>
            <a:off x="3035808" y="3310128"/>
            <a:ext cx="1764792" cy="1417320"/>
          </a:xfrm>
          <a:prstGeom prst="rect">
            <a:avLst/>
          </a:prstGeom>
          <a:noFill/>
        </p:spPr>
        <p:txBody>
          <a:bodyPr wrap="square" anchor="ctr" lIns="36576" rIns="36576" tIns="36576" bIns="36576">
            <a:spAutoFit/>
          </a:bodyPr>
          <a:lstStyle/>
          <a:p>
            <a:pPr algn="ctr">
              <a:spcAft>
                <a:spcPts val="0"/>
              </a:spcAft>
            </a:pPr>
            <a:r>
              <a:rPr sz="1300" b="0">
                <a:solidFill>
                  <a:srgbClr val="172433"/>
                </a:solidFill>
                <a:latin typeface="Arial"/>
              </a:rPr>
              <a:t>paths + operations</a:t>
            </a:r>
          </a:p>
        </p:txBody>
      </p:sp>
      <p:cxnSp>
        <p:nvCxnSpPr>
          <p:cNvPr id="16" name="Connector 15"/>
          <p:cNvCxnSpPr/>
          <p:nvPr/>
        </p:nvCxnSpPr>
        <p:spPr>
          <a:xfrm>
            <a:off x="4910328" y="3657600"/>
            <a:ext cx="228600"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38928" y="2057400"/>
            <a:ext cx="1984248" cy="324612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801868" y="2395728"/>
            <a:ext cx="658368" cy="65836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01868" y="2560320"/>
            <a:ext cx="658368" cy="292608"/>
          </a:xfrm>
          <a:prstGeom prst="rect">
            <a:avLst/>
          </a:prstGeom>
          <a:noFill/>
        </p:spPr>
        <p:txBody>
          <a:bodyPr wrap="square" anchor="t" lIns="36576" rIns="36576" tIns="36576" bIns="36576">
            <a:spAutoFit/>
          </a:bodyPr>
          <a:lstStyle/>
          <a:p>
            <a:pPr algn="ctr">
              <a:spcAft>
                <a:spcPts val="0"/>
              </a:spcAft>
            </a:pPr>
            <a:r>
              <a:rPr sz="1800" b="1">
                <a:solidFill>
                  <a:srgbClr val="FFFFFF"/>
                </a:solidFill>
                <a:latin typeface="Arial"/>
              </a:rPr>
              <a:t>3</a:t>
            </a:r>
          </a:p>
        </p:txBody>
      </p:sp>
      <p:sp>
        <p:nvSpPr>
          <p:cNvPr id="20" name="TextBox 19"/>
          <p:cNvSpPr txBox="1"/>
          <p:nvPr/>
        </p:nvSpPr>
        <p:spPr>
          <a:xfrm>
            <a:off x="5248656" y="3310128"/>
            <a:ext cx="1764792" cy="1417320"/>
          </a:xfrm>
          <a:prstGeom prst="rect">
            <a:avLst/>
          </a:prstGeom>
          <a:noFill/>
        </p:spPr>
        <p:txBody>
          <a:bodyPr wrap="square" anchor="ctr" lIns="36576" rIns="36576" tIns="36576" bIns="36576">
            <a:spAutoFit/>
          </a:bodyPr>
          <a:lstStyle/>
          <a:p>
            <a:pPr algn="ctr">
              <a:spcAft>
                <a:spcPts val="0"/>
              </a:spcAft>
            </a:pPr>
            <a:r>
              <a:rPr sz="1300" b="0">
                <a:solidFill>
                  <a:srgbClr val="172433"/>
                </a:solidFill>
                <a:latin typeface="Arial"/>
              </a:rPr>
              <a:t>parameters + requestBody</a:t>
            </a:r>
          </a:p>
        </p:txBody>
      </p:sp>
      <p:cxnSp>
        <p:nvCxnSpPr>
          <p:cNvPr id="21" name="Connector 20"/>
          <p:cNvCxnSpPr/>
          <p:nvPr/>
        </p:nvCxnSpPr>
        <p:spPr>
          <a:xfrm>
            <a:off x="7123176" y="3657600"/>
            <a:ext cx="228600"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351776" y="2057400"/>
            <a:ext cx="1984248" cy="324612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14716" y="2395728"/>
            <a:ext cx="658368" cy="65836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14716" y="2560320"/>
            <a:ext cx="658368" cy="292608"/>
          </a:xfrm>
          <a:prstGeom prst="rect">
            <a:avLst/>
          </a:prstGeom>
          <a:noFill/>
        </p:spPr>
        <p:txBody>
          <a:bodyPr wrap="square" anchor="t" lIns="36576" rIns="36576" tIns="36576" bIns="36576">
            <a:spAutoFit/>
          </a:bodyPr>
          <a:lstStyle/>
          <a:p>
            <a:pPr algn="ctr">
              <a:spcAft>
                <a:spcPts val="0"/>
              </a:spcAft>
            </a:pPr>
            <a:r>
              <a:rPr sz="1800" b="1">
                <a:solidFill>
                  <a:srgbClr val="FFFFFF"/>
                </a:solidFill>
                <a:latin typeface="Arial"/>
              </a:rPr>
              <a:t>4</a:t>
            </a:r>
          </a:p>
        </p:txBody>
      </p:sp>
      <p:sp>
        <p:nvSpPr>
          <p:cNvPr id="25" name="TextBox 24"/>
          <p:cNvSpPr txBox="1"/>
          <p:nvPr/>
        </p:nvSpPr>
        <p:spPr>
          <a:xfrm>
            <a:off x="7461504" y="3310128"/>
            <a:ext cx="1764792" cy="1417320"/>
          </a:xfrm>
          <a:prstGeom prst="rect">
            <a:avLst/>
          </a:prstGeom>
          <a:noFill/>
        </p:spPr>
        <p:txBody>
          <a:bodyPr wrap="square" anchor="ctr" lIns="36576" rIns="36576" tIns="36576" bIns="36576">
            <a:spAutoFit/>
          </a:bodyPr>
          <a:lstStyle/>
          <a:p>
            <a:pPr algn="ctr">
              <a:spcAft>
                <a:spcPts val="0"/>
              </a:spcAft>
            </a:pPr>
            <a:r>
              <a:rPr sz="1300" b="0">
                <a:solidFill>
                  <a:srgbClr val="172433"/>
                </a:solidFill>
                <a:latin typeface="Arial"/>
              </a:rPr>
              <a:t>responses + schemas</a:t>
            </a:r>
          </a:p>
        </p:txBody>
      </p:sp>
      <p:cxnSp>
        <p:nvCxnSpPr>
          <p:cNvPr id="26" name="Connector 25"/>
          <p:cNvCxnSpPr/>
          <p:nvPr/>
        </p:nvCxnSpPr>
        <p:spPr>
          <a:xfrm>
            <a:off x="9336024" y="3657600"/>
            <a:ext cx="228600"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564624" y="2057400"/>
            <a:ext cx="1984248" cy="324612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227564" y="2395728"/>
            <a:ext cx="658368" cy="65836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27564" y="2560320"/>
            <a:ext cx="658368" cy="292608"/>
          </a:xfrm>
          <a:prstGeom prst="rect">
            <a:avLst/>
          </a:prstGeom>
          <a:noFill/>
        </p:spPr>
        <p:txBody>
          <a:bodyPr wrap="square" anchor="t" lIns="36576" rIns="36576" tIns="36576" bIns="36576">
            <a:spAutoFit/>
          </a:bodyPr>
          <a:lstStyle/>
          <a:p>
            <a:pPr algn="ctr">
              <a:spcAft>
                <a:spcPts val="0"/>
              </a:spcAft>
            </a:pPr>
            <a:r>
              <a:rPr sz="1800" b="1">
                <a:solidFill>
                  <a:srgbClr val="FFFFFF"/>
                </a:solidFill>
                <a:latin typeface="Arial"/>
              </a:rPr>
              <a:t>5</a:t>
            </a:r>
          </a:p>
        </p:txBody>
      </p:sp>
      <p:sp>
        <p:nvSpPr>
          <p:cNvPr id="30" name="TextBox 29"/>
          <p:cNvSpPr txBox="1"/>
          <p:nvPr/>
        </p:nvSpPr>
        <p:spPr>
          <a:xfrm>
            <a:off x="9674352" y="3310128"/>
            <a:ext cx="1764792" cy="1417320"/>
          </a:xfrm>
          <a:prstGeom prst="rect">
            <a:avLst/>
          </a:prstGeom>
          <a:noFill/>
        </p:spPr>
        <p:txBody>
          <a:bodyPr wrap="square" anchor="ctr" lIns="36576" rIns="36576" tIns="36576" bIns="36576">
            <a:spAutoFit/>
          </a:bodyPr>
          <a:lstStyle/>
          <a:p>
            <a:pPr algn="ctr">
              <a:spcAft>
                <a:spcPts val="0"/>
              </a:spcAft>
            </a:pPr>
            <a:r>
              <a:rPr sz="1300" b="0">
                <a:solidFill>
                  <a:srgbClr val="172433"/>
                </a:solidFill>
                <a:latin typeface="Arial"/>
              </a:rPr>
              <a:t>components + security</a:t>
            </a:r>
          </a:p>
        </p:txBody>
      </p:sp>
      <p:sp>
        <p:nvSpPr>
          <p:cNvPr id="31" name="TextBox 30"/>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2" name="TextBox 31"/>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3" name="TextBox 3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15</a:t>
            </a:r>
          </a:p>
        </p:txBody>
      </p:sp>
    </p:spTree>
  </p:cSld>
  <p:transition spd="fast">
    <p:fade/>
  </p:transition>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CAPSTONE UI · CONCEPT VISUAL</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Northstar Commerce operations dashboard</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orthstar-ui-concept-v1.png"/>
          <p:cNvPicPr>
            <a:picLocks noChangeAspect="1"/>
          </p:cNvPicPr>
          <p:nvPr/>
        </p:nvPicPr>
        <p:blipFill>
          <a:blip r:embed="rId2"/>
          <a:stretch>
            <a:fillRect/>
          </a:stretch>
        </p:blipFill>
        <p:spPr>
          <a:xfrm>
            <a:off x="566928" y="1463040"/>
            <a:ext cx="8869680" cy="4991847"/>
          </a:xfrm>
          <a:prstGeom prst="rect">
            <a:avLst/>
          </a:prstGeom>
        </p:spPr>
      </p:pic>
      <p:sp>
        <p:nvSpPr>
          <p:cNvPr id="8" name="Rounded Rectangle 7"/>
          <p:cNvSpPr/>
          <p:nvPr/>
        </p:nvSpPr>
        <p:spPr>
          <a:xfrm>
            <a:off x="9674352" y="1682496"/>
            <a:ext cx="1965960" cy="437083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48672" y="1993392"/>
            <a:ext cx="1417320" cy="493776"/>
          </a:xfrm>
          <a:prstGeom prst="rect">
            <a:avLst/>
          </a:prstGeom>
          <a:noFill/>
        </p:spPr>
        <p:txBody>
          <a:bodyPr wrap="square" anchor="t" lIns="36576" rIns="36576" tIns="36576" bIns="36576">
            <a:spAutoFit/>
          </a:bodyPr>
          <a:lstStyle/>
          <a:p>
            <a:pPr algn="l">
              <a:spcAft>
                <a:spcPts val="0"/>
              </a:spcAft>
            </a:pPr>
            <a:r>
              <a:rPr sz="1200" b="1">
                <a:solidFill>
                  <a:srgbClr val="10B981"/>
                </a:solidFill>
                <a:latin typeface="Arial"/>
              </a:rPr>
              <a:t>CONCEPT
VISUAL</a:t>
            </a:r>
          </a:p>
        </p:txBody>
      </p:sp>
      <p:sp>
        <p:nvSpPr>
          <p:cNvPr id="10" name="TextBox 9"/>
          <p:cNvSpPr txBox="1"/>
          <p:nvPr/>
        </p:nvSpPr>
        <p:spPr>
          <a:xfrm>
            <a:off x="9948672" y="2816352"/>
            <a:ext cx="1417320" cy="2103120"/>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Products
Customers
Orders
Revenue</a:t>
            </a:r>
          </a:p>
        </p:txBody>
      </p:sp>
      <p:sp>
        <p:nvSpPr>
          <p:cNvPr id="11" name="TextBox 10"/>
          <p:cNvSpPr txBox="1"/>
          <p:nvPr/>
        </p:nvSpPr>
        <p:spPr>
          <a:xfrm>
            <a:off x="9948672" y="5230368"/>
            <a:ext cx="1417320" cy="512064"/>
          </a:xfrm>
          <a:prstGeom prst="rect">
            <a:avLst/>
          </a:prstGeom>
          <a:noFill/>
        </p:spPr>
        <p:txBody>
          <a:bodyPr wrap="square" anchor="t" lIns="36576" rIns="36576" tIns="36576" bIns="36576">
            <a:spAutoFit/>
          </a:bodyPr>
          <a:lstStyle/>
          <a:p>
            <a:pPr algn="l">
              <a:spcAft>
                <a:spcPts val="0"/>
              </a:spcAft>
            </a:pPr>
            <a:r>
              <a:rPr sz="950" b="0">
                <a:solidFill>
                  <a:srgbClr val="475569"/>
                </a:solidFill>
                <a:latin typeface="Arial"/>
              </a:rPr>
              <a:t>Runnable UI appears in Lab 11.</a:t>
            </a:r>
          </a:p>
        </p:txBody>
      </p:sp>
      <p:sp>
        <p:nvSpPr>
          <p:cNvPr id="12" name="TextBox 11"/>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3" name="TextBox 12"/>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4" name="TextBox 13"/>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Imagegen concept; not measured data</a:t>
            </a:r>
          </a:p>
        </p:txBody>
      </p:sp>
      <p:sp>
        <p:nvSpPr>
          <p:cNvPr id="15" name="TextBox 14"/>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16</a:t>
            </a:r>
          </a:p>
        </p:txBody>
      </p:sp>
    </p:spTree>
  </p:cSld>
  <p:transition spd="fast">
    <p:fade/>
  </p:transition>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06B6D4"/>
                </a:solidFill>
                <a:latin typeface="Arial"/>
              </a:rPr>
              <a:t>LESSON PLAN</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Day 1 · Contract to Validation</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37360"/>
            <a:ext cx="5289804" cy="9372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37360"/>
            <a:ext cx="73152" cy="9372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938528"/>
            <a:ext cx="475488" cy="475488"/>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993392"/>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1</a:t>
            </a:r>
          </a:p>
        </p:txBody>
      </p:sp>
      <p:sp>
        <p:nvSpPr>
          <p:cNvPr id="11" name="TextBox 10"/>
          <p:cNvSpPr txBox="1"/>
          <p:nvPr/>
        </p:nvSpPr>
        <p:spPr>
          <a:xfrm>
            <a:off x="1554480" y="1901952"/>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09:00</a:t>
            </a:r>
          </a:p>
        </p:txBody>
      </p:sp>
      <p:sp>
        <p:nvSpPr>
          <p:cNvPr id="12" name="TextBox 11"/>
          <p:cNvSpPr txBox="1"/>
          <p:nvPr/>
        </p:nvSpPr>
        <p:spPr>
          <a:xfrm>
            <a:off x="1554480" y="2304288"/>
            <a:ext cx="4238244" cy="278892"/>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09:30 · Administration, outcomes and course contract</a:t>
            </a:r>
          </a:p>
        </p:txBody>
      </p:sp>
      <p:sp>
        <p:nvSpPr>
          <p:cNvPr id="13" name="Rounded Rectangle 12"/>
          <p:cNvSpPr/>
          <p:nvPr/>
        </p:nvSpPr>
        <p:spPr>
          <a:xfrm>
            <a:off x="6259068" y="1737360"/>
            <a:ext cx="5289804" cy="9372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59068" y="1737360"/>
            <a:ext cx="73152" cy="93726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60236" y="1938528"/>
            <a:ext cx="475488" cy="475488"/>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0236" y="1993392"/>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2</a:t>
            </a:r>
          </a:p>
        </p:txBody>
      </p:sp>
      <p:sp>
        <p:nvSpPr>
          <p:cNvPr id="17" name="TextBox 16"/>
          <p:cNvSpPr txBox="1"/>
          <p:nvPr/>
        </p:nvSpPr>
        <p:spPr>
          <a:xfrm>
            <a:off x="7100316" y="1901952"/>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09:30</a:t>
            </a:r>
          </a:p>
        </p:txBody>
      </p:sp>
      <p:sp>
        <p:nvSpPr>
          <p:cNvPr id="18" name="TextBox 17"/>
          <p:cNvSpPr txBox="1"/>
          <p:nvPr/>
        </p:nvSpPr>
        <p:spPr>
          <a:xfrm>
            <a:off x="7100316" y="2304288"/>
            <a:ext cx="4238244" cy="278892"/>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11:00 · Topic 1 concepts and demonstrations</a:t>
            </a:r>
          </a:p>
        </p:txBody>
      </p:sp>
      <p:sp>
        <p:nvSpPr>
          <p:cNvPr id="19" name="Rounded Rectangle 18"/>
          <p:cNvSpPr/>
          <p:nvPr/>
        </p:nvSpPr>
        <p:spPr>
          <a:xfrm>
            <a:off x="713232" y="2894076"/>
            <a:ext cx="5289804" cy="9372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13232" y="2894076"/>
            <a:ext cx="73152"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4400" y="3095244"/>
            <a:ext cx="475488" cy="47548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3150108"/>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3</a:t>
            </a:r>
          </a:p>
        </p:txBody>
      </p:sp>
      <p:sp>
        <p:nvSpPr>
          <p:cNvPr id="23" name="TextBox 22"/>
          <p:cNvSpPr txBox="1"/>
          <p:nvPr/>
        </p:nvSpPr>
        <p:spPr>
          <a:xfrm>
            <a:off x="1554480" y="3058668"/>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11:00</a:t>
            </a:r>
          </a:p>
        </p:txBody>
      </p:sp>
      <p:sp>
        <p:nvSpPr>
          <p:cNvPr id="24" name="TextBox 23"/>
          <p:cNvSpPr txBox="1"/>
          <p:nvPr/>
        </p:nvSpPr>
        <p:spPr>
          <a:xfrm>
            <a:off x="1554480" y="3461004"/>
            <a:ext cx="4238244" cy="278892"/>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12:30 · Labs 1-2</a:t>
            </a:r>
          </a:p>
        </p:txBody>
      </p:sp>
      <p:sp>
        <p:nvSpPr>
          <p:cNvPr id="25" name="Rounded Rectangle 24"/>
          <p:cNvSpPr/>
          <p:nvPr/>
        </p:nvSpPr>
        <p:spPr>
          <a:xfrm>
            <a:off x="6259068" y="2894076"/>
            <a:ext cx="5289804" cy="9372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59068" y="2894076"/>
            <a:ext cx="73152"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460236" y="3095244"/>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60236" y="3150108"/>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4</a:t>
            </a:r>
          </a:p>
        </p:txBody>
      </p:sp>
      <p:sp>
        <p:nvSpPr>
          <p:cNvPr id="29" name="TextBox 28"/>
          <p:cNvSpPr txBox="1"/>
          <p:nvPr/>
        </p:nvSpPr>
        <p:spPr>
          <a:xfrm>
            <a:off x="7100316" y="3058668"/>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12:30</a:t>
            </a:r>
          </a:p>
        </p:txBody>
      </p:sp>
      <p:sp>
        <p:nvSpPr>
          <p:cNvPr id="30" name="TextBox 29"/>
          <p:cNvSpPr txBox="1"/>
          <p:nvPr/>
        </p:nvSpPr>
        <p:spPr>
          <a:xfrm>
            <a:off x="7100316" y="3461004"/>
            <a:ext cx="4238244" cy="278892"/>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13:30 · Lunch</a:t>
            </a:r>
          </a:p>
        </p:txBody>
      </p:sp>
      <p:sp>
        <p:nvSpPr>
          <p:cNvPr id="31" name="Rounded Rectangle 30"/>
          <p:cNvSpPr/>
          <p:nvPr/>
        </p:nvSpPr>
        <p:spPr>
          <a:xfrm>
            <a:off x="713232" y="4050792"/>
            <a:ext cx="5289804" cy="9372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13232" y="4050792"/>
            <a:ext cx="73152"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14400" y="4251960"/>
            <a:ext cx="475488" cy="475488"/>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4306824"/>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5</a:t>
            </a:r>
          </a:p>
        </p:txBody>
      </p:sp>
      <p:sp>
        <p:nvSpPr>
          <p:cNvPr id="35" name="TextBox 34"/>
          <p:cNvSpPr txBox="1"/>
          <p:nvPr/>
        </p:nvSpPr>
        <p:spPr>
          <a:xfrm>
            <a:off x="1554480" y="4215384"/>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13:30</a:t>
            </a:r>
          </a:p>
        </p:txBody>
      </p:sp>
      <p:sp>
        <p:nvSpPr>
          <p:cNvPr id="36" name="TextBox 35"/>
          <p:cNvSpPr txBox="1"/>
          <p:nvPr/>
        </p:nvSpPr>
        <p:spPr>
          <a:xfrm>
            <a:off x="1554480" y="4617720"/>
            <a:ext cx="4238244" cy="278892"/>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15:00 · Topic 2 concepts and demonstrations</a:t>
            </a:r>
          </a:p>
        </p:txBody>
      </p:sp>
      <p:sp>
        <p:nvSpPr>
          <p:cNvPr id="37" name="Rounded Rectangle 36"/>
          <p:cNvSpPr/>
          <p:nvPr/>
        </p:nvSpPr>
        <p:spPr>
          <a:xfrm>
            <a:off x="6259068" y="4050792"/>
            <a:ext cx="5289804" cy="9372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259068" y="4050792"/>
            <a:ext cx="73152" cy="9372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460236" y="4251960"/>
            <a:ext cx="475488" cy="475488"/>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60236" y="4306824"/>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6</a:t>
            </a:r>
          </a:p>
        </p:txBody>
      </p:sp>
      <p:sp>
        <p:nvSpPr>
          <p:cNvPr id="41" name="TextBox 40"/>
          <p:cNvSpPr txBox="1"/>
          <p:nvPr/>
        </p:nvSpPr>
        <p:spPr>
          <a:xfrm>
            <a:off x="7100316" y="4215384"/>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15:00</a:t>
            </a:r>
          </a:p>
        </p:txBody>
      </p:sp>
      <p:sp>
        <p:nvSpPr>
          <p:cNvPr id="42" name="TextBox 41"/>
          <p:cNvSpPr txBox="1"/>
          <p:nvPr/>
        </p:nvSpPr>
        <p:spPr>
          <a:xfrm>
            <a:off x="7100316" y="4617720"/>
            <a:ext cx="4238244" cy="278892"/>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16:15 · Labs 3-4</a:t>
            </a:r>
          </a:p>
        </p:txBody>
      </p:sp>
      <p:sp>
        <p:nvSpPr>
          <p:cNvPr id="43" name="Rounded Rectangle 42"/>
          <p:cNvSpPr/>
          <p:nvPr/>
        </p:nvSpPr>
        <p:spPr>
          <a:xfrm>
            <a:off x="713232" y="5207508"/>
            <a:ext cx="5289804" cy="9372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13232" y="5207508"/>
            <a:ext cx="73152" cy="93726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914400" y="5408676"/>
            <a:ext cx="475488" cy="475488"/>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4400" y="5463540"/>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7</a:t>
            </a:r>
          </a:p>
        </p:txBody>
      </p:sp>
      <p:sp>
        <p:nvSpPr>
          <p:cNvPr id="47" name="TextBox 46"/>
          <p:cNvSpPr txBox="1"/>
          <p:nvPr/>
        </p:nvSpPr>
        <p:spPr>
          <a:xfrm>
            <a:off x="1554480" y="5372100"/>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16:15</a:t>
            </a:r>
          </a:p>
        </p:txBody>
      </p:sp>
      <p:sp>
        <p:nvSpPr>
          <p:cNvPr id="48" name="TextBox 47"/>
          <p:cNvSpPr txBox="1"/>
          <p:nvPr/>
        </p:nvSpPr>
        <p:spPr>
          <a:xfrm>
            <a:off x="1554480" y="5774436"/>
            <a:ext cx="4238244" cy="278892"/>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17:15 · Topic 3 concepts and demonstrations</a:t>
            </a:r>
          </a:p>
        </p:txBody>
      </p:sp>
      <p:sp>
        <p:nvSpPr>
          <p:cNvPr id="49" name="Rounded Rectangle 48"/>
          <p:cNvSpPr/>
          <p:nvPr/>
        </p:nvSpPr>
        <p:spPr>
          <a:xfrm>
            <a:off x="6259068" y="5207508"/>
            <a:ext cx="5289804" cy="9372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259068" y="5207508"/>
            <a:ext cx="73152"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6460236" y="5408676"/>
            <a:ext cx="475488" cy="47548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60236" y="5463540"/>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8</a:t>
            </a:r>
          </a:p>
        </p:txBody>
      </p:sp>
      <p:sp>
        <p:nvSpPr>
          <p:cNvPr id="53" name="TextBox 52"/>
          <p:cNvSpPr txBox="1"/>
          <p:nvPr/>
        </p:nvSpPr>
        <p:spPr>
          <a:xfrm>
            <a:off x="7100316" y="5372100"/>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17:15</a:t>
            </a:r>
          </a:p>
        </p:txBody>
      </p:sp>
      <p:sp>
        <p:nvSpPr>
          <p:cNvPr id="54" name="TextBox 53"/>
          <p:cNvSpPr txBox="1"/>
          <p:nvPr/>
        </p:nvSpPr>
        <p:spPr>
          <a:xfrm>
            <a:off x="7100316" y="5774436"/>
            <a:ext cx="4238244" cy="278892"/>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18:00 · Labs 5-6 briefing and guided start</a:t>
            </a:r>
          </a:p>
        </p:txBody>
      </p:sp>
      <p:sp>
        <p:nvSpPr>
          <p:cNvPr id="55" name="TextBox 54"/>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56" name="TextBox 55"/>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57" name="TextBox 56"/>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17</a:t>
            </a:r>
          </a:p>
        </p:txBody>
      </p:sp>
    </p:spTree>
  </p:cSld>
  <p:transition spd="fast">
    <p:fade/>
  </p:transition>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06B6D4"/>
                </a:solidFill>
                <a:latin typeface="Arial"/>
              </a:rPr>
              <a:t>LESSON PLAN</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Day 2 · Data to Deployment</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37360"/>
            <a:ext cx="5289804" cy="9372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37360"/>
            <a:ext cx="73152" cy="9372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938528"/>
            <a:ext cx="475488" cy="475488"/>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993392"/>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1</a:t>
            </a:r>
          </a:p>
        </p:txBody>
      </p:sp>
      <p:sp>
        <p:nvSpPr>
          <p:cNvPr id="11" name="TextBox 10"/>
          <p:cNvSpPr txBox="1"/>
          <p:nvPr/>
        </p:nvSpPr>
        <p:spPr>
          <a:xfrm>
            <a:off x="1554480" y="1901952"/>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09:00</a:t>
            </a:r>
          </a:p>
        </p:txBody>
      </p:sp>
      <p:sp>
        <p:nvSpPr>
          <p:cNvPr id="12" name="TextBox 11"/>
          <p:cNvSpPr txBox="1"/>
          <p:nvPr/>
        </p:nvSpPr>
        <p:spPr>
          <a:xfrm>
            <a:off x="1554480" y="2304288"/>
            <a:ext cx="4238244" cy="278892"/>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10:30 · Topic 4 concepts and demonstrations</a:t>
            </a:r>
          </a:p>
        </p:txBody>
      </p:sp>
      <p:sp>
        <p:nvSpPr>
          <p:cNvPr id="13" name="Rounded Rectangle 12"/>
          <p:cNvSpPr/>
          <p:nvPr/>
        </p:nvSpPr>
        <p:spPr>
          <a:xfrm>
            <a:off x="6259068" y="1737360"/>
            <a:ext cx="5289804" cy="9372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59068" y="1737360"/>
            <a:ext cx="73152" cy="93726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60236" y="1938528"/>
            <a:ext cx="475488" cy="475488"/>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0236" y="1993392"/>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2</a:t>
            </a:r>
          </a:p>
        </p:txBody>
      </p:sp>
      <p:sp>
        <p:nvSpPr>
          <p:cNvPr id="17" name="TextBox 16"/>
          <p:cNvSpPr txBox="1"/>
          <p:nvPr/>
        </p:nvSpPr>
        <p:spPr>
          <a:xfrm>
            <a:off x="7100316" y="1901952"/>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10:30</a:t>
            </a:r>
          </a:p>
        </p:txBody>
      </p:sp>
      <p:sp>
        <p:nvSpPr>
          <p:cNvPr id="18" name="TextBox 17"/>
          <p:cNvSpPr txBox="1"/>
          <p:nvPr/>
        </p:nvSpPr>
        <p:spPr>
          <a:xfrm>
            <a:off x="7100316" y="2304288"/>
            <a:ext cx="4238244" cy="278892"/>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12:00 · Labs 7-8</a:t>
            </a:r>
          </a:p>
        </p:txBody>
      </p:sp>
      <p:sp>
        <p:nvSpPr>
          <p:cNvPr id="19" name="Rounded Rectangle 18"/>
          <p:cNvSpPr/>
          <p:nvPr/>
        </p:nvSpPr>
        <p:spPr>
          <a:xfrm>
            <a:off x="713232" y="2894076"/>
            <a:ext cx="5289804" cy="9372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13232" y="2894076"/>
            <a:ext cx="73152"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4400" y="3095244"/>
            <a:ext cx="475488" cy="47548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3150108"/>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3</a:t>
            </a:r>
          </a:p>
        </p:txBody>
      </p:sp>
      <p:sp>
        <p:nvSpPr>
          <p:cNvPr id="23" name="TextBox 22"/>
          <p:cNvSpPr txBox="1"/>
          <p:nvPr/>
        </p:nvSpPr>
        <p:spPr>
          <a:xfrm>
            <a:off x="1554480" y="3058668"/>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12:00</a:t>
            </a:r>
          </a:p>
        </p:txBody>
      </p:sp>
      <p:sp>
        <p:nvSpPr>
          <p:cNvPr id="24" name="TextBox 23"/>
          <p:cNvSpPr txBox="1"/>
          <p:nvPr/>
        </p:nvSpPr>
        <p:spPr>
          <a:xfrm>
            <a:off x="1554480" y="3461004"/>
            <a:ext cx="4238244" cy="278892"/>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13:00 · Topic 5 architecture and SQLite</a:t>
            </a:r>
          </a:p>
        </p:txBody>
      </p:sp>
      <p:sp>
        <p:nvSpPr>
          <p:cNvPr id="25" name="Rounded Rectangle 24"/>
          <p:cNvSpPr/>
          <p:nvPr/>
        </p:nvSpPr>
        <p:spPr>
          <a:xfrm>
            <a:off x="6259068" y="2894076"/>
            <a:ext cx="5289804" cy="9372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59068" y="2894076"/>
            <a:ext cx="73152"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460236" y="3095244"/>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60236" y="3150108"/>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4</a:t>
            </a:r>
          </a:p>
        </p:txBody>
      </p:sp>
      <p:sp>
        <p:nvSpPr>
          <p:cNvPr id="29" name="TextBox 28"/>
          <p:cNvSpPr txBox="1"/>
          <p:nvPr/>
        </p:nvSpPr>
        <p:spPr>
          <a:xfrm>
            <a:off x="7100316" y="3058668"/>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13:00</a:t>
            </a:r>
          </a:p>
        </p:txBody>
      </p:sp>
      <p:sp>
        <p:nvSpPr>
          <p:cNvPr id="30" name="TextBox 29"/>
          <p:cNvSpPr txBox="1"/>
          <p:nvPr/>
        </p:nvSpPr>
        <p:spPr>
          <a:xfrm>
            <a:off x="7100316" y="3461004"/>
            <a:ext cx="4238244" cy="278892"/>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14:00 · Lunch</a:t>
            </a:r>
          </a:p>
        </p:txBody>
      </p:sp>
      <p:sp>
        <p:nvSpPr>
          <p:cNvPr id="31" name="Rounded Rectangle 30"/>
          <p:cNvSpPr/>
          <p:nvPr/>
        </p:nvSpPr>
        <p:spPr>
          <a:xfrm>
            <a:off x="713232" y="4050792"/>
            <a:ext cx="5289804" cy="9372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13232" y="4050792"/>
            <a:ext cx="73152"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14400" y="4251960"/>
            <a:ext cx="475488" cy="475488"/>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4306824"/>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5</a:t>
            </a:r>
          </a:p>
        </p:txBody>
      </p:sp>
      <p:sp>
        <p:nvSpPr>
          <p:cNvPr id="35" name="TextBox 34"/>
          <p:cNvSpPr txBox="1"/>
          <p:nvPr/>
        </p:nvSpPr>
        <p:spPr>
          <a:xfrm>
            <a:off x="1554480" y="4215384"/>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14:00</a:t>
            </a:r>
          </a:p>
        </p:txBody>
      </p:sp>
      <p:sp>
        <p:nvSpPr>
          <p:cNvPr id="36" name="TextBox 35"/>
          <p:cNvSpPr txBox="1"/>
          <p:nvPr/>
        </p:nvSpPr>
        <p:spPr>
          <a:xfrm>
            <a:off x="1554480" y="4617720"/>
            <a:ext cx="4238244" cy="278892"/>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15:30 · Labs 9-10</a:t>
            </a:r>
          </a:p>
        </p:txBody>
      </p:sp>
      <p:sp>
        <p:nvSpPr>
          <p:cNvPr id="37" name="Rounded Rectangle 36"/>
          <p:cNvSpPr/>
          <p:nvPr/>
        </p:nvSpPr>
        <p:spPr>
          <a:xfrm>
            <a:off x="6259068" y="4050792"/>
            <a:ext cx="5289804" cy="9372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259068" y="4050792"/>
            <a:ext cx="73152" cy="9372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460236" y="4251960"/>
            <a:ext cx="475488" cy="475488"/>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60236" y="4306824"/>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6</a:t>
            </a:r>
          </a:p>
        </p:txBody>
      </p:sp>
      <p:sp>
        <p:nvSpPr>
          <p:cNvPr id="41" name="TextBox 40"/>
          <p:cNvSpPr txBox="1"/>
          <p:nvPr/>
        </p:nvSpPr>
        <p:spPr>
          <a:xfrm>
            <a:off x="7100316" y="4215384"/>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15:30</a:t>
            </a:r>
          </a:p>
        </p:txBody>
      </p:sp>
      <p:sp>
        <p:nvSpPr>
          <p:cNvPr id="42" name="TextBox 41"/>
          <p:cNvSpPr txBox="1"/>
          <p:nvPr/>
        </p:nvSpPr>
        <p:spPr>
          <a:xfrm>
            <a:off x="7100316" y="4617720"/>
            <a:ext cx="4238244" cy="278892"/>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16:30 · Topic 6 integration and deployment</a:t>
            </a:r>
          </a:p>
        </p:txBody>
      </p:sp>
      <p:sp>
        <p:nvSpPr>
          <p:cNvPr id="43" name="Rounded Rectangle 42"/>
          <p:cNvSpPr/>
          <p:nvPr/>
        </p:nvSpPr>
        <p:spPr>
          <a:xfrm>
            <a:off x="713232" y="5207508"/>
            <a:ext cx="5289804" cy="9372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13232" y="5207508"/>
            <a:ext cx="73152" cy="93726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914400" y="5408676"/>
            <a:ext cx="475488" cy="475488"/>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4400" y="5463540"/>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7</a:t>
            </a:r>
          </a:p>
        </p:txBody>
      </p:sp>
      <p:sp>
        <p:nvSpPr>
          <p:cNvPr id="47" name="TextBox 46"/>
          <p:cNvSpPr txBox="1"/>
          <p:nvPr/>
        </p:nvSpPr>
        <p:spPr>
          <a:xfrm>
            <a:off x="1554480" y="5372100"/>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16:30</a:t>
            </a:r>
          </a:p>
        </p:txBody>
      </p:sp>
      <p:sp>
        <p:nvSpPr>
          <p:cNvPr id="48" name="TextBox 47"/>
          <p:cNvSpPr txBox="1"/>
          <p:nvPr/>
        </p:nvSpPr>
        <p:spPr>
          <a:xfrm>
            <a:off x="1554480" y="5774436"/>
            <a:ext cx="4238244" cy="278892"/>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17:45 · Labs 11-12 capstone</a:t>
            </a:r>
          </a:p>
        </p:txBody>
      </p:sp>
      <p:sp>
        <p:nvSpPr>
          <p:cNvPr id="49" name="Rounded Rectangle 48"/>
          <p:cNvSpPr/>
          <p:nvPr/>
        </p:nvSpPr>
        <p:spPr>
          <a:xfrm>
            <a:off x="6259068" y="5207508"/>
            <a:ext cx="5289804" cy="9372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259068" y="5207508"/>
            <a:ext cx="73152"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6460236" y="5408676"/>
            <a:ext cx="475488" cy="47548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60236" y="5463540"/>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8</a:t>
            </a:r>
          </a:p>
        </p:txBody>
      </p:sp>
      <p:sp>
        <p:nvSpPr>
          <p:cNvPr id="53" name="TextBox 52"/>
          <p:cNvSpPr txBox="1"/>
          <p:nvPr/>
        </p:nvSpPr>
        <p:spPr>
          <a:xfrm>
            <a:off x="7100316" y="5372100"/>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17:45</a:t>
            </a:r>
          </a:p>
        </p:txBody>
      </p:sp>
      <p:sp>
        <p:nvSpPr>
          <p:cNvPr id="54" name="TextBox 53"/>
          <p:cNvSpPr txBox="1"/>
          <p:nvPr/>
        </p:nvSpPr>
        <p:spPr>
          <a:xfrm>
            <a:off x="7100316" y="5774436"/>
            <a:ext cx="4238244" cy="278892"/>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18:00 · Review, TRAQOM and assessment briefing</a:t>
            </a:r>
          </a:p>
        </p:txBody>
      </p:sp>
      <p:sp>
        <p:nvSpPr>
          <p:cNvPr id="55" name="TextBox 54"/>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56" name="TextBox 55"/>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57" name="TextBox 56"/>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18</a:t>
            </a:r>
          </a:p>
        </p:txBody>
      </p:sp>
    </p:spTree>
  </p:cSld>
  <p:transition spd="fast">
    <p:fade/>
  </p:transition>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COURSE MATERIAL</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Download Course Material</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55648"/>
            <a:ext cx="7315200" cy="4251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55648"/>
            <a:ext cx="7315200" cy="47548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32688" y="1901952"/>
            <a:ext cx="128016" cy="128016"/>
          </a:xfrm>
          <a:prstGeom prst="round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88720" y="1901952"/>
            <a:ext cx="128016" cy="12801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444752" y="1901952"/>
            <a:ext cx="128016" cy="12801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54480" y="1865376"/>
            <a:ext cx="5943600" cy="201168"/>
          </a:xfrm>
          <a:prstGeom prst="rect">
            <a:avLst/>
          </a:prstGeom>
          <a:noFill/>
        </p:spPr>
        <p:txBody>
          <a:bodyPr wrap="square" anchor="t" lIns="36576" rIns="36576" tIns="36576" bIns="36576">
            <a:spAutoFit/>
          </a:bodyPr>
          <a:lstStyle/>
          <a:p>
            <a:pPr algn="l">
              <a:spcAft>
                <a:spcPts val="0"/>
              </a:spcAft>
            </a:pPr>
            <a:r>
              <a:rPr sz="1000" b="0">
                <a:solidFill>
                  <a:srgbClr val="FFFFFF"/>
                </a:solidFill>
                <a:latin typeface="Arial"/>
              </a:rPr>
              <a:t>lms-tms.tertiaryinfotech.com</a:t>
            </a:r>
          </a:p>
        </p:txBody>
      </p:sp>
      <p:sp>
        <p:nvSpPr>
          <p:cNvPr id="13" name="TextBox 12"/>
          <p:cNvSpPr txBox="1"/>
          <p:nvPr/>
        </p:nvSpPr>
        <p:spPr>
          <a:xfrm>
            <a:off x="1024128" y="2514600"/>
            <a:ext cx="1920240" cy="292608"/>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MY COURSES</a:t>
            </a:r>
          </a:p>
        </p:txBody>
      </p:sp>
      <p:sp>
        <p:nvSpPr>
          <p:cNvPr id="14" name="TextBox 13"/>
          <p:cNvSpPr txBox="1"/>
          <p:nvPr/>
        </p:nvSpPr>
        <p:spPr>
          <a:xfrm>
            <a:off x="1024128" y="2953512"/>
            <a:ext cx="6126480" cy="475488"/>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Create RESTful APIs and Web Apps with Python Flask</a:t>
            </a:r>
          </a:p>
        </p:txBody>
      </p:sp>
      <p:sp>
        <p:nvSpPr>
          <p:cNvPr id="15" name="Rounded Rectangle 14"/>
          <p:cNvSpPr/>
          <p:nvPr/>
        </p:nvSpPr>
        <p:spPr>
          <a:xfrm>
            <a:off x="1024128" y="3703320"/>
            <a:ext cx="6309360" cy="4572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61872" y="3813048"/>
            <a:ext cx="4114800" cy="219456"/>
          </a:xfrm>
          <a:prstGeom prst="rect">
            <a:avLst/>
          </a:prstGeom>
          <a:noFill/>
        </p:spPr>
        <p:txBody>
          <a:bodyPr wrap="square" anchor="t" lIns="36576" rIns="36576" tIns="36576" bIns="36576">
            <a:spAutoFit/>
          </a:bodyPr>
          <a:lstStyle/>
          <a:p>
            <a:pPr algn="l">
              <a:spcAft>
                <a:spcPts val="0"/>
              </a:spcAft>
            </a:pPr>
            <a:r>
              <a:rPr sz="1150" b="0">
                <a:solidFill>
                  <a:srgbClr val="172433"/>
                </a:solidFill>
                <a:latin typeface="Arial"/>
              </a:rPr>
              <a:t>Learner slides (PDF)</a:t>
            </a:r>
          </a:p>
        </p:txBody>
      </p:sp>
      <p:sp>
        <p:nvSpPr>
          <p:cNvPr id="17" name="Rounded Rectangle 16"/>
          <p:cNvSpPr/>
          <p:nvPr/>
        </p:nvSpPr>
        <p:spPr>
          <a:xfrm>
            <a:off x="6236208" y="3776472"/>
            <a:ext cx="841248" cy="3108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36208" y="3840480"/>
            <a:ext cx="841248" cy="164592"/>
          </a:xfrm>
          <a:prstGeom prst="rect">
            <a:avLst/>
          </a:prstGeom>
          <a:noFill/>
        </p:spPr>
        <p:txBody>
          <a:bodyPr wrap="square" anchor="t" lIns="36576" rIns="36576" tIns="36576" bIns="36576">
            <a:spAutoFit/>
          </a:bodyPr>
          <a:lstStyle/>
          <a:p>
            <a:pPr algn="ctr">
              <a:spcAft>
                <a:spcPts val="0"/>
              </a:spcAft>
            </a:pPr>
            <a:r>
              <a:rPr sz="900" b="1">
                <a:solidFill>
                  <a:srgbClr val="FFFFFF"/>
                </a:solidFill>
                <a:latin typeface="Arial"/>
              </a:rPr>
              <a:t>OPEN</a:t>
            </a:r>
          </a:p>
        </p:txBody>
      </p:sp>
      <p:sp>
        <p:nvSpPr>
          <p:cNvPr id="19" name="Rounded Rectangle 18"/>
          <p:cNvSpPr/>
          <p:nvPr/>
        </p:nvSpPr>
        <p:spPr>
          <a:xfrm>
            <a:off x="1024128" y="4306824"/>
            <a:ext cx="6309360" cy="4572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61872" y="4416552"/>
            <a:ext cx="4114800" cy="219456"/>
          </a:xfrm>
          <a:prstGeom prst="rect">
            <a:avLst/>
          </a:prstGeom>
          <a:noFill/>
        </p:spPr>
        <p:txBody>
          <a:bodyPr wrap="square" anchor="t" lIns="36576" rIns="36576" tIns="36576" bIns="36576">
            <a:spAutoFit/>
          </a:bodyPr>
          <a:lstStyle/>
          <a:p>
            <a:pPr algn="l">
              <a:spcAft>
                <a:spcPts val="0"/>
              </a:spcAft>
            </a:pPr>
            <a:r>
              <a:rPr sz="1150" b="0">
                <a:solidFill>
                  <a:srgbClr val="172433"/>
                </a:solidFill>
                <a:latin typeface="Arial"/>
              </a:rPr>
              <a:t>Learner Guide (PDF)</a:t>
            </a:r>
          </a:p>
        </p:txBody>
      </p:sp>
      <p:sp>
        <p:nvSpPr>
          <p:cNvPr id="21" name="Rounded Rectangle 20"/>
          <p:cNvSpPr/>
          <p:nvPr/>
        </p:nvSpPr>
        <p:spPr>
          <a:xfrm>
            <a:off x="6236208" y="4379976"/>
            <a:ext cx="841248" cy="3108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36208" y="4443984"/>
            <a:ext cx="841248" cy="164592"/>
          </a:xfrm>
          <a:prstGeom prst="rect">
            <a:avLst/>
          </a:prstGeom>
          <a:noFill/>
        </p:spPr>
        <p:txBody>
          <a:bodyPr wrap="square" anchor="t" lIns="36576" rIns="36576" tIns="36576" bIns="36576">
            <a:spAutoFit/>
          </a:bodyPr>
          <a:lstStyle/>
          <a:p>
            <a:pPr algn="ctr">
              <a:spcAft>
                <a:spcPts val="0"/>
              </a:spcAft>
            </a:pPr>
            <a:r>
              <a:rPr sz="900" b="1">
                <a:solidFill>
                  <a:srgbClr val="FFFFFF"/>
                </a:solidFill>
                <a:latin typeface="Arial"/>
              </a:rPr>
              <a:t>OPEN</a:t>
            </a:r>
          </a:p>
        </p:txBody>
      </p:sp>
      <p:sp>
        <p:nvSpPr>
          <p:cNvPr id="23" name="Rounded Rectangle 22"/>
          <p:cNvSpPr/>
          <p:nvPr/>
        </p:nvSpPr>
        <p:spPr>
          <a:xfrm>
            <a:off x="1024128" y="4910328"/>
            <a:ext cx="6309360" cy="4572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61872" y="5020056"/>
            <a:ext cx="4114800" cy="219456"/>
          </a:xfrm>
          <a:prstGeom prst="rect">
            <a:avLst/>
          </a:prstGeom>
          <a:noFill/>
        </p:spPr>
        <p:txBody>
          <a:bodyPr wrap="square" anchor="t" lIns="36576" rIns="36576" tIns="36576" bIns="36576">
            <a:spAutoFit/>
          </a:bodyPr>
          <a:lstStyle/>
          <a:p>
            <a:pPr algn="l">
              <a:spcAft>
                <a:spcPts val="0"/>
              </a:spcAft>
            </a:pPr>
            <a:r>
              <a:rPr sz="1150" b="0">
                <a:solidFill>
                  <a:srgbClr val="172433"/>
                </a:solidFill>
                <a:latin typeface="Arial"/>
              </a:rPr>
              <a:t>Labs and demo files</a:t>
            </a:r>
          </a:p>
        </p:txBody>
      </p:sp>
      <p:sp>
        <p:nvSpPr>
          <p:cNvPr id="25" name="Rounded Rectangle 24"/>
          <p:cNvSpPr/>
          <p:nvPr/>
        </p:nvSpPr>
        <p:spPr>
          <a:xfrm>
            <a:off x="6236208" y="4983480"/>
            <a:ext cx="841248" cy="31089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36208" y="5047488"/>
            <a:ext cx="841248" cy="164592"/>
          </a:xfrm>
          <a:prstGeom prst="rect">
            <a:avLst/>
          </a:prstGeom>
          <a:noFill/>
        </p:spPr>
        <p:txBody>
          <a:bodyPr wrap="square" anchor="t" lIns="36576" rIns="36576" tIns="36576" bIns="36576">
            <a:spAutoFit/>
          </a:bodyPr>
          <a:lstStyle/>
          <a:p>
            <a:pPr algn="ctr">
              <a:spcAft>
                <a:spcPts val="0"/>
              </a:spcAft>
            </a:pPr>
            <a:r>
              <a:rPr sz="900" b="1">
                <a:solidFill>
                  <a:srgbClr val="FFFFFF"/>
                </a:solidFill>
                <a:latin typeface="Arial"/>
              </a:rPr>
              <a:t>OPEN</a:t>
            </a:r>
          </a:p>
        </p:txBody>
      </p:sp>
      <p:sp>
        <p:nvSpPr>
          <p:cNvPr id="27" name="Rounded Rectangle 26"/>
          <p:cNvSpPr/>
          <p:nvPr/>
        </p:nvSpPr>
        <p:spPr>
          <a:xfrm>
            <a:off x="8339327" y="2148840"/>
            <a:ext cx="3163824" cy="3383280"/>
          </a:xfrm>
          <a:prstGeom prst="roundRect">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68512" y="2468880"/>
            <a:ext cx="2560320" cy="475488"/>
          </a:xfrm>
          <a:prstGeom prst="rect">
            <a:avLst/>
          </a:prstGeom>
          <a:noFill/>
        </p:spPr>
        <p:txBody>
          <a:bodyPr wrap="square" anchor="t" lIns="36576" rIns="36576" tIns="36576" bIns="36576">
            <a:spAutoFit/>
          </a:bodyPr>
          <a:lstStyle/>
          <a:p>
            <a:pPr algn="l">
              <a:spcAft>
                <a:spcPts val="0"/>
              </a:spcAft>
            </a:pPr>
            <a:r>
              <a:rPr sz="1400" b="1">
                <a:solidFill>
                  <a:srgbClr val="10B981"/>
                </a:solidFill>
                <a:latin typeface="Arial"/>
              </a:rPr>
              <a:t>Learner evidence</a:t>
            </a:r>
          </a:p>
        </p:txBody>
      </p:sp>
      <p:sp>
        <p:nvSpPr>
          <p:cNvPr id="29" name="TextBox 28"/>
          <p:cNvSpPr txBox="1"/>
          <p:nvPr/>
        </p:nvSpPr>
        <p:spPr>
          <a:xfrm>
            <a:off x="8668512" y="3154680"/>
            <a:ext cx="2514600" cy="1737360"/>
          </a:xfrm>
          <a:prstGeom prst="rect">
            <a:avLst/>
          </a:prstGeom>
          <a:noFill/>
        </p:spPr>
        <p:txBody>
          <a:bodyPr wrap="square" anchor="t" lIns="36576" rIns="36576" tIns="36576" bIns="36576">
            <a:spAutoFit/>
          </a:bodyPr>
          <a:lstStyle/>
          <a:p>
            <a:pPr algn="l">
              <a:spcAft>
                <a:spcPts val="0"/>
              </a:spcAft>
            </a:pPr>
            <a:r>
              <a:rPr sz="1600" b="0">
                <a:solidFill>
                  <a:srgbClr val="172433"/>
                </a:solidFill>
                <a:latin typeface="Arial"/>
              </a:rPr>
              <a:t>Confirm the current version, then download the PDF guide and Labs folder before class starts.</a:t>
            </a:r>
          </a:p>
        </p:txBody>
      </p:sp>
      <p:sp>
        <p:nvSpPr>
          <p:cNvPr id="30" name="TextBox 2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1" name="TextBox 3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2" name="TextBox 31"/>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19</a:t>
            </a:r>
          </a:p>
        </p:txBody>
      </p:sp>
    </p:spTree>
  </p:cSld>
  <p:transition spd="fast">
    <p:fade/>
  </p:transition>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BEFORE ASSESSMENT</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Assessment Briefing</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37360"/>
            <a:ext cx="5289804" cy="132283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37360"/>
            <a:ext cx="73152" cy="132283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938528"/>
            <a:ext cx="475488" cy="475488"/>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993392"/>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1</a:t>
            </a:r>
          </a:p>
        </p:txBody>
      </p:sp>
      <p:sp>
        <p:nvSpPr>
          <p:cNvPr id="11" name="TextBox 10"/>
          <p:cNvSpPr txBox="1"/>
          <p:nvPr/>
        </p:nvSpPr>
        <p:spPr>
          <a:xfrm>
            <a:off x="1554480" y="1901952"/>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Format</a:t>
            </a:r>
          </a:p>
        </p:txBody>
      </p:sp>
      <p:sp>
        <p:nvSpPr>
          <p:cNvPr id="12" name="TextBox 11"/>
          <p:cNvSpPr txBox="1"/>
          <p:nvPr/>
        </p:nvSpPr>
        <p:spPr>
          <a:xfrm>
            <a:off x="1554480" y="2304288"/>
            <a:ext cx="4238244" cy="664464"/>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Open book; individual work only.</a:t>
            </a:r>
          </a:p>
        </p:txBody>
      </p:sp>
      <p:sp>
        <p:nvSpPr>
          <p:cNvPr id="13" name="Rounded Rectangle 12"/>
          <p:cNvSpPr/>
          <p:nvPr/>
        </p:nvSpPr>
        <p:spPr>
          <a:xfrm>
            <a:off x="6259068" y="1737360"/>
            <a:ext cx="5289804" cy="132283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59068" y="1737360"/>
            <a:ext cx="73152" cy="132283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60236" y="1938528"/>
            <a:ext cx="475488" cy="475488"/>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0236" y="1993392"/>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2</a:t>
            </a:r>
          </a:p>
        </p:txBody>
      </p:sp>
      <p:sp>
        <p:nvSpPr>
          <p:cNvPr id="17" name="TextBox 16"/>
          <p:cNvSpPr txBox="1"/>
          <p:nvPr/>
        </p:nvSpPr>
        <p:spPr>
          <a:xfrm>
            <a:off x="7100316" y="1901952"/>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WA</a:t>
            </a:r>
          </a:p>
        </p:txBody>
      </p:sp>
      <p:sp>
        <p:nvSpPr>
          <p:cNvPr id="18" name="TextBox 17"/>
          <p:cNvSpPr txBox="1"/>
          <p:nvPr/>
        </p:nvSpPr>
        <p:spPr>
          <a:xfrm>
            <a:off x="7100316" y="2304288"/>
            <a:ext cx="4238244" cy="664464"/>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10 open-ended questions · 60 minutes.</a:t>
            </a:r>
          </a:p>
        </p:txBody>
      </p:sp>
      <p:sp>
        <p:nvSpPr>
          <p:cNvPr id="19" name="Rounded Rectangle 18"/>
          <p:cNvSpPr/>
          <p:nvPr/>
        </p:nvSpPr>
        <p:spPr>
          <a:xfrm>
            <a:off x="713232" y="3279648"/>
            <a:ext cx="5289804" cy="132283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13232" y="3279648"/>
            <a:ext cx="73152"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4400" y="3480816"/>
            <a:ext cx="475488" cy="47548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3535680"/>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3</a:t>
            </a:r>
          </a:p>
        </p:txBody>
      </p:sp>
      <p:sp>
        <p:nvSpPr>
          <p:cNvPr id="23" name="TextBox 22"/>
          <p:cNvSpPr txBox="1"/>
          <p:nvPr/>
        </p:nvSpPr>
        <p:spPr>
          <a:xfrm>
            <a:off x="1554480" y="3444240"/>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PP</a:t>
            </a:r>
          </a:p>
        </p:txBody>
      </p:sp>
      <p:sp>
        <p:nvSpPr>
          <p:cNvPr id="24" name="TextBox 23"/>
          <p:cNvSpPr txBox="1"/>
          <p:nvPr/>
        </p:nvSpPr>
        <p:spPr>
          <a:xfrm>
            <a:off x="1554480" y="3846576"/>
            <a:ext cx="4238244" cy="664464"/>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6 practical tasks · 90 minutes.</a:t>
            </a:r>
          </a:p>
        </p:txBody>
      </p:sp>
      <p:sp>
        <p:nvSpPr>
          <p:cNvPr id="25" name="Rounded Rectangle 24"/>
          <p:cNvSpPr/>
          <p:nvPr/>
        </p:nvSpPr>
        <p:spPr>
          <a:xfrm>
            <a:off x="6259068" y="3279648"/>
            <a:ext cx="5289804" cy="132283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59068" y="3279648"/>
            <a:ext cx="73152" cy="1322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460236" y="3480816"/>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60236" y="3535680"/>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4</a:t>
            </a:r>
          </a:p>
        </p:txBody>
      </p:sp>
      <p:sp>
        <p:nvSpPr>
          <p:cNvPr id="29" name="TextBox 28"/>
          <p:cNvSpPr txBox="1"/>
          <p:nvPr/>
        </p:nvSpPr>
        <p:spPr>
          <a:xfrm>
            <a:off x="7100316" y="3444240"/>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Materials</a:t>
            </a:r>
          </a:p>
        </p:txBody>
      </p:sp>
      <p:sp>
        <p:nvSpPr>
          <p:cNvPr id="30" name="TextBox 29"/>
          <p:cNvSpPr txBox="1"/>
          <p:nvPr/>
        </p:nvSpPr>
        <p:spPr>
          <a:xfrm>
            <a:off x="7100316" y="3846576"/>
            <a:ext cx="4238244" cy="664464"/>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Slides, Learner Guide and approved lab files.</a:t>
            </a:r>
          </a:p>
        </p:txBody>
      </p:sp>
      <p:sp>
        <p:nvSpPr>
          <p:cNvPr id="31" name="Rounded Rectangle 30"/>
          <p:cNvSpPr/>
          <p:nvPr/>
        </p:nvSpPr>
        <p:spPr>
          <a:xfrm>
            <a:off x="713232" y="4821936"/>
            <a:ext cx="5289804" cy="132283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13232" y="4821936"/>
            <a:ext cx="73152" cy="1322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14400" y="5023104"/>
            <a:ext cx="475488" cy="475488"/>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5077968"/>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5</a:t>
            </a:r>
          </a:p>
        </p:txBody>
      </p:sp>
      <p:sp>
        <p:nvSpPr>
          <p:cNvPr id="35" name="TextBox 34"/>
          <p:cNvSpPr txBox="1"/>
          <p:nvPr/>
        </p:nvSpPr>
        <p:spPr>
          <a:xfrm>
            <a:off x="1554480" y="4986528"/>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Conduct</a:t>
            </a:r>
          </a:p>
        </p:txBody>
      </p:sp>
      <p:sp>
        <p:nvSpPr>
          <p:cNvPr id="36" name="TextBox 35"/>
          <p:cNvSpPr txBox="1"/>
          <p:nvPr/>
        </p:nvSpPr>
        <p:spPr>
          <a:xfrm>
            <a:off x="1554480" y="5388864"/>
            <a:ext cx="4238244" cy="664464"/>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No discussion, photos or recording of scripts.</a:t>
            </a:r>
          </a:p>
        </p:txBody>
      </p:sp>
      <p:sp>
        <p:nvSpPr>
          <p:cNvPr id="37" name="Rounded Rectangle 36"/>
          <p:cNvSpPr/>
          <p:nvPr/>
        </p:nvSpPr>
        <p:spPr>
          <a:xfrm>
            <a:off x="6259068" y="4821936"/>
            <a:ext cx="5289804" cy="132283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259068" y="4821936"/>
            <a:ext cx="73152" cy="132283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460236" y="5023104"/>
            <a:ext cx="475488" cy="475488"/>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60236" y="5077968"/>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6</a:t>
            </a:r>
          </a:p>
        </p:txBody>
      </p:sp>
      <p:sp>
        <p:nvSpPr>
          <p:cNvPr id="41" name="TextBox 40"/>
          <p:cNvSpPr txBox="1"/>
          <p:nvPr/>
        </p:nvSpPr>
        <p:spPr>
          <a:xfrm>
            <a:off x="7100316" y="4986528"/>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Submission</a:t>
            </a:r>
          </a:p>
        </p:txBody>
      </p:sp>
      <p:sp>
        <p:nvSpPr>
          <p:cNvPr id="42" name="TextBox 41"/>
          <p:cNvSpPr txBox="1"/>
          <p:nvPr/>
        </p:nvSpPr>
        <p:spPr>
          <a:xfrm>
            <a:off x="7100316" y="5388864"/>
            <a:ext cx="4238244" cy="664464"/>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Use the LMS-TMS upload route named in the paper.</a:t>
            </a:r>
          </a:p>
        </p:txBody>
      </p:sp>
      <p:sp>
        <p:nvSpPr>
          <p:cNvPr id="43" name="TextBox 4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44" name="TextBox 4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45" name="TextBox 44"/>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20</a:t>
            </a:r>
          </a:p>
        </p:txBody>
      </p:sp>
    </p:spTree>
  </p:cSld>
  <p:transition spd="fast">
    <p:fade/>
  </p:transition>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ASSESSMENT</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Assessment Flow</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2057400"/>
            <a:ext cx="1984248" cy="324612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76172" y="2395728"/>
            <a:ext cx="658368" cy="65836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6172" y="2560320"/>
            <a:ext cx="658368" cy="292608"/>
          </a:xfrm>
          <a:prstGeom prst="rect">
            <a:avLst/>
          </a:prstGeom>
          <a:noFill/>
        </p:spPr>
        <p:txBody>
          <a:bodyPr wrap="square" anchor="t" lIns="36576" rIns="36576" tIns="36576" bIns="36576">
            <a:spAutoFit/>
          </a:bodyPr>
          <a:lstStyle/>
          <a:p>
            <a:pPr algn="ctr">
              <a:spcAft>
                <a:spcPts val="0"/>
              </a:spcAft>
            </a:pPr>
            <a:r>
              <a:rPr sz="1800" b="1">
                <a:solidFill>
                  <a:srgbClr val="FFFFFF"/>
                </a:solidFill>
                <a:latin typeface="Arial"/>
              </a:rPr>
              <a:t>1</a:t>
            </a:r>
          </a:p>
        </p:txBody>
      </p:sp>
      <p:sp>
        <p:nvSpPr>
          <p:cNvPr id="10" name="TextBox 9"/>
          <p:cNvSpPr txBox="1"/>
          <p:nvPr/>
        </p:nvSpPr>
        <p:spPr>
          <a:xfrm>
            <a:off x="822960" y="3310128"/>
            <a:ext cx="1764792" cy="1417320"/>
          </a:xfrm>
          <a:prstGeom prst="rect">
            <a:avLst/>
          </a:prstGeom>
          <a:noFill/>
        </p:spPr>
        <p:txBody>
          <a:bodyPr wrap="square" anchor="ctr" lIns="36576" rIns="36576" tIns="36576" bIns="36576">
            <a:spAutoFit/>
          </a:bodyPr>
          <a:lstStyle/>
          <a:p>
            <a:pPr algn="ctr">
              <a:spcAft>
                <a:spcPts val="0"/>
              </a:spcAft>
            </a:pPr>
            <a:r>
              <a:rPr sz="1300" b="0">
                <a:solidFill>
                  <a:srgbClr val="172433"/>
                </a:solidFill>
                <a:latin typeface="Arial"/>
              </a:rPr>
              <a:t>Briefing and attendance</a:t>
            </a:r>
          </a:p>
        </p:txBody>
      </p:sp>
      <p:cxnSp>
        <p:nvCxnSpPr>
          <p:cNvPr id="11" name="Connector 10"/>
          <p:cNvCxnSpPr/>
          <p:nvPr/>
        </p:nvCxnSpPr>
        <p:spPr>
          <a:xfrm>
            <a:off x="2697480" y="3657600"/>
            <a:ext cx="228600"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926080" y="2057400"/>
            <a:ext cx="1984248" cy="324612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89020" y="2395728"/>
            <a:ext cx="658368" cy="65836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89020" y="2560320"/>
            <a:ext cx="658368" cy="292608"/>
          </a:xfrm>
          <a:prstGeom prst="rect">
            <a:avLst/>
          </a:prstGeom>
          <a:noFill/>
        </p:spPr>
        <p:txBody>
          <a:bodyPr wrap="square" anchor="t" lIns="36576" rIns="36576" tIns="36576" bIns="36576">
            <a:spAutoFit/>
          </a:bodyPr>
          <a:lstStyle/>
          <a:p>
            <a:pPr algn="ctr">
              <a:spcAft>
                <a:spcPts val="0"/>
              </a:spcAft>
            </a:pPr>
            <a:r>
              <a:rPr sz="1800" b="1">
                <a:solidFill>
                  <a:srgbClr val="FFFFFF"/>
                </a:solidFill>
                <a:latin typeface="Arial"/>
              </a:rPr>
              <a:t>2</a:t>
            </a:r>
          </a:p>
        </p:txBody>
      </p:sp>
      <p:sp>
        <p:nvSpPr>
          <p:cNvPr id="15" name="TextBox 14"/>
          <p:cNvSpPr txBox="1"/>
          <p:nvPr/>
        </p:nvSpPr>
        <p:spPr>
          <a:xfrm>
            <a:off x="3035808" y="3310128"/>
            <a:ext cx="1764792" cy="1417320"/>
          </a:xfrm>
          <a:prstGeom prst="rect">
            <a:avLst/>
          </a:prstGeom>
          <a:noFill/>
        </p:spPr>
        <p:txBody>
          <a:bodyPr wrap="square" anchor="ctr" lIns="36576" rIns="36576" tIns="36576" bIns="36576">
            <a:spAutoFit/>
          </a:bodyPr>
          <a:lstStyle/>
          <a:p>
            <a:pPr algn="ctr">
              <a:spcAft>
                <a:spcPts val="0"/>
              </a:spcAft>
            </a:pPr>
            <a:r>
              <a:rPr sz="1300" b="0">
                <a:solidFill>
                  <a:srgbClr val="172433"/>
                </a:solidFill>
                <a:latin typeface="Arial"/>
              </a:rPr>
              <a:t>WA (SAQ)</a:t>
            </a:r>
          </a:p>
        </p:txBody>
      </p:sp>
      <p:cxnSp>
        <p:nvCxnSpPr>
          <p:cNvPr id="16" name="Connector 15"/>
          <p:cNvCxnSpPr/>
          <p:nvPr/>
        </p:nvCxnSpPr>
        <p:spPr>
          <a:xfrm>
            <a:off x="4910328" y="3657600"/>
            <a:ext cx="228600"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38928" y="2057400"/>
            <a:ext cx="1984248" cy="324612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801868" y="2395728"/>
            <a:ext cx="658368" cy="65836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01868" y="2560320"/>
            <a:ext cx="658368" cy="292608"/>
          </a:xfrm>
          <a:prstGeom prst="rect">
            <a:avLst/>
          </a:prstGeom>
          <a:noFill/>
        </p:spPr>
        <p:txBody>
          <a:bodyPr wrap="square" anchor="t" lIns="36576" rIns="36576" tIns="36576" bIns="36576">
            <a:spAutoFit/>
          </a:bodyPr>
          <a:lstStyle/>
          <a:p>
            <a:pPr algn="ctr">
              <a:spcAft>
                <a:spcPts val="0"/>
              </a:spcAft>
            </a:pPr>
            <a:r>
              <a:rPr sz="1800" b="1">
                <a:solidFill>
                  <a:srgbClr val="FFFFFF"/>
                </a:solidFill>
                <a:latin typeface="Arial"/>
              </a:rPr>
              <a:t>3</a:t>
            </a:r>
          </a:p>
        </p:txBody>
      </p:sp>
      <p:sp>
        <p:nvSpPr>
          <p:cNvPr id="20" name="TextBox 19"/>
          <p:cNvSpPr txBox="1"/>
          <p:nvPr/>
        </p:nvSpPr>
        <p:spPr>
          <a:xfrm>
            <a:off x="5248656" y="3310128"/>
            <a:ext cx="1764792" cy="1417320"/>
          </a:xfrm>
          <a:prstGeom prst="rect">
            <a:avLst/>
          </a:prstGeom>
          <a:noFill/>
        </p:spPr>
        <p:txBody>
          <a:bodyPr wrap="square" anchor="ctr" lIns="36576" rIns="36576" tIns="36576" bIns="36576">
            <a:spAutoFit/>
          </a:bodyPr>
          <a:lstStyle/>
          <a:p>
            <a:pPr algn="ctr">
              <a:spcAft>
                <a:spcPts val="0"/>
              </a:spcAft>
            </a:pPr>
            <a:r>
              <a:rPr sz="1300" b="0">
                <a:solidFill>
                  <a:srgbClr val="172433"/>
                </a:solidFill>
                <a:latin typeface="Arial"/>
              </a:rPr>
              <a:t>Practical Performance</a:t>
            </a:r>
          </a:p>
        </p:txBody>
      </p:sp>
      <p:cxnSp>
        <p:nvCxnSpPr>
          <p:cNvPr id="21" name="Connector 20"/>
          <p:cNvCxnSpPr/>
          <p:nvPr/>
        </p:nvCxnSpPr>
        <p:spPr>
          <a:xfrm>
            <a:off x="7123176" y="3657600"/>
            <a:ext cx="228600"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351776" y="2057400"/>
            <a:ext cx="1984248" cy="324612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14716" y="2395728"/>
            <a:ext cx="658368" cy="65836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14716" y="2560320"/>
            <a:ext cx="658368" cy="292608"/>
          </a:xfrm>
          <a:prstGeom prst="rect">
            <a:avLst/>
          </a:prstGeom>
          <a:noFill/>
        </p:spPr>
        <p:txBody>
          <a:bodyPr wrap="square" anchor="t" lIns="36576" rIns="36576" tIns="36576" bIns="36576">
            <a:spAutoFit/>
          </a:bodyPr>
          <a:lstStyle/>
          <a:p>
            <a:pPr algn="ctr">
              <a:spcAft>
                <a:spcPts val="0"/>
              </a:spcAft>
            </a:pPr>
            <a:r>
              <a:rPr sz="1800" b="1">
                <a:solidFill>
                  <a:srgbClr val="FFFFFF"/>
                </a:solidFill>
                <a:latin typeface="Arial"/>
              </a:rPr>
              <a:t>4</a:t>
            </a:r>
          </a:p>
        </p:txBody>
      </p:sp>
      <p:sp>
        <p:nvSpPr>
          <p:cNvPr id="25" name="TextBox 24"/>
          <p:cNvSpPr txBox="1"/>
          <p:nvPr/>
        </p:nvSpPr>
        <p:spPr>
          <a:xfrm>
            <a:off x="7461504" y="3310128"/>
            <a:ext cx="1764792" cy="1417320"/>
          </a:xfrm>
          <a:prstGeom prst="rect">
            <a:avLst/>
          </a:prstGeom>
          <a:noFill/>
        </p:spPr>
        <p:txBody>
          <a:bodyPr wrap="square" anchor="ctr" lIns="36576" rIns="36576" tIns="36576" bIns="36576">
            <a:spAutoFit/>
          </a:bodyPr>
          <a:lstStyle/>
          <a:p>
            <a:pPr algn="ctr">
              <a:spcAft>
                <a:spcPts val="0"/>
              </a:spcAft>
            </a:pPr>
            <a:r>
              <a:rPr sz="1300" b="0">
                <a:solidFill>
                  <a:srgbClr val="172433"/>
                </a:solidFill>
                <a:latin typeface="Arial"/>
              </a:rPr>
              <a:t>Upload evidence</a:t>
            </a:r>
          </a:p>
        </p:txBody>
      </p:sp>
      <p:cxnSp>
        <p:nvCxnSpPr>
          <p:cNvPr id="26" name="Connector 25"/>
          <p:cNvCxnSpPr/>
          <p:nvPr/>
        </p:nvCxnSpPr>
        <p:spPr>
          <a:xfrm>
            <a:off x="9336024" y="3657600"/>
            <a:ext cx="228600"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564624" y="2057400"/>
            <a:ext cx="1984248" cy="324612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227564" y="2395728"/>
            <a:ext cx="658368" cy="65836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27564" y="2560320"/>
            <a:ext cx="658368" cy="292608"/>
          </a:xfrm>
          <a:prstGeom prst="rect">
            <a:avLst/>
          </a:prstGeom>
          <a:noFill/>
        </p:spPr>
        <p:txBody>
          <a:bodyPr wrap="square" anchor="t" lIns="36576" rIns="36576" tIns="36576" bIns="36576">
            <a:spAutoFit/>
          </a:bodyPr>
          <a:lstStyle/>
          <a:p>
            <a:pPr algn="ctr">
              <a:spcAft>
                <a:spcPts val="0"/>
              </a:spcAft>
            </a:pPr>
            <a:r>
              <a:rPr sz="1800" b="1">
                <a:solidFill>
                  <a:srgbClr val="FFFFFF"/>
                </a:solidFill>
                <a:latin typeface="Arial"/>
              </a:rPr>
              <a:t>5</a:t>
            </a:r>
          </a:p>
        </p:txBody>
      </p:sp>
      <p:sp>
        <p:nvSpPr>
          <p:cNvPr id="30" name="TextBox 29"/>
          <p:cNvSpPr txBox="1"/>
          <p:nvPr/>
        </p:nvSpPr>
        <p:spPr>
          <a:xfrm>
            <a:off x="9674352" y="3310128"/>
            <a:ext cx="1764792" cy="1417320"/>
          </a:xfrm>
          <a:prstGeom prst="rect">
            <a:avLst/>
          </a:prstGeom>
          <a:noFill/>
        </p:spPr>
        <p:txBody>
          <a:bodyPr wrap="square" anchor="ctr" lIns="36576" rIns="36576" tIns="36576" bIns="36576">
            <a:spAutoFit/>
          </a:bodyPr>
          <a:lstStyle/>
          <a:p>
            <a:pPr algn="ctr">
              <a:spcAft>
                <a:spcPts val="0"/>
              </a:spcAft>
            </a:pPr>
            <a:r>
              <a:rPr sz="1300" b="0">
                <a:solidFill>
                  <a:srgbClr val="172433"/>
                </a:solidFill>
                <a:latin typeface="Arial"/>
              </a:rPr>
              <a:t>Decision and sign-off</a:t>
            </a:r>
          </a:p>
        </p:txBody>
      </p:sp>
      <p:sp>
        <p:nvSpPr>
          <p:cNvPr id="31" name="TextBox 30"/>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2" name="TextBox 31"/>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3" name="TextBox 3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21</a:t>
            </a:r>
          </a:p>
        </p:txBody>
      </p:sp>
    </p:spTree>
  </p:cSld>
  <p:transition spd="fast">
    <p:fade/>
  </p:transition>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hero-v1.png"/>
          <p:cNvPicPr>
            <a:picLocks noChangeAspect="1"/>
          </p:cNvPicPr>
          <p:nvPr/>
        </p:nvPicPr>
        <p:blipFill>
          <a:blip r:embed="rId2"/>
          <a:stretch>
            <a:fillRect/>
          </a:stretch>
        </p:blipFill>
        <p:spPr>
          <a:xfrm>
            <a:off x="6812280" y="0"/>
            <a:ext cx="5376672" cy="6858000"/>
          </a:xfrm>
          <a:prstGeom prst="rect">
            <a:avLst/>
          </a:prstGeom>
        </p:spPr>
      </p:pic>
      <p:sp>
        <p:nvSpPr>
          <p:cNvPr id="4" name="Rectangle 3"/>
          <p:cNvSpPr/>
          <p:nvPr/>
        </p:nvSpPr>
        <p:spPr>
          <a:xfrm>
            <a:off x="6812280" y="0"/>
            <a:ext cx="5376672"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024128"/>
            <a:ext cx="5212080" cy="274320"/>
          </a:xfrm>
          <a:prstGeom prst="rect">
            <a:avLst/>
          </a:prstGeom>
          <a:noFill/>
        </p:spPr>
        <p:txBody>
          <a:bodyPr wrap="square" anchor="t" lIns="36576" rIns="36576" tIns="36576" bIns="36576">
            <a:spAutoFit/>
          </a:bodyPr>
          <a:lstStyle/>
          <a:p>
            <a:pPr algn="l">
              <a:spcAft>
                <a:spcPts val="0"/>
              </a:spcAft>
            </a:pPr>
            <a:r>
              <a:rPr sz="1200" b="1">
                <a:solidFill>
                  <a:srgbClr val="06B6D4"/>
                </a:solidFill>
                <a:latin typeface="Arial"/>
              </a:rPr>
              <a:t>TOPIC 01</a:t>
            </a:r>
          </a:p>
        </p:txBody>
      </p:sp>
      <p:sp>
        <p:nvSpPr>
          <p:cNvPr id="6" name="TextBox 5"/>
          <p:cNvSpPr txBox="1"/>
          <p:nvPr/>
        </p:nvSpPr>
        <p:spPr>
          <a:xfrm>
            <a:off x="777240" y="1481328"/>
            <a:ext cx="5943600" cy="1874519"/>
          </a:xfrm>
          <a:prstGeom prst="rect">
            <a:avLst/>
          </a:prstGeom>
          <a:noFill/>
        </p:spPr>
        <p:txBody>
          <a:bodyPr wrap="square" anchor="t" lIns="36576" rIns="36576" tIns="36576" bIns="36576">
            <a:spAutoFit/>
          </a:bodyPr>
          <a:lstStyle/>
          <a:p>
            <a:pPr algn="l">
              <a:spcAft>
                <a:spcPts val="0"/>
              </a:spcAft>
            </a:pPr>
            <a:r>
              <a:rPr sz="3400" b="1">
                <a:solidFill>
                  <a:srgbClr val="FFFFFF"/>
                </a:solidFill>
                <a:latin typeface="Arial"/>
              </a:rPr>
              <a:t>REST API Fundamentals and AI Vibe Coding</a:t>
            </a:r>
          </a:p>
        </p:txBody>
      </p:sp>
      <p:sp>
        <p:nvSpPr>
          <p:cNvPr id="7" name="TextBox 6"/>
          <p:cNvSpPr txBox="1"/>
          <p:nvPr/>
        </p:nvSpPr>
        <p:spPr>
          <a:xfrm>
            <a:off x="804672" y="3822191"/>
            <a:ext cx="5623560" cy="749808"/>
          </a:xfrm>
          <a:prstGeom prst="rect">
            <a:avLst/>
          </a:prstGeom>
          <a:noFill/>
        </p:spPr>
        <p:txBody>
          <a:bodyPr wrap="square" anchor="t" lIns="36576" rIns="36576" tIns="36576" bIns="36576">
            <a:spAutoFit/>
          </a:bodyPr>
          <a:lstStyle/>
          <a:p>
            <a:pPr algn="l">
              <a:spcAft>
                <a:spcPts val="0"/>
              </a:spcAft>
            </a:pPr>
            <a:r>
              <a:rPr sz="1600" b="0">
                <a:solidFill>
                  <a:srgbClr val="CBD5E1"/>
                </a:solidFill>
                <a:latin typeface="Arial"/>
              </a:rPr>
              <a:t>Contracts · resources · HTTP semantics · OpenAI Python SDK · prompt-to-test workflow</a:t>
            </a:r>
          </a:p>
        </p:txBody>
      </p:sp>
      <p:sp>
        <p:nvSpPr>
          <p:cNvPr id="8" name="TextBox 7"/>
          <p:cNvSpPr txBox="1"/>
          <p:nvPr/>
        </p:nvSpPr>
        <p:spPr>
          <a:xfrm>
            <a:off x="731520" y="5074920"/>
            <a:ext cx="2194560" cy="822960"/>
          </a:xfrm>
          <a:prstGeom prst="rect">
            <a:avLst/>
          </a:prstGeom>
          <a:noFill/>
        </p:spPr>
        <p:txBody>
          <a:bodyPr wrap="square" anchor="t" lIns="36576" rIns="36576" tIns="36576" bIns="36576">
            <a:spAutoFit/>
          </a:bodyPr>
          <a:lstStyle/>
          <a:p>
            <a:pPr algn="l">
              <a:spcAft>
                <a:spcPts val="0"/>
              </a:spcAft>
            </a:pPr>
            <a:r>
              <a:rPr sz="6400" b="1">
                <a:solidFill>
                  <a:srgbClr val="06B6D4"/>
                </a:solidFill>
                <a:latin typeface="Arial"/>
              </a:rPr>
              <a:t>01</a:t>
            </a:r>
          </a:p>
        </p:txBody>
      </p:sp>
      <p:sp>
        <p:nvSpPr>
          <p:cNvPr id="9" name="TextBox 8"/>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0" name="TextBox 9"/>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1" name="TextBox 10"/>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22</a:t>
            </a:r>
          </a:p>
        </p:txBody>
      </p:sp>
    </p:spTree>
  </p:cSld>
  <p:transition spd="med">
    <p:push/>
  </p:transition>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TOPIC 01 · ARCH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The API contract is the product boundary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A request crosses a boundary; the contract makes method, path, data and outcomes explicit.</a:t>
            </a:r>
          </a:p>
        </p:txBody>
      </p:sp>
      <p:sp>
        <p:nvSpPr>
          <p:cNvPr id="8" name="Rounded Rectangle 7"/>
          <p:cNvSpPr/>
          <p:nvPr/>
        </p:nvSpPr>
        <p:spPr>
          <a:xfrm>
            <a:off x="749808" y="2487168"/>
            <a:ext cx="2548890"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768221" y="2724912"/>
            <a:ext cx="512064"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68221"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1</a:t>
            </a:r>
          </a:p>
        </p:txBody>
      </p:sp>
      <p:sp>
        <p:nvSpPr>
          <p:cNvPr id="11" name="TextBox 10"/>
          <p:cNvSpPr txBox="1"/>
          <p:nvPr/>
        </p:nvSpPr>
        <p:spPr>
          <a:xfrm>
            <a:off x="822960" y="3502152"/>
            <a:ext cx="2402586"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Client owns intent</a:t>
            </a:r>
          </a:p>
        </p:txBody>
      </p:sp>
      <p:cxnSp>
        <p:nvCxnSpPr>
          <p:cNvPr id="12" name="Connector 11"/>
          <p:cNvCxnSpPr/>
          <p:nvPr/>
        </p:nvCxnSpPr>
        <p:spPr>
          <a:xfrm>
            <a:off x="3298698" y="3520440"/>
            <a:ext cx="146304" cy="0"/>
          </a:xfrm>
          <a:prstGeom prst="line">
            <a:avLst/>
          </a:prstGeom>
          <a:ln>
            <a:solidFill>
              <a:srgbClr val="2563EB"/>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445002" y="2487168"/>
            <a:ext cx="2548890"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463415" y="2724912"/>
            <a:ext cx="512064"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63415"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2</a:t>
            </a:r>
          </a:p>
        </p:txBody>
      </p:sp>
      <p:sp>
        <p:nvSpPr>
          <p:cNvPr id="16" name="TextBox 15"/>
          <p:cNvSpPr txBox="1"/>
          <p:nvPr/>
        </p:nvSpPr>
        <p:spPr>
          <a:xfrm>
            <a:off x="3518154" y="3502152"/>
            <a:ext cx="2402586"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Route owns transport</a:t>
            </a:r>
          </a:p>
        </p:txBody>
      </p:sp>
      <p:cxnSp>
        <p:nvCxnSpPr>
          <p:cNvPr id="17" name="Connector 16"/>
          <p:cNvCxnSpPr/>
          <p:nvPr/>
        </p:nvCxnSpPr>
        <p:spPr>
          <a:xfrm>
            <a:off x="5993892" y="3520440"/>
            <a:ext cx="146304" cy="0"/>
          </a:xfrm>
          <a:prstGeom prst="line">
            <a:avLst/>
          </a:prstGeom>
          <a:ln>
            <a:solidFill>
              <a:srgbClr val="2563EB"/>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140196" y="2487168"/>
            <a:ext cx="2548890"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158609" y="2724912"/>
            <a:ext cx="512064"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58609"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3</a:t>
            </a:r>
          </a:p>
        </p:txBody>
      </p:sp>
      <p:sp>
        <p:nvSpPr>
          <p:cNvPr id="21" name="TextBox 20"/>
          <p:cNvSpPr txBox="1"/>
          <p:nvPr/>
        </p:nvSpPr>
        <p:spPr>
          <a:xfrm>
            <a:off x="6213348" y="3502152"/>
            <a:ext cx="2402586"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Service owns business rules</a:t>
            </a:r>
          </a:p>
        </p:txBody>
      </p:sp>
      <p:cxnSp>
        <p:nvCxnSpPr>
          <p:cNvPr id="22" name="Connector 21"/>
          <p:cNvCxnSpPr/>
          <p:nvPr/>
        </p:nvCxnSpPr>
        <p:spPr>
          <a:xfrm>
            <a:off x="8689086" y="3520440"/>
            <a:ext cx="146304" cy="0"/>
          </a:xfrm>
          <a:prstGeom prst="line">
            <a:avLst/>
          </a:prstGeom>
          <a:ln>
            <a:solidFill>
              <a:srgbClr val="2563EB"/>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835390" y="2487168"/>
            <a:ext cx="2548890"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853803" y="2724912"/>
            <a:ext cx="512064"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53803"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4</a:t>
            </a:r>
          </a:p>
        </p:txBody>
      </p:sp>
      <p:sp>
        <p:nvSpPr>
          <p:cNvPr id="26" name="TextBox 25"/>
          <p:cNvSpPr txBox="1"/>
          <p:nvPr/>
        </p:nvSpPr>
        <p:spPr>
          <a:xfrm>
            <a:off x="8908542" y="3502152"/>
            <a:ext cx="2402586"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Repository owns persisted state</a:t>
            </a:r>
          </a:p>
        </p:txBody>
      </p:sp>
      <p:sp>
        <p:nvSpPr>
          <p:cNvPr id="27" name="Rounded Rectangle 26"/>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29" name="TextBox 28"/>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GET /api/v1/products?status=open → 200 + JSON array</a:t>
            </a:r>
          </a:p>
        </p:txBody>
      </p:sp>
      <p:sp>
        <p:nvSpPr>
          <p:cNvPr id="30" name="Rounded Rectangle 29"/>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32" name="TextBox 31"/>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A prompt that says only ‘build an API’ leaves every contract decision implicit.</a:t>
            </a:r>
          </a:p>
        </p:txBody>
      </p:sp>
      <p:sp>
        <p:nvSpPr>
          <p:cNvPr id="33" name="Rounded Rectangle 32"/>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35" name="TextBox 34"/>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A reviewer can predict the request and response without reading implementation code.</a:t>
            </a:r>
          </a:p>
        </p:txBody>
      </p:sp>
      <p:sp>
        <p:nvSpPr>
          <p:cNvPr id="36" name="TextBox 3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7" name="TextBox 3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8" name="TextBox 37"/>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FastAPI Tutorial</a:t>
            </a:r>
          </a:p>
        </p:txBody>
      </p:sp>
      <p:sp>
        <p:nvSpPr>
          <p:cNvPr id="39" name="TextBox 3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23</a:t>
            </a:r>
          </a:p>
        </p:txBody>
      </p:sp>
    </p:spTree>
  </p:cSld>
  <p:transition spd="fast">
    <p:fade/>
  </p:transition>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TOPIC 01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The API contract is the product boundary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Client owns intent</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A request crosses a boundary; the contract makes method, path, data and outcomes explicit.</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A prompt that says only ‘build an API’ leaves every contract decision implicit.</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A reviewer can predict the request and response without reading implementation code.</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GET /api/v1/products?status=open → 200 + JSON array</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FastAPI Tutorial</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24</a:t>
            </a:r>
          </a:p>
        </p:txBody>
      </p:sp>
    </p:spTree>
  </p:cSld>
  <p:transition spd="fast">
    <p:fade/>
  </p:transition>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TOPIC 01 · MODEL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Model resources before routes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Use nouns for resources and HTTP methods for operations.</a:t>
            </a:r>
          </a:p>
        </p:txBody>
      </p:sp>
      <p:sp>
        <p:nvSpPr>
          <p:cNvPr id="8" name="Rounded Rectangle 7"/>
          <p:cNvSpPr/>
          <p:nvPr/>
        </p:nvSpPr>
        <p:spPr>
          <a:xfrm>
            <a:off x="749808"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50976" y="2596896"/>
            <a:ext cx="502920" cy="50292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1</a:t>
            </a:r>
          </a:p>
        </p:txBody>
      </p:sp>
      <p:sp>
        <p:nvSpPr>
          <p:cNvPr id="11" name="TextBox 10"/>
          <p:cNvSpPr txBox="1"/>
          <p:nvPr/>
        </p:nvSpPr>
        <p:spPr>
          <a:xfrm>
            <a:off x="1682496"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Collection: /api/v1/products</a:t>
            </a:r>
          </a:p>
        </p:txBody>
      </p:sp>
      <p:sp>
        <p:nvSpPr>
          <p:cNvPr id="12" name="Rounded Rectangle 11"/>
          <p:cNvSpPr/>
          <p:nvPr/>
        </p:nvSpPr>
        <p:spPr>
          <a:xfrm>
            <a:off x="6172200"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73368" y="2596896"/>
            <a:ext cx="502920" cy="502920"/>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2</a:t>
            </a:r>
          </a:p>
        </p:txBody>
      </p:sp>
      <p:sp>
        <p:nvSpPr>
          <p:cNvPr id="15" name="TextBox 14"/>
          <p:cNvSpPr txBox="1"/>
          <p:nvPr/>
        </p:nvSpPr>
        <p:spPr>
          <a:xfrm>
            <a:off x="7104888"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Member: /api/v1/products/{product_id}</a:t>
            </a:r>
          </a:p>
        </p:txBody>
      </p:sp>
      <p:sp>
        <p:nvSpPr>
          <p:cNvPr id="16" name="Rounded Rectangle 15"/>
          <p:cNvSpPr/>
          <p:nvPr/>
        </p:nvSpPr>
        <p:spPr>
          <a:xfrm>
            <a:off x="749808" y="3639311"/>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50976" y="3904487"/>
            <a:ext cx="502920" cy="50292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0976" y="4032503"/>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3</a:t>
            </a:r>
          </a:p>
        </p:txBody>
      </p:sp>
      <p:sp>
        <p:nvSpPr>
          <p:cNvPr id="19" name="TextBox 18"/>
          <p:cNvSpPr txBox="1"/>
          <p:nvPr/>
        </p:nvSpPr>
        <p:spPr>
          <a:xfrm>
            <a:off x="1682496" y="3840479"/>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Filter: ?status=open</a:t>
            </a:r>
          </a:p>
        </p:txBody>
      </p:sp>
      <p:sp>
        <p:nvSpPr>
          <p:cNvPr id="20" name="Rounded Rectangle 19"/>
          <p:cNvSpPr/>
          <p:nvPr/>
        </p:nvSpPr>
        <p:spPr>
          <a:xfrm>
            <a:off x="6172200" y="3639311"/>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73368" y="3904487"/>
            <a:ext cx="502920" cy="50292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3368" y="4032503"/>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4</a:t>
            </a:r>
          </a:p>
        </p:txBody>
      </p:sp>
      <p:sp>
        <p:nvSpPr>
          <p:cNvPr id="23" name="TextBox 22"/>
          <p:cNvSpPr txBox="1"/>
          <p:nvPr/>
        </p:nvSpPr>
        <p:spPr>
          <a:xfrm>
            <a:off x="7104888" y="3840479"/>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Avoid verbs such as /getProducts</a:t>
            </a:r>
          </a:p>
        </p:txBody>
      </p:sp>
      <p:sp>
        <p:nvSpPr>
          <p:cNvPr id="24" name="Rounded Rectangle 23"/>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26" name="TextBox 25"/>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Resource map: Product {id,sku,name,price,stock_quantity,status}</a:t>
            </a:r>
          </a:p>
        </p:txBody>
      </p:sp>
      <p:sp>
        <p:nvSpPr>
          <p:cNvPr id="27" name="Rounded Rectangle 26"/>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29" name="TextBox 28"/>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Action-style URLs multiply and weaken predictable semantics.</a:t>
            </a:r>
          </a:p>
        </p:txBody>
      </p:sp>
      <p:sp>
        <p:nvSpPr>
          <p:cNvPr id="30" name="Rounded Rectangle 29"/>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32" name="TextBox 31"/>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Every route maps to one resource state transition.</a:t>
            </a:r>
          </a:p>
        </p:txBody>
      </p:sp>
      <p:sp>
        <p:nvSpPr>
          <p:cNvPr id="33" name="TextBox 3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4" name="TextBox 3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5" name="TextBox 34"/>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FastAPI First Steps</a:t>
            </a:r>
          </a:p>
        </p:txBody>
      </p:sp>
      <p:sp>
        <p:nvSpPr>
          <p:cNvPr id="36" name="TextBox 35"/>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25</a:t>
            </a:r>
          </a:p>
        </p:txBody>
      </p:sp>
    </p:spTree>
  </p:cSld>
  <p:transition spd="fast">
    <p:fade/>
  </p:transition>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TOPIC 01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Model resources before routes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Collection: /api/v1/products</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Use nouns for resources and HTTP methods for operations.</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Action-style URLs multiply and weaken predictable semantics.</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Every route maps to one resource state transition.</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Resource map: Product {id,sku,name,price,stock_quantity,status}</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FastAPI First Steps</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26</a:t>
            </a:r>
          </a:p>
        </p:txBody>
      </p:sp>
    </p:spTree>
  </p:cSld>
  <p:transition spd="fast">
    <p:fade/>
  </p:transition>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TOPIC 01 · TABLE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HTTP methods encode intent</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GET reads, POST creates, PUT replaces, PATCH changes part, DELETE removes.</a:t>
            </a:r>
          </a:p>
        </p:txBody>
      </p:sp>
      <p:sp>
        <p:nvSpPr>
          <p:cNvPr id="8" name="Rounded Rectangle 7"/>
          <p:cNvSpPr/>
          <p:nvPr/>
        </p:nvSpPr>
        <p:spPr>
          <a:xfrm>
            <a:off x="749808"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50976" y="2596896"/>
            <a:ext cx="502920" cy="50292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1</a:t>
            </a:r>
          </a:p>
        </p:txBody>
      </p:sp>
      <p:sp>
        <p:nvSpPr>
          <p:cNvPr id="11" name="TextBox 10"/>
          <p:cNvSpPr txBox="1"/>
          <p:nvPr/>
        </p:nvSpPr>
        <p:spPr>
          <a:xfrm>
            <a:off x="1682496"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GET is safe</a:t>
            </a:r>
          </a:p>
        </p:txBody>
      </p:sp>
      <p:sp>
        <p:nvSpPr>
          <p:cNvPr id="12" name="Rounded Rectangle 11"/>
          <p:cNvSpPr/>
          <p:nvPr/>
        </p:nvSpPr>
        <p:spPr>
          <a:xfrm>
            <a:off x="6172200"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73368" y="2596896"/>
            <a:ext cx="502920" cy="502920"/>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2</a:t>
            </a:r>
          </a:p>
        </p:txBody>
      </p:sp>
      <p:sp>
        <p:nvSpPr>
          <p:cNvPr id="15" name="TextBox 14"/>
          <p:cNvSpPr txBox="1"/>
          <p:nvPr/>
        </p:nvSpPr>
        <p:spPr>
          <a:xfrm>
            <a:off x="7104888"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PUT is idempotent</a:t>
            </a:r>
          </a:p>
        </p:txBody>
      </p:sp>
      <p:sp>
        <p:nvSpPr>
          <p:cNvPr id="16" name="Rounded Rectangle 15"/>
          <p:cNvSpPr/>
          <p:nvPr/>
        </p:nvSpPr>
        <p:spPr>
          <a:xfrm>
            <a:off x="749808" y="3639311"/>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50976" y="3904487"/>
            <a:ext cx="502920" cy="50292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0976" y="4032503"/>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3</a:t>
            </a:r>
          </a:p>
        </p:txBody>
      </p:sp>
      <p:sp>
        <p:nvSpPr>
          <p:cNvPr id="19" name="TextBox 18"/>
          <p:cNvSpPr txBox="1"/>
          <p:nvPr/>
        </p:nvSpPr>
        <p:spPr>
          <a:xfrm>
            <a:off x="1682496" y="3840479"/>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POST is normally non-idempotent</a:t>
            </a:r>
          </a:p>
        </p:txBody>
      </p:sp>
      <p:sp>
        <p:nvSpPr>
          <p:cNvPr id="20" name="Rounded Rectangle 19"/>
          <p:cNvSpPr/>
          <p:nvPr/>
        </p:nvSpPr>
        <p:spPr>
          <a:xfrm>
            <a:off x="6172200" y="3639311"/>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73368" y="3904487"/>
            <a:ext cx="502920" cy="50292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3368" y="4032503"/>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4</a:t>
            </a:r>
          </a:p>
        </p:txBody>
      </p:sp>
      <p:sp>
        <p:nvSpPr>
          <p:cNvPr id="23" name="TextBox 22"/>
          <p:cNvSpPr txBox="1"/>
          <p:nvPr/>
        </p:nvSpPr>
        <p:spPr>
          <a:xfrm>
            <a:off x="7104888" y="3840479"/>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PATCH needs an explicit partial-update rule</a:t>
            </a:r>
          </a:p>
        </p:txBody>
      </p:sp>
      <p:sp>
        <p:nvSpPr>
          <p:cNvPr id="24" name="Rounded Rectangle 23"/>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26" name="TextBox 25"/>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Method × state-change matrix</a:t>
            </a:r>
          </a:p>
        </p:txBody>
      </p:sp>
      <p:sp>
        <p:nvSpPr>
          <p:cNvPr id="27" name="Rounded Rectangle 26"/>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29" name="TextBox 28"/>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Using POST for every action hides semantics from clients and tools.</a:t>
            </a:r>
          </a:p>
        </p:txBody>
      </p:sp>
      <p:sp>
        <p:nvSpPr>
          <p:cNvPr id="30" name="Rounded Rectangle 29"/>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32" name="TextBox 31"/>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Repeat an idempotent request and confirm the resulting state is unchanged.</a:t>
            </a:r>
          </a:p>
        </p:txBody>
      </p:sp>
      <p:sp>
        <p:nvSpPr>
          <p:cNvPr id="33" name="TextBox 3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4" name="TextBox 3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5" name="TextBox 34"/>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FastAPI Tutorial</a:t>
            </a:r>
          </a:p>
        </p:txBody>
      </p:sp>
      <p:sp>
        <p:nvSpPr>
          <p:cNvPr id="36" name="TextBox 35"/>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27</a:t>
            </a:r>
          </a:p>
        </p:txBody>
      </p:sp>
    </p:spTree>
  </p:cSld>
  <p:transition spd="fast">
    <p:fade/>
  </p:transition>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TOPIC 01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HTTP methods encode intent</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GET is safe</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GET reads, POST creates, PUT replaces, PATCH changes part, DELETE removes.</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Using POST for every action hides semantics from clients and tools.</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Repeat an idempotent request and confirm the resulting state is unchanged.</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Method × state-change matrix</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FastAPI Tutorial</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28</a:t>
            </a:r>
          </a:p>
        </p:txBody>
      </p:sp>
    </p:spTree>
  </p:cSld>
  <p:transition spd="fast">
    <p:fade/>
  </p:transition>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TOPIC 01 · CHART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Status codes are machine-readable outcomes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Status codes separate transport outcome from response detail.</a:t>
            </a:r>
          </a:p>
        </p:txBody>
      </p:sp>
      <p:graphicFrame>
        <p:nvGraphicFramePr>
          <p:cNvPr id="8" name="Chart 7"/>
          <p:cNvGraphicFramePr>
            <a:graphicFrameLocks noGrp="1"/>
          </p:cNvGraphicFramePr>
          <p:nvPr/>
        </p:nvGraphicFramePr>
        <p:xfrm>
          <a:off x="749808" y="2340864"/>
          <a:ext cx="6492240" cy="2697480"/>
        </p:xfrm>
        <a:graphic>
          <a:graphicData uri="http://schemas.openxmlformats.org/drawingml/2006/chart">
            <c:chart xmlns:c="http://schemas.openxmlformats.org/drawingml/2006/chart" r:id="rId2"/>
          </a:graphicData>
        </a:graphic>
      </p:graphicFrame>
      <p:sp>
        <p:nvSpPr>
          <p:cNvPr id="9" name="Rounded Rectangle 8"/>
          <p:cNvSpPr/>
          <p:nvPr/>
        </p:nvSpPr>
        <p:spPr>
          <a:xfrm>
            <a:off x="7543800" y="2340864"/>
            <a:ext cx="3840480" cy="26974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18120" y="2578608"/>
            <a:ext cx="3246120" cy="365760"/>
          </a:xfrm>
          <a:prstGeom prst="rect">
            <a:avLst/>
          </a:prstGeom>
          <a:noFill/>
        </p:spPr>
        <p:txBody>
          <a:bodyPr wrap="square" anchor="t" lIns="36576" rIns="36576" tIns="36576" bIns="36576">
            <a:spAutoFit/>
          </a:bodyPr>
          <a:lstStyle/>
          <a:p>
            <a:pPr algn="l">
              <a:spcAft>
                <a:spcPts val="0"/>
              </a:spcAft>
            </a:pPr>
            <a:r>
              <a:rPr sz="1150" b="1">
                <a:solidFill>
                  <a:srgbClr val="172433"/>
                </a:solidFill>
                <a:latin typeface="Arial"/>
              </a:rPr>
              <a:t>01  2xx success</a:t>
            </a:r>
          </a:p>
        </p:txBody>
      </p:sp>
      <p:sp>
        <p:nvSpPr>
          <p:cNvPr id="11" name="TextBox 10"/>
          <p:cNvSpPr txBox="1"/>
          <p:nvPr/>
        </p:nvSpPr>
        <p:spPr>
          <a:xfrm>
            <a:off x="7818120" y="3090672"/>
            <a:ext cx="3246120" cy="365760"/>
          </a:xfrm>
          <a:prstGeom prst="rect">
            <a:avLst/>
          </a:prstGeom>
          <a:noFill/>
        </p:spPr>
        <p:txBody>
          <a:bodyPr wrap="square" anchor="t" lIns="36576" rIns="36576" tIns="36576" bIns="36576">
            <a:spAutoFit/>
          </a:bodyPr>
          <a:lstStyle/>
          <a:p>
            <a:pPr algn="l">
              <a:spcAft>
                <a:spcPts val="0"/>
              </a:spcAft>
            </a:pPr>
            <a:r>
              <a:rPr sz="1150" b="0">
                <a:solidFill>
                  <a:srgbClr val="172433"/>
                </a:solidFill>
                <a:latin typeface="Arial"/>
              </a:rPr>
              <a:t>02  4xx client correction</a:t>
            </a:r>
          </a:p>
        </p:txBody>
      </p:sp>
      <p:sp>
        <p:nvSpPr>
          <p:cNvPr id="12" name="TextBox 11"/>
          <p:cNvSpPr txBox="1"/>
          <p:nvPr/>
        </p:nvSpPr>
        <p:spPr>
          <a:xfrm>
            <a:off x="7818120" y="3602736"/>
            <a:ext cx="3246120" cy="365760"/>
          </a:xfrm>
          <a:prstGeom prst="rect">
            <a:avLst/>
          </a:prstGeom>
          <a:noFill/>
        </p:spPr>
        <p:txBody>
          <a:bodyPr wrap="square" anchor="t" lIns="36576" rIns="36576" tIns="36576" bIns="36576">
            <a:spAutoFit/>
          </a:bodyPr>
          <a:lstStyle/>
          <a:p>
            <a:pPr algn="l">
              <a:spcAft>
                <a:spcPts val="0"/>
              </a:spcAft>
            </a:pPr>
            <a:r>
              <a:rPr sz="1150" b="0">
                <a:solidFill>
                  <a:srgbClr val="172433"/>
                </a:solidFill>
                <a:latin typeface="Arial"/>
              </a:rPr>
              <a:t>03  5xx server investigation</a:t>
            </a:r>
          </a:p>
        </p:txBody>
      </p:sp>
      <p:sp>
        <p:nvSpPr>
          <p:cNvPr id="13" name="TextBox 12"/>
          <p:cNvSpPr txBox="1"/>
          <p:nvPr/>
        </p:nvSpPr>
        <p:spPr>
          <a:xfrm>
            <a:off x="7818120" y="4114800"/>
            <a:ext cx="3246120" cy="365760"/>
          </a:xfrm>
          <a:prstGeom prst="rect">
            <a:avLst/>
          </a:prstGeom>
          <a:noFill/>
        </p:spPr>
        <p:txBody>
          <a:bodyPr wrap="square" anchor="t" lIns="36576" rIns="36576" tIns="36576" bIns="36576">
            <a:spAutoFit/>
          </a:bodyPr>
          <a:lstStyle/>
          <a:p>
            <a:pPr algn="l">
              <a:spcAft>
                <a:spcPts val="0"/>
              </a:spcAft>
            </a:pPr>
            <a:r>
              <a:rPr sz="1150" b="0">
                <a:solidFill>
                  <a:srgbClr val="172433"/>
                </a:solidFill>
                <a:latin typeface="Arial"/>
              </a:rPr>
              <a:t>04  Body carries actionable detail</a:t>
            </a:r>
          </a:p>
        </p:txBody>
      </p:sp>
      <p:sp>
        <p:nvSpPr>
          <p:cNvPr id="14" name="Rounded Rectangle 13"/>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16" name="TextBox 15"/>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Response distribution from a 100-request test run</a:t>
            </a:r>
          </a:p>
        </p:txBody>
      </p:sp>
      <p:sp>
        <p:nvSpPr>
          <p:cNvPr id="17" name="Rounded Rectangle 16"/>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19" name="TextBox 18"/>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Returning 200 for failures breaks monitoring and client control flow.</a:t>
            </a:r>
          </a:p>
        </p:txBody>
      </p:sp>
      <p:sp>
        <p:nvSpPr>
          <p:cNvPr id="20" name="Rounded Rectangle 19"/>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22" name="TextBox 21"/>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Success, validation, missing-resource and conflict paths each assert a specific code.</a:t>
            </a:r>
          </a:p>
        </p:txBody>
      </p:sp>
      <p:sp>
        <p:nvSpPr>
          <p:cNvPr id="23" name="TextBox 2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4" name="TextBox 2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5" name="TextBox 24"/>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FastAPI First Steps</a:t>
            </a:r>
          </a:p>
        </p:txBody>
      </p:sp>
      <p:sp>
        <p:nvSpPr>
          <p:cNvPr id="26" name="TextBox 25"/>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29</a:t>
            </a:r>
          </a:p>
        </p:txBody>
      </p:sp>
    </p:spTree>
  </p:cSld>
  <p:transition spd="fast">
    <p:fade/>
  </p:transition>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TOPIC 01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Status codes are machine-readable outcomes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2xx success</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Status codes separate transport outcome from response detail.</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Returning 200 for failures breaks monitoring and client control flow.</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Success, validation, missing-resource and conflict paths each assert a specific code.</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Response distribution from a 100-request test run</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FastAPI First Steps</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30</a:t>
            </a:r>
          </a:p>
        </p:txBody>
      </p:sp>
    </p:spTree>
  </p:cSld>
  <p:transition spd="fast">
    <p:fade/>
  </p:transition>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TOPIC 01 · CODE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FastAPI turns types into runtime contracts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Python annotations drive parsing, validation, editor help and OpenAPI schemas.</a:t>
            </a:r>
          </a:p>
        </p:txBody>
      </p:sp>
      <p:sp>
        <p:nvSpPr>
          <p:cNvPr id="8" name="Rounded Rectangle 7"/>
          <p:cNvSpPr/>
          <p:nvPr/>
        </p:nvSpPr>
        <p:spPr>
          <a:xfrm>
            <a:off x="749808" y="2331720"/>
            <a:ext cx="6766560" cy="2697480"/>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2615184"/>
            <a:ext cx="6199632" cy="2057400"/>
          </a:xfrm>
          <a:prstGeom prst="rect">
            <a:avLst/>
          </a:prstGeom>
          <a:noFill/>
        </p:spPr>
        <p:txBody>
          <a:bodyPr wrap="square" anchor="t" lIns="36576" rIns="36576" tIns="36576" bIns="36576">
            <a:spAutoFit/>
          </a:bodyPr>
          <a:lstStyle/>
          <a:p>
            <a:pPr algn="l">
              <a:spcAft>
                <a:spcPts val="0"/>
              </a:spcAft>
            </a:pPr>
            <a:r>
              <a:rPr sz="1500" b="0">
                <a:solidFill>
                  <a:srgbClr val="A7F3D0"/>
                </a:solidFill>
                <a:latin typeface="Consolas"/>
              </a:rPr>
              <a:t>@app.get("/api/v1/products/{product_id}")
def read_product(product_id: int) -&gt; ProductRead:
    return service.get(product_id)</a:t>
            </a:r>
          </a:p>
        </p:txBody>
      </p:sp>
      <p:sp>
        <p:nvSpPr>
          <p:cNvPr id="10" name="Rounded Rectangle 9"/>
          <p:cNvSpPr/>
          <p:nvPr/>
        </p:nvSpPr>
        <p:spPr>
          <a:xfrm>
            <a:off x="7799831" y="2331720"/>
            <a:ext cx="3584448" cy="26974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65008" y="2624328"/>
            <a:ext cx="219456" cy="219456"/>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30768" y="2551176"/>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Path values are converted</a:t>
            </a:r>
          </a:p>
        </p:txBody>
      </p:sp>
      <p:sp>
        <p:nvSpPr>
          <p:cNvPr id="13" name="Rounded Rectangle 12"/>
          <p:cNvSpPr/>
          <p:nvPr/>
        </p:nvSpPr>
        <p:spPr>
          <a:xfrm>
            <a:off x="8065008" y="3136392"/>
            <a:ext cx="219456" cy="219456"/>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30768" y="3063240"/>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Pydantic validates bodies</a:t>
            </a:r>
          </a:p>
        </p:txBody>
      </p:sp>
      <p:sp>
        <p:nvSpPr>
          <p:cNvPr id="15" name="Rounded Rectangle 14"/>
          <p:cNvSpPr/>
          <p:nvPr/>
        </p:nvSpPr>
        <p:spPr>
          <a:xfrm>
            <a:off x="8065008" y="3648456"/>
            <a:ext cx="219456" cy="219456"/>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30768" y="3575304"/>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Return types filter responses</a:t>
            </a:r>
          </a:p>
        </p:txBody>
      </p:sp>
      <p:sp>
        <p:nvSpPr>
          <p:cNvPr id="17" name="Rounded Rectangle 16"/>
          <p:cNvSpPr/>
          <p:nvPr/>
        </p:nvSpPr>
        <p:spPr>
          <a:xfrm>
            <a:off x="8065008" y="4160520"/>
            <a:ext cx="219456" cy="219456"/>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30768" y="4087368"/>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OpenAPI is generated</a:t>
            </a:r>
          </a:p>
        </p:txBody>
      </p:sp>
      <p:sp>
        <p:nvSpPr>
          <p:cNvPr id="19" name="Rounded Rectangle 18"/>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21" name="TextBox 20"/>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Typed route → validation → schema</a:t>
            </a:r>
          </a:p>
        </p:txBody>
      </p:sp>
      <p:sp>
        <p:nvSpPr>
          <p:cNvPr id="22" name="Rounded Rectangle 21"/>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24" name="TextBox 23"/>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Untyped dictionaries defer errors until later code paths.</a:t>
            </a:r>
          </a:p>
        </p:txBody>
      </p:sp>
      <p:sp>
        <p:nvSpPr>
          <p:cNvPr id="25" name="Rounded Rectangle 24"/>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27" name="TextBox 26"/>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Send an invalid type and inspect the structured 422 error location.</a:t>
            </a:r>
          </a:p>
        </p:txBody>
      </p:sp>
      <p:sp>
        <p:nvSpPr>
          <p:cNvPr id="28" name="TextBox 27"/>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9" name="TextBox 28"/>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0" name="TextBox 29"/>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Request Body</a:t>
            </a:r>
          </a:p>
        </p:txBody>
      </p:sp>
      <p:sp>
        <p:nvSpPr>
          <p:cNvPr id="31" name="TextBox 30"/>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31</a:t>
            </a:r>
          </a:p>
        </p:txBody>
      </p:sp>
    </p:spTree>
  </p:cSld>
  <p:transition spd="fast">
    <p:fade/>
  </p:transition>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TOPIC 01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FastAPI turns types into runtime contracts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Path values are converted</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Python annotations drive parsing, validation, editor help and OpenAPI schemas.</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Untyped dictionaries defer errors until later code paths.</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Send an invalid type and inspect the structured 422 error location.</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Typed route → validation → schema</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Request Body</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32</a:t>
            </a:r>
          </a:p>
        </p:txBody>
      </p:sp>
    </p:spTree>
  </p:cSld>
  <p:transition spd="fast">
    <p:fade/>
  </p:transition>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TOPIC 01 · FLOW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The ASGI request lifecycle</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Uvicorn accepts the connection, FastAPI resolves the route and dependencies, then serializes the response.</a:t>
            </a:r>
          </a:p>
        </p:txBody>
      </p:sp>
      <p:sp>
        <p:nvSpPr>
          <p:cNvPr id="8" name="Rounded Rectangle 7"/>
          <p:cNvSpPr/>
          <p:nvPr/>
        </p:nvSpPr>
        <p:spPr>
          <a:xfrm>
            <a:off x="749808" y="2487168"/>
            <a:ext cx="1650492"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319022" y="2724912"/>
            <a:ext cx="512064"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19022"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1</a:t>
            </a:r>
          </a:p>
        </p:txBody>
      </p:sp>
      <p:sp>
        <p:nvSpPr>
          <p:cNvPr id="11" name="TextBox 10"/>
          <p:cNvSpPr txBox="1"/>
          <p:nvPr/>
        </p:nvSpPr>
        <p:spPr>
          <a:xfrm>
            <a:off x="822960" y="3502152"/>
            <a:ext cx="1504188"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socket</a:t>
            </a:r>
          </a:p>
        </p:txBody>
      </p:sp>
      <p:cxnSp>
        <p:nvCxnSpPr>
          <p:cNvPr id="12" name="Connector 11"/>
          <p:cNvCxnSpPr/>
          <p:nvPr/>
        </p:nvCxnSpPr>
        <p:spPr>
          <a:xfrm>
            <a:off x="2400300" y="3520440"/>
            <a:ext cx="146304" cy="0"/>
          </a:xfrm>
          <a:prstGeom prst="line">
            <a:avLst/>
          </a:prstGeom>
          <a:ln>
            <a:solidFill>
              <a:srgbClr val="2563EB"/>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46604" y="2487168"/>
            <a:ext cx="1650492"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115818" y="2724912"/>
            <a:ext cx="512064"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15818"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2</a:t>
            </a:r>
          </a:p>
        </p:txBody>
      </p:sp>
      <p:sp>
        <p:nvSpPr>
          <p:cNvPr id="16" name="TextBox 15"/>
          <p:cNvSpPr txBox="1"/>
          <p:nvPr/>
        </p:nvSpPr>
        <p:spPr>
          <a:xfrm>
            <a:off x="2619756" y="3502152"/>
            <a:ext cx="1504188"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middleware</a:t>
            </a:r>
          </a:p>
        </p:txBody>
      </p:sp>
      <p:cxnSp>
        <p:nvCxnSpPr>
          <p:cNvPr id="17" name="Connector 16"/>
          <p:cNvCxnSpPr/>
          <p:nvPr/>
        </p:nvCxnSpPr>
        <p:spPr>
          <a:xfrm>
            <a:off x="4197096" y="3520440"/>
            <a:ext cx="146304" cy="0"/>
          </a:xfrm>
          <a:prstGeom prst="line">
            <a:avLst/>
          </a:prstGeom>
          <a:ln>
            <a:solidFill>
              <a:srgbClr val="2563EB"/>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343400" y="2487168"/>
            <a:ext cx="1650492"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12614" y="2724912"/>
            <a:ext cx="512064"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12614"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3</a:t>
            </a:r>
          </a:p>
        </p:txBody>
      </p:sp>
      <p:sp>
        <p:nvSpPr>
          <p:cNvPr id="21" name="TextBox 20"/>
          <p:cNvSpPr txBox="1"/>
          <p:nvPr/>
        </p:nvSpPr>
        <p:spPr>
          <a:xfrm>
            <a:off x="4416552" y="3502152"/>
            <a:ext cx="1504188"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router</a:t>
            </a:r>
          </a:p>
        </p:txBody>
      </p:sp>
      <p:cxnSp>
        <p:nvCxnSpPr>
          <p:cNvPr id="22" name="Connector 21"/>
          <p:cNvCxnSpPr/>
          <p:nvPr/>
        </p:nvCxnSpPr>
        <p:spPr>
          <a:xfrm>
            <a:off x="5993892" y="3520440"/>
            <a:ext cx="146304" cy="0"/>
          </a:xfrm>
          <a:prstGeom prst="line">
            <a:avLst/>
          </a:prstGeom>
          <a:ln>
            <a:solidFill>
              <a:srgbClr val="2563EB"/>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140196" y="2487168"/>
            <a:ext cx="1650492"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709410" y="2724912"/>
            <a:ext cx="512064"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09410"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4</a:t>
            </a:r>
          </a:p>
        </p:txBody>
      </p:sp>
      <p:sp>
        <p:nvSpPr>
          <p:cNvPr id="26" name="TextBox 25"/>
          <p:cNvSpPr txBox="1"/>
          <p:nvPr/>
        </p:nvSpPr>
        <p:spPr>
          <a:xfrm>
            <a:off x="6213348" y="3502152"/>
            <a:ext cx="1504188"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dependencies</a:t>
            </a:r>
          </a:p>
        </p:txBody>
      </p:sp>
      <p:cxnSp>
        <p:nvCxnSpPr>
          <p:cNvPr id="27" name="Connector 26"/>
          <p:cNvCxnSpPr/>
          <p:nvPr/>
        </p:nvCxnSpPr>
        <p:spPr>
          <a:xfrm>
            <a:off x="7790688" y="3520440"/>
            <a:ext cx="146304" cy="0"/>
          </a:xfrm>
          <a:prstGeom prst="line">
            <a:avLst/>
          </a:prstGeom>
          <a:ln>
            <a:solidFill>
              <a:srgbClr val="2563EB"/>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936992" y="2487168"/>
            <a:ext cx="1650492"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506206" y="2724912"/>
            <a:ext cx="512064"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6206"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5</a:t>
            </a:r>
          </a:p>
        </p:txBody>
      </p:sp>
      <p:sp>
        <p:nvSpPr>
          <p:cNvPr id="31" name="TextBox 30"/>
          <p:cNvSpPr txBox="1"/>
          <p:nvPr/>
        </p:nvSpPr>
        <p:spPr>
          <a:xfrm>
            <a:off x="8010144" y="3502152"/>
            <a:ext cx="1504188"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handler</a:t>
            </a:r>
          </a:p>
        </p:txBody>
      </p:sp>
      <p:cxnSp>
        <p:nvCxnSpPr>
          <p:cNvPr id="32" name="Connector 31"/>
          <p:cNvCxnSpPr/>
          <p:nvPr/>
        </p:nvCxnSpPr>
        <p:spPr>
          <a:xfrm>
            <a:off x="9587484" y="3520440"/>
            <a:ext cx="146304" cy="0"/>
          </a:xfrm>
          <a:prstGeom prst="line">
            <a:avLst/>
          </a:prstGeom>
          <a:ln>
            <a:solidFill>
              <a:srgbClr val="2563EB"/>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9733788" y="2487168"/>
            <a:ext cx="1650492"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0303002" y="2724912"/>
            <a:ext cx="512064"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03002"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6</a:t>
            </a:r>
          </a:p>
        </p:txBody>
      </p:sp>
      <p:sp>
        <p:nvSpPr>
          <p:cNvPr id="36" name="TextBox 35"/>
          <p:cNvSpPr txBox="1"/>
          <p:nvPr/>
        </p:nvSpPr>
        <p:spPr>
          <a:xfrm>
            <a:off x="9806940" y="3502152"/>
            <a:ext cx="1504188"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response model</a:t>
            </a:r>
          </a:p>
        </p:txBody>
      </p:sp>
      <p:sp>
        <p:nvSpPr>
          <p:cNvPr id="37" name="Rounded Rectangle 36"/>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39" name="TextBox 38"/>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Browser → Uvicorn → FastAPI → service → JSON</a:t>
            </a:r>
          </a:p>
        </p:txBody>
      </p:sp>
      <p:sp>
        <p:nvSpPr>
          <p:cNvPr id="40" name="Rounded Rectangle 39"/>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42" name="TextBox 41"/>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Blocking work in an async handler can stall concurrent requests.</a:t>
            </a:r>
          </a:p>
        </p:txBody>
      </p:sp>
      <p:sp>
        <p:nvSpPr>
          <p:cNvPr id="43" name="Rounded Rectangle 42"/>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45" name="TextBox 44"/>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Trace one request using a request ID across access and application logs.</a:t>
            </a:r>
          </a:p>
        </p:txBody>
      </p:sp>
      <p:sp>
        <p:nvSpPr>
          <p:cNvPr id="46" name="TextBox 4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47" name="TextBox 4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48" name="TextBox 47"/>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FastAPI First Steps</a:t>
            </a:r>
          </a:p>
        </p:txBody>
      </p:sp>
      <p:sp>
        <p:nvSpPr>
          <p:cNvPr id="49" name="TextBox 4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33</a:t>
            </a:r>
          </a:p>
        </p:txBody>
      </p:sp>
    </p:spTree>
  </p:cSld>
  <p:transition spd="fast">
    <p:fade/>
  </p:transition>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TOPIC 01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The ASGI request lifecycle</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socket</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Uvicorn accepts the connection, FastAPI resolves the route and dependencies, then serializes the response.</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Blocking work in an async handler can stall concurrent requests.</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Trace one request using a request ID across access and application logs.</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Browser → Uvicorn → FastAPI → service → JSON</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FastAPI First Steps</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34</a:t>
            </a:r>
          </a:p>
        </p:txBody>
      </p:sp>
    </p:spTree>
  </p:cSld>
  <p:transition spd="fast">
    <p:fade/>
  </p:transition>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TOPIC 01 · PROCESS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Vibe coding needs a closed verification loop</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Prompting accelerates drafting; tests and review decide whether generated code is acceptable.</a:t>
            </a:r>
          </a:p>
        </p:txBody>
      </p:sp>
      <p:sp>
        <p:nvSpPr>
          <p:cNvPr id="8" name="Rounded Rectangle 7"/>
          <p:cNvSpPr/>
          <p:nvPr/>
        </p:nvSpPr>
        <p:spPr>
          <a:xfrm>
            <a:off x="749808" y="2487168"/>
            <a:ext cx="1650492"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319022" y="2724912"/>
            <a:ext cx="512064"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19022"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1</a:t>
            </a:r>
          </a:p>
        </p:txBody>
      </p:sp>
      <p:sp>
        <p:nvSpPr>
          <p:cNvPr id="11" name="TextBox 10"/>
          <p:cNvSpPr txBox="1"/>
          <p:nvPr/>
        </p:nvSpPr>
        <p:spPr>
          <a:xfrm>
            <a:off x="822960" y="3502152"/>
            <a:ext cx="1504188"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Specify</a:t>
            </a:r>
          </a:p>
        </p:txBody>
      </p:sp>
      <p:cxnSp>
        <p:nvCxnSpPr>
          <p:cNvPr id="12" name="Connector 11"/>
          <p:cNvCxnSpPr/>
          <p:nvPr/>
        </p:nvCxnSpPr>
        <p:spPr>
          <a:xfrm>
            <a:off x="2400300" y="3520440"/>
            <a:ext cx="146304" cy="0"/>
          </a:xfrm>
          <a:prstGeom prst="line">
            <a:avLst/>
          </a:prstGeom>
          <a:ln>
            <a:solidFill>
              <a:srgbClr val="2563EB"/>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46604" y="2487168"/>
            <a:ext cx="1650492"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115818" y="2724912"/>
            <a:ext cx="512064"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15818"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2</a:t>
            </a:r>
          </a:p>
        </p:txBody>
      </p:sp>
      <p:sp>
        <p:nvSpPr>
          <p:cNvPr id="16" name="TextBox 15"/>
          <p:cNvSpPr txBox="1"/>
          <p:nvPr/>
        </p:nvSpPr>
        <p:spPr>
          <a:xfrm>
            <a:off x="2619756" y="3502152"/>
            <a:ext cx="1504188"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Generate</a:t>
            </a:r>
          </a:p>
        </p:txBody>
      </p:sp>
      <p:cxnSp>
        <p:nvCxnSpPr>
          <p:cNvPr id="17" name="Connector 16"/>
          <p:cNvCxnSpPr/>
          <p:nvPr/>
        </p:nvCxnSpPr>
        <p:spPr>
          <a:xfrm>
            <a:off x="4197096" y="3520440"/>
            <a:ext cx="146304" cy="0"/>
          </a:xfrm>
          <a:prstGeom prst="line">
            <a:avLst/>
          </a:prstGeom>
          <a:ln>
            <a:solidFill>
              <a:srgbClr val="2563EB"/>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343400" y="2487168"/>
            <a:ext cx="1650492"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12614" y="2724912"/>
            <a:ext cx="512064"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12614"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3</a:t>
            </a:r>
          </a:p>
        </p:txBody>
      </p:sp>
      <p:sp>
        <p:nvSpPr>
          <p:cNvPr id="21" name="TextBox 20"/>
          <p:cNvSpPr txBox="1"/>
          <p:nvPr/>
        </p:nvSpPr>
        <p:spPr>
          <a:xfrm>
            <a:off x="4416552" y="3502152"/>
            <a:ext cx="1504188"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Run</a:t>
            </a:r>
          </a:p>
        </p:txBody>
      </p:sp>
      <p:cxnSp>
        <p:nvCxnSpPr>
          <p:cNvPr id="22" name="Connector 21"/>
          <p:cNvCxnSpPr/>
          <p:nvPr/>
        </p:nvCxnSpPr>
        <p:spPr>
          <a:xfrm>
            <a:off x="5993892" y="3520440"/>
            <a:ext cx="146304" cy="0"/>
          </a:xfrm>
          <a:prstGeom prst="line">
            <a:avLst/>
          </a:prstGeom>
          <a:ln>
            <a:solidFill>
              <a:srgbClr val="2563EB"/>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140196" y="2487168"/>
            <a:ext cx="1650492"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709410" y="2724912"/>
            <a:ext cx="512064"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09410"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4</a:t>
            </a:r>
          </a:p>
        </p:txBody>
      </p:sp>
      <p:sp>
        <p:nvSpPr>
          <p:cNvPr id="26" name="TextBox 25"/>
          <p:cNvSpPr txBox="1"/>
          <p:nvPr/>
        </p:nvSpPr>
        <p:spPr>
          <a:xfrm>
            <a:off x="6213348" y="3502152"/>
            <a:ext cx="1504188"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Inspect</a:t>
            </a:r>
          </a:p>
        </p:txBody>
      </p:sp>
      <p:cxnSp>
        <p:nvCxnSpPr>
          <p:cNvPr id="27" name="Connector 26"/>
          <p:cNvCxnSpPr/>
          <p:nvPr/>
        </p:nvCxnSpPr>
        <p:spPr>
          <a:xfrm>
            <a:off x="7790688" y="3520440"/>
            <a:ext cx="146304" cy="0"/>
          </a:xfrm>
          <a:prstGeom prst="line">
            <a:avLst/>
          </a:prstGeom>
          <a:ln>
            <a:solidFill>
              <a:srgbClr val="2563EB"/>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936992" y="2487168"/>
            <a:ext cx="1650492"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506206" y="2724912"/>
            <a:ext cx="512064"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6206"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5</a:t>
            </a:r>
          </a:p>
        </p:txBody>
      </p:sp>
      <p:sp>
        <p:nvSpPr>
          <p:cNvPr id="31" name="TextBox 30"/>
          <p:cNvSpPr txBox="1"/>
          <p:nvPr/>
        </p:nvSpPr>
        <p:spPr>
          <a:xfrm>
            <a:off x="8010144" y="3502152"/>
            <a:ext cx="1504188"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Refine</a:t>
            </a:r>
          </a:p>
        </p:txBody>
      </p:sp>
      <p:cxnSp>
        <p:nvCxnSpPr>
          <p:cNvPr id="32" name="Connector 31"/>
          <p:cNvCxnSpPr/>
          <p:nvPr/>
        </p:nvCxnSpPr>
        <p:spPr>
          <a:xfrm>
            <a:off x="9587484" y="3520440"/>
            <a:ext cx="146304" cy="0"/>
          </a:xfrm>
          <a:prstGeom prst="line">
            <a:avLst/>
          </a:prstGeom>
          <a:ln>
            <a:solidFill>
              <a:srgbClr val="2563EB"/>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9733788" y="2487168"/>
            <a:ext cx="1650492"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0303002" y="2724912"/>
            <a:ext cx="512064"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03002"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6</a:t>
            </a:r>
          </a:p>
        </p:txBody>
      </p:sp>
      <p:sp>
        <p:nvSpPr>
          <p:cNvPr id="36" name="TextBox 35"/>
          <p:cNvSpPr txBox="1"/>
          <p:nvPr/>
        </p:nvSpPr>
        <p:spPr>
          <a:xfrm>
            <a:off x="9806940" y="3502152"/>
            <a:ext cx="1504188"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Record evidence</a:t>
            </a:r>
          </a:p>
        </p:txBody>
      </p:sp>
      <p:sp>
        <p:nvSpPr>
          <p:cNvPr id="37" name="Rounded Rectangle 36"/>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39" name="TextBox 38"/>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Prompt + acceptance checks + diff</a:t>
            </a:r>
          </a:p>
        </p:txBody>
      </p:sp>
      <p:sp>
        <p:nvSpPr>
          <p:cNvPr id="40" name="Rounded Rectangle 39"/>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42" name="TextBox 41"/>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Accepting plausible code without executing it transfers uncertainty into production.</a:t>
            </a:r>
          </a:p>
        </p:txBody>
      </p:sp>
      <p:sp>
        <p:nvSpPr>
          <p:cNvPr id="43" name="Rounded Rectangle 42"/>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45" name="TextBox 44"/>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Every prompt names inputs, outputs, constraints and tests; every change produces evidence.</a:t>
            </a:r>
          </a:p>
        </p:txBody>
      </p:sp>
      <p:sp>
        <p:nvSpPr>
          <p:cNvPr id="46" name="TextBox 4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47" name="TextBox 4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48" name="TextBox 47"/>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VS Code FastAPI Tutorial</a:t>
            </a:r>
          </a:p>
        </p:txBody>
      </p:sp>
      <p:sp>
        <p:nvSpPr>
          <p:cNvPr id="49" name="TextBox 4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35</a:t>
            </a:r>
          </a:p>
        </p:txBody>
      </p:sp>
    </p:spTree>
  </p:cSld>
  <p:transition spd="fast">
    <p:fade/>
  </p:transition>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TOPIC 01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Vibe coding needs a closed verification loop</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Specify</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Prompting accelerates drafting; tests and review decide whether generated code is acceptable.</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Accepting plausible code without executing it transfers uncertainty into production.</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Every prompt names inputs, outputs, constraints and tests; every change produces evidence.</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Prompt + acceptance checks + diff</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VS Code FastAPI Tutorial</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36</a:t>
            </a:r>
          </a:p>
        </p:txBody>
      </p:sp>
    </p:spTree>
  </p:cSld>
  <p:transition spd="fast">
    <p:fade/>
  </p:transition>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TOPIC 01 · COMPARE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A good prompt is an executable design brief</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Constrain framework, paths, schemas, errors, persistence and tests before asking AI to code.</a:t>
            </a:r>
          </a:p>
        </p:txBody>
      </p:sp>
      <p:sp>
        <p:nvSpPr>
          <p:cNvPr id="8" name="Rounded Rectangle 7"/>
          <p:cNvSpPr/>
          <p:nvPr/>
        </p:nvSpPr>
        <p:spPr>
          <a:xfrm>
            <a:off x="749808"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50976" y="2596896"/>
            <a:ext cx="502920" cy="50292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1</a:t>
            </a:r>
          </a:p>
        </p:txBody>
      </p:sp>
      <p:sp>
        <p:nvSpPr>
          <p:cNvPr id="11" name="TextBox 10"/>
          <p:cNvSpPr txBox="1"/>
          <p:nvPr/>
        </p:nvSpPr>
        <p:spPr>
          <a:xfrm>
            <a:off x="1682496"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Weak: build a product API</a:t>
            </a:r>
          </a:p>
        </p:txBody>
      </p:sp>
      <p:sp>
        <p:nvSpPr>
          <p:cNvPr id="12" name="Rounded Rectangle 11"/>
          <p:cNvSpPr/>
          <p:nvPr/>
        </p:nvSpPr>
        <p:spPr>
          <a:xfrm>
            <a:off x="6172200"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73368" y="2596896"/>
            <a:ext cx="502920" cy="502920"/>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2</a:t>
            </a:r>
          </a:p>
        </p:txBody>
      </p:sp>
      <p:sp>
        <p:nvSpPr>
          <p:cNvPr id="15" name="TextBox 14"/>
          <p:cNvSpPr txBox="1"/>
          <p:nvPr/>
        </p:nvSpPr>
        <p:spPr>
          <a:xfrm>
            <a:off x="7104888"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Strong: FastAPI, /api/v1/products, SQLite, validation, 404/409, pytest, no ORM</a:t>
            </a:r>
          </a:p>
        </p:txBody>
      </p:sp>
      <p:sp>
        <p:nvSpPr>
          <p:cNvPr id="16" name="Rounded Rectangle 15"/>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18" name="TextBox 17"/>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Prompt contract checklist</a:t>
            </a:r>
          </a:p>
        </p:txBody>
      </p:sp>
      <p:sp>
        <p:nvSpPr>
          <p:cNvPr id="19" name="Rounded Rectangle 18"/>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21" name="TextBox 20"/>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Over-specific implementation prompts can freeze a poor design; specify behaviour first.</a:t>
            </a:r>
          </a:p>
        </p:txBody>
      </p:sp>
      <p:sp>
        <p:nvSpPr>
          <p:cNvPr id="22" name="Rounded Rectangle 21"/>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24" name="TextBox 23"/>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Generated endpoints match a written route table and pass named tests.</a:t>
            </a:r>
          </a:p>
        </p:txBody>
      </p:sp>
      <p:sp>
        <p:nvSpPr>
          <p:cNvPr id="25" name="TextBox 24"/>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6" name="TextBox 25"/>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7" name="TextBox 26"/>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FastAPI Tutorial</a:t>
            </a:r>
          </a:p>
        </p:txBody>
      </p:sp>
      <p:sp>
        <p:nvSpPr>
          <p:cNvPr id="28" name="TextBox 27"/>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37</a:t>
            </a:r>
          </a:p>
        </p:txBody>
      </p:sp>
    </p:spTree>
  </p:cSld>
  <p:transition spd="fast">
    <p:fade/>
  </p:transition>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TOPIC 01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A good prompt is an executable design brief</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Weak: build a product API</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Constrain framework, paths, schemas, errors, persistence and tests before asking AI to code.</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Over-specific implementation prompts can freeze a poor design; specify behaviour first.</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Generated endpoints match a written route table and pass named tests.</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Prompt contract checklist</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FastAPI Tutorial</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38</a:t>
            </a:r>
          </a:p>
        </p:txBody>
      </p:sp>
    </p:spTree>
  </p:cSld>
  <p:transition spd="fast">
    <p:fade/>
  </p:transition>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TOPIC 01 · CODE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The Python SDK turns a prompt into a typed file bundle</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A reproducible vibe-coding run records the model, prompt, mock context and structured output before any code is accepted.</a:t>
            </a:r>
          </a:p>
        </p:txBody>
      </p:sp>
      <p:sp>
        <p:nvSpPr>
          <p:cNvPr id="8" name="Rounded Rectangle 7"/>
          <p:cNvSpPr/>
          <p:nvPr/>
        </p:nvSpPr>
        <p:spPr>
          <a:xfrm>
            <a:off x="749808" y="2331720"/>
            <a:ext cx="6766560" cy="2697480"/>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2615184"/>
            <a:ext cx="6199632" cy="2057400"/>
          </a:xfrm>
          <a:prstGeom prst="rect">
            <a:avLst/>
          </a:prstGeom>
          <a:noFill/>
        </p:spPr>
        <p:txBody>
          <a:bodyPr wrap="square" anchor="t" lIns="36576" rIns="36576" tIns="36576" bIns="36576">
            <a:spAutoFit/>
          </a:bodyPr>
          <a:lstStyle/>
          <a:p>
            <a:pPr algn="l">
              <a:spcAft>
                <a:spcPts val="0"/>
              </a:spcAft>
            </a:pPr>
            <a:r>
              <a:rPr sz="1500" b="0">
                <a:solidFill>
                  <a:srgbClr val="A7F3D0"/>
                </a:solidFill>
                <a:latin typeface="Consolas"/>
              </a:rPr>
              <a:t>client = OpenAI()
rsp = client.responses.parse(
    model=os.environ["OPENAI_MODEL"],
    input=messages, text_format=CodeBundle
)
bundle = read_bundle(rsp)</a:t>
            </a:r>
          </a:p>
        </p:txBody>
      </p:sp>
      <p:sp>
        <p:nvSpPr>
          <p:cNvPr id="10" name="Rounded Rectangle 9"/>
          <p:cNvSpPr/>
          <p:nvPr/>
        </p:nvSpPr>
        <p:spPr>
          <a:xfrm>
            <a:off x="7799831" y="2331720"/>
            <a:ext cx="3584448" cy="26974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65008" y="2624328"/>
            <a:ext cx="219456" cy="219456"/>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30768" y="2551176"/>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OpenAI() reads OPENAI_API_KEY</a:t>
            </a:r>
          </a:p>
        </p:txBody>
      </p:sp>
      <p:sp>
        <p:nvSpPr>
          <p:cNvPr id="13" name="Rounded Rectangle 12"/>
          <p:cNvSpPr/>
          <p:nvPr/>
        </p:nvSpPr>
        <p:spPr>
          <a:xfrm>
            <a:off x="8065008" y="3136392"/>
            <a:ext cx="219456" cy="219456"/>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30768" y="3063240"/>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responses.parse sends the brief</a:t>
            </a:r>
          </a:p>
        </p:txBody>
      </p:sp>
      <p:sp>
        <p:nvSpPr>
          <p:cNvPr id="15" name="Rounded Rectangle 14"/>
          <p:cNvSpPr/>
          <p:nvPr/>
        </p:nvSpPr>
        <p:spPr>
          <a:xfrm>
            <a:off x="8065008" y="3648456"/>
            <a:ext cx="219456" cy="219456"/>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30768" y="3575304"/>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CodeBundle constrains file paths and contents</a:t>
            </a:r>
          </a:p>
        </p:txBody>
      </p:sp>
      <p:sp>
        <p:nvSpPr>
          <p:cNvPr id="17" name="Rounded Rectangle 16"/>
          <p:cNvSpPr/>
          <p:nvPr/>
        </p:nvSpPr>
        <p:spPr>
          <a:xfrm>
            <a:off x="8065008" y="4160520"/>
            <a:ext cx="219456" cy="219456"/>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30768" y="4087368"/>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generated/ keeps AI output separate for review</a:t>
            </a:r>
          </a:p>
        </p:txBody>
      </p:sp>
      <p:sp>
        <p:nvSpPr>
          <p:cNvPr id="19" name="Rounded Rectangle 18"/>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21" name="TextBox 20"/>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ai_vibe.py + Prompts.pdf + mock-data.json</a:t>
            </a:r>
          </a:p>
        </p:txBody>
      </p:sp>
      <p:sp>
        <p:nvSpPr>
          <p:cNvPr id="22" name="Rounded Rectangle 21"/>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24" name="TextBox 23"/>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Copying unstructured model text directly over working source hides provenance and can overwrite trusted code.</a:t>
            </a:r>
          </a:p>
        </p:txBody>
      </p:sp>
      <p:sp>
        <p:nvSpPr>
          <p:cNvPr id="25" name="Rounded Rectangle 24"/>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27" name="TextBox 26"/>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The SDK produces a validated CodeBundle in generated/; pytest and human review decide whether to apply it.</a:t>
            </a:r>
          </a:p>
        </p:txBody>
      </p:sp>
      <p:sp>
        <p:nvSpPr>
          <p:cNvPr id="28" name="TextBox 27"/>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9" name="TextBox 28"/>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0" name="TextBox 29"/>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OpenAI Python SDK</a:t>
            </a:r>
          </a:p>
        </p:txBody>
      </p:sp>
      <p:sp>
        <p:nvSpPr>
          <p:cNvPr id="31" name="TextBox 30"/>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39</a:t>
            </a:r>
          </a:p>
        </p:txBody>
      </p:sp>
    </p:spTree>
  </p:cSld>
  <p:transition spd="fast">
    <p:fade/>
  </p:transition>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TOPIC 01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The Python SDK turns a prompt into a typed file bundle</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OpenAI() reads OPENAI_API_KEY</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A reproducible vibe-coding run records the model, prompt, mock context and structured output before any code is accepted.</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Copying unstructured model text directly over working source hides provenance and can overwrite trusted code.</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The SDK produces a validated CodeBundle in generated/; pytest and human review decide whether to apply it.</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ai_vibe.py + Prompts.pdf + mock-data.json</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OpenAI Python SDK</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40</a:t>
            </a:r>
          </a:p>
        </p:txBody>
      </p:sp>
    </p:spTree>
  </p:cSld>
  <p:transition spd="fast">
    <p:fade/>
  </p:transition>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01 · SCENARIO</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Prompt a REST API Contract</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74519"/>
            <a:ext cx="6675120" cy="3611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212848"/>
            <a:ext cx="6035040" cy="34747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DESIGN CHALLENGE</a:t>
            </a:r>
          </a:p>
        </p:txBody>
      </p:sp>
      <p:sp>
        <p:nvSpPr>
          <p:cNvPr id="9" name="TextBox 8"/>
          <p:cNvSpPr txBox="1"/>
          <p:nvPr/>
        </p:nvSpPr>
        <p:spPr>
          <a:xfrm>
            <a:off x="1078992" y="2743200"/>
            <a:ext cx="5989320" cy="1097280"/>
          </a:xfrm>
          <a:prstGeom prst="rect">
            <a:avLst/>
          </a:prstGeom>
          <a:noFill/>
        </p:spPr>
        <p:txBody>
          <a:bodyPr wrap="square" anchor="t" lIns="36576" rIns="36576" tIns="36576" bIns="36576">
            <a:spAutoFit/>
          </a:bodyPr>
          <a:lstStyle/>
          <a:p>
            <a:pPr algn="l">
              <a:spcAft>
                <a:spcPts val="0"/>
              </a:spcAft>
            </a:pPr>
            <a:r>
              <a:rPr sz="2200" b="1">
                <a:solidFill>
                  <a:srgbClr val="172433"/>
                </a:solidFill>
                <a:latin typeface="Arial"/>
              </a:rPr>
              <a:t>Convert Northstar Commerce requirements into a versioned OpenAPI-first route and data contract.</a:t>
            </a:r>
          </a:p>
        </p:txBody>
      </p:sp>
      <p:sp>
        <p:nvSpPr>
          <p:cNvPr id="10" name="TextBox 9"/>
          <p:cNvSpPr txBox="1"/>
          <p:nvPr/>
        </p:nvSpPr>
        <p:spPr>
          <a:xfrm>
            <a:off x="1078992" y="4187952"/>
            <a:ext cx="5989320" cy="731520"/>
          </a:xfrm>
          <a:prstGeom prst="rect">
            <a:avLst/>
          </a:prstGeom>
          <a:noFill/>
        </p:spPr>
        <p:txBody>
          <a:bodyPr wrap="square" anchor="t" lIns="36576" rIns="36576" tIns="36576" bIns="36576">
            <a:spAutoFit/>
          </a:bodyPr>
          <a:lstStyle/>
          <a:p>
            <a:pPr algn="l">
              <a:spcAft>
                <a:spcPts val="0"/>
              </a:spcAft>
            </a:pPr>
            <a:r>
              <a:rPr sz="1400" b="0">
                <a:solidFill>
                  <a:srgbClr val="475569"/>
                </a:solidFill>
                <a:latin typeface="Arial"/>
              </a:rPr>
              <a:t>Build: api-contract.md and openapi-draft.yaml</a:t>
            </a:r>
          </a:p>
        </p:txBody>
      </p:sp>
      <p:sp>
        <p:nvSpPr>
          <p:cNvPr id="11" name="Rounded Rectangle 10"/>
          <p:cNvSpPr/>
          <p:nvPr/>
        </p:nvSpPr>
        <p:spPr>
          <a:xfrm>
            <a:off x="7754112" y="1874519"/>
            <a:ext cx="3611880" cy="3611880"/>
          </a:xfrm>
          <a:prstGeom prst="roundRect">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19872" y="2249424"/>
            <a:ext cx="2880360" cy="274320"/>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TOOLS</a:t>
            </a:r>
          </a:p>
        </p:txBody>
      </p:sp>
      <p:sp>
        <p:nvSpPr>
          <p:cNvPr id="13" name="TextBox 12"/>
          <p:cNvSpPr txBox="1"/>
          <p:nvPr/>
        </p:nvSpPr>
        <p:spPr>
          <a:xfrm>
            <a:off x="8119872" y="2724912"/>
            <a:ext cx="2834640" cy="914400"/>
          </a:xfrm>
          <a:prstGeom prst="rect">
            <a:avLst/>
          </a:prstGeom>
          <a:noFill/>
        </p:spPr>
        <p:txBody>
          <a:bodyPr wrap="square" anchor="t" lIns="36576" rIns="36576" tIns="36576" bIns="36576">
            <a:spAutoFit/>
          </a:bodyPr>
          <a:lstStyle/>
          <a:p>
            <a:pPr algn="l">
              <a:spcAft>
                <a:spcPts val="0"/>
              </a:spcAft>
            </a:pPr>
            <a:r>
              <a:rPr sz="1600" b="1">
                <a:solidFill>
                  <a:srgbClr val="172433"/>
                </a:solidFill>
                <a:latin typeface="Arial"/>
              </a:rPr>
              <a:t>Browser, VS Code, YAML extension, AI coding assistant, OpenAI Python SDK</a:t>
            </a:r>
          </a:p>
        </p:txBody>
      </p:sp>
      <p:sp>
        <p:nvSpPr>
          <p:cNvPr id="14" name="TextBox 13"/>
          <p:cNvSpPr txBox="1"/>
          <p:nvPr/>
        </p:nvSpPr>
        <p:spPr>
          <a:xfrm>
            <a:off x="8119872" y="3886200"/>
            <a:ext cx="2834640" cy="786384"/>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Detailed procedure: Learner Guide + lab README</a:t>
            </a:r>
          </a:p>
        </p:txBody>
      </p:sp>
      <p:sp>
        <p:nvSpPr>
          <p:cNvPr id="15" name="TextBox 14"/>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6" name="TextBox 15"/>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7" name="TextBox 16"/>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41</a:t>
            </a:r>
          </a:p>
        </p:txBody>
      </p:sp>
    </p:spTree>
  </p:cSld>
  <p:transition spd="fast">
    <p:fade/>
  </p:transition>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LAB 01 · PROMPT ARTIFACT</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Prompt submitted by ai_vibe.py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7452360" cy="4005072"/>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121408"/>
            <a:ext cx="6858000" cy="274320"/>
          </a:xfrm>
          <a:prstGeom prst="rect">
            <a:avLst/>
          </a:prstGeom>
          <a:noFill/>
        </p:spPr>
        <p:txBody>
          <a:bodyPr wrap="square" anchor="t" lIns="36576" rIns="36576" tIns="36576" bIns="36576">
            <a:spAutoFit/>
          </a:bodyPr>
          <a:lstStyle/>
          <a:p>
            <a:pPr algn="l">
              <a:spcAft>
                <a:spcPts val="0"/>
              </a:spcAft>
            </a:pPr>
            <a:r>
              <a:rPr sz="1000" b="1">
                <a:solidFill>
                  <a:srgbClr val="06B6D4"/>
                </a:solidFill>
                <a:latin typeface="Arial"/>
              </a:rPr>
              <a:t>LEARNER PROMPT</a:t>
            </a:r>
          </a:p>
        </p:txBody>
      </p:sp>
      <p:sp>
        <p:nvSpPr>
          <p:cNvPr id="9" name="TextBox 8"/>
          <p:cNvSpPr txBox="1"/>
          <p:nvPr/>
        </p:nvSpPr>
        <p:spPr>
          <a:xfrm>
            <a:off x="1051560" y="2596896"/>
            <a:ext cx="6821424" cy="2880360"/>
          </a:xfrm>
          <a:prstGeom prst="rect">
            <a:avLst/>
          </a:prstGeom>
          <a:noFill/>
        </p:spPr>
        <p:txBody>
          <a:bodyPr wrap="square" anchor="t" lIns="36576" rIns="36576" tIns="36576" bIns="36576">
            <a:spAutoFit/>
          </a:bodyPr>
          <a:lstStyle/>
          <a:p>
            <a:pPr algn="l">
              <a:spcAft>
                <a:spcPts val="0"/>
              </a:spcAft>
            </a:pPr>
            <a:r>
              <a:rPr sz="1320" b="0">
                <a:solidFill>
                  <a:srgbClr val="D1FAE5"/>
                </a:solidFill>
                <a:latin typeface="Consolas"/>
              </a:rPr>
              <a:t>You are working on Lab 01 of a Northstar Commerce API. Create a behaviour-first OpenAPI 3.1 contract for Northstar Commerce using FastAPI and SQLite. Define Product, Customer, Order and OrderItem schemas; list collection/member routes, request and response JSON, 200/201/204/401/404/409/422 outcomes, and at least six acceptance tests. Do not write implementation code yet. Return only api-contract.md, openapi-draft.yaml and machine-readable test cases.</a:t>
            </a:r>
          </a:p>
        </p:txBody>
      </p:sp>
      <p:sp>
        <p:nvSpPr>
          <p:cNvPr id="10" name="Rounded Rectangle 9"/>
          <p:cNvSpPr/>
          <p:nvPr/>
        </p:nvSpPr>
        <p:spPr>
          <a:xfrm>
            <a:off x="8439912" y="1847088"/>
            <a:ext cx="2944368" cy="400507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14232" y="2130552"/>
            <a:ext cx="2377440" cy="256032"/>
          </a:xfrm>
          <a:prstGeom prst="rect">
            <a:avLst/>
          </a:prstGeom>
          <a:noFill/>
        </p:spPr>
        <p:txBody>
          <a:bodyPr wrap="square" anchor="t" lIns="36576" rIns="36576" tIns="36576" bIns="36576">
            <a:spAutoFit/>
          </a:bodyPr>
          <a:lstStyle/>
          <a:p>
            <a:pPr algn="l">
              <a:spcAft>
                <a:spcPts val="0"/>
              </a:spcAft>
            </a:pPr>
            <a:r>
              <a:rPr sz="950" b="1">
                <a:solidFill>
                  <a:srgbClr val="7C3AED"/>
                </a:solidFill>
                <a:latin typeface="Arial"/>
              </a:rPr>
              <a:t>PYTHON SDK ENVELOPE</a:t>
            </a:r>
          </a:p>
        </p:txBody>
      </p:sp>
      <p:sp>
        <p:nvSpPr>
          <p:cNvPr id="12" name="Rounded Rectangle 11"/>
          <p:cNvSpPr/>
          <p:nvPr/>
        </p:nvSpPr>
        <p:spPr>
          <a:xfrm>
            <a:off x="8714232" y="2615184"/>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07424" y="2578608"/>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Prompts.pdf</a:t>
            </a:r>
          </a:p>
        </p:txBody>
      </p:sp>
      <p:sp>
        <p:nvSpPr>
          <p:cNvPr id="14" name="Rounded Rectangle 13"/>
          <p:cNvSpPr/>
          <p:nvPr/>
        </p:nvSpPr>
        <p:spPr>
          <a:xfrm>
            <a:off x="8714232" y="3081528"/>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07424" y="3044952"/>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mock-data.json</a:t>
            </a:r>
          </a:p>
        </p:txBody>
      </p:sp>
      <p:sp>
        <p:nvSpPr>
          <p:cNvPr id="16" name="Rounded Rectangle 15"/>
          <p:cNvSpPr/>
          <p:nvPr/>
        </p:nvSpPr>
        <p:spPr>
          <a:xfrm>
            <a:off x="8714232" y="3547872"/>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07424" y="3511296"/>
            <a:ext cx="1874519" cy="274320"/>
          </a:xfrm>
          <a:prstGeom prst="rect">
            <a:avLst/>
          </a:prstGeom>
          <a:noFill/>
        </p:spPr>
        <p:txBody>
          <a:bodyPr wrap="square" anchor="t" lIns="36576" rIns="36576" tIns="36576" bIns="36576">
            <a:spAutoFit/>
          </a:bodyPr>
          <a:lstStyle/>
          <a:p>
            <a:pPr algn="l">
              <a:spcAft>
                <a:spcPts val="0"/>
              </a:spcAft>
            </a:pPr>
            <a:r>
              <a:rPr sz="1050" b="1">
                <a:solidFill>
                  <a:srgbClr val="172433"/>
                </a:solidFill>
                <a:latin typeface="Arial"/>
              </a:rPr>
              <a:t>responses.parse</a:t>
            </a:r>
          </a:p>
        </p:txBody>
      </p:sp>
      <p:sp>
        <p:nvSpPr>
          <p:cNvPr id="18" name="Rounded Rectangle 17"/>
          <p:cNvSpPr/>
          <p:nvPr/>
        </p:nvSpPr>
        <p:spPr>
          <a:xfrm>
            <a:off x="8714232" y="4014215"/>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07424" y="3977639"/>
            <a:ext cx="1874519" cy="274320"/>
          </a:xfrm>
          <a:prstGeom prst="rect">
            <a:avLst/>
          </a:prstGeom>
          <a:noFill/>
        </p:spPr>
        <p:txBody>
          <a:bodyPr wrap="square" anchor="t" lIns="36576" rIns="36576" tIns="36576" bIns="36576">
            <a:spAutoFit/>
          </a:bodyPr>
          <a:lstStyle/>
          <a:p>
            <a:pPr algn="l">
              <a:spcAft>
                <a:spcPts val="0"/>
              </a:spcAft>
            </a:pPr>
            <a:r>
              <a:rPr sz="1050" b="1">
                <a:solidFill>
                  <a:srgbClr val="172433"/>
                </a:solidFill>
                <a:latin typeface="Arial"/>
              </a:rPr>
              <a:t>CodeBundle</a:t>
            </a:r>
          </a:p>
        </p:txBody>
      </p:sp>
      <p:sp>
        <p:nvSpPr>
          <p:cNvPr id="20" name="Rounded Rectangle 19"/>
          <p:cNvSpPr/>
          <p:nvPr/>
        </p:nvSpPr>
        <p:spPr>
          <a:xfrm>
            <a:off x="8714232" y="4480560"/>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07424" y="4443984"/>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generated/</a:t>
            </a:r>
          </a:p>
        </p:txBody>
      </p:sp>
      <p:sp>
        <p:nvSpPr>
          <p:cNvPr id="22" name="Rounded Rectangle 21"/>
          <p:cNvSpPr/>
          <p:nvPr/>
        </p:nvSpPr>
        <p:spPr>
          <a:xfrm>
            <a:off x="8714232" y="4946904"/>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07424" y="4910328"/>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pytest + review</a:t>
            </a:r>
          </a:p>
        </p:txBody>
      </p:sp>
      <p:sp>
        <p:nvSpPr>
          <p:cNvPr id="24" name="TextBox 23"/>
          <p:cNvSpPr txBox="1"/>
          <p:nvPr/>
        </p:nvSpPr>
        <p:spPr>
          <a:xfrm>
            <a:off x="8714232" y="5468112"/>
            <a:ext cx="2148840" cy="219456"/>
          </a:xfrm>
          <a:prstGeom prst="rect">
            <a:avLst/>
          </a:prstGeom>
          <a:noFill/>
        </p:spPr>
        <p:txBody>
          <a:bodyPr wrap="square" anchor="t" lIns="36576" rIns="36576" tIns="36576" bIns="36576">
            <a:spAutoFit/>
          </a:bodyPr>
          <a:lstStyle/>
          <a:p>
            <a:pPr algn="l">
              <a:spcAft>
                <a:spcPts val="0"/>
              </a:spcAft>
            </a:pPr>
            <a:r>
              <a:rPr sz="950" b="1">
                <a:solidFill>
                  <a:srgbClr val="10B981"/>
                </a:solidFill>
                <a:latin typeface="Arial"/>
              </a:rPr>
              <a:t>Full prompt + refinement</a:t>
            </a:r>
          </a:p>
        </p:txBody>
      </p:sp>
      <p:sp>
        <p:nvSpPr>
          <p:cNvPr id="25" name="TextBox 24"/>
          <p:cNvSpPr txBox="1"/>
          <p:nvPr/>
        </p:nvSpPr>
        <p:spPr>
          <a:xfrm>
            <a:off x="8714232" y="5650992"/>
            <a:ext cx="2148840" cy="219456"/>
          </a:xfrm>
          <a:prstGeom prst="rect">
            <a:avLst/>
          </a:prstGeom>
          <a:noFill/>
        </p:spPr>
        <p:txBody>
          <a:bodyPr wrap="square" anchor="t" lIns="36576" rIns="36576" tIns="36576" bIns="36576">
            <a:spAutoFit/>
          </a:bodyPr>
          <a:lstStyle/>
          <a:p>
            <a:pPr algn="l">
              <a:spcAft>
                <a:spcPts val="0"/>
              </a:spcAft>
            </a:pPr>
            <a:r>
              <a:rPr sz="950" b="0">
                <a:solidFill>
                  <a:srgbClr val="475569"/>
                </a:solidFill>
                <a:latin typeface="Arial"/>
              </a:rPr>
              <a:t>in the lab Prompts.pdf</a:t>
            </a:r>
          </a:p>
        </p:txBody>
      </p:sp>
      <p:sp>
        <p:nvSpPr>
          <p:cNvPr id="26" name="TextBox 2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7" name="TextBox 2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8" name="TextBox 27"/>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OpenAI Python SDK</a:t>
            </a:r>
          </a:p>
        </p:txBody>
      </p:sp>
      <p:sp>
        <p:nvSpPr>
          <p:cNvPr id="29" name="TextBox 2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42</a:t>
            </a:r>
          </a:p>
        </p:txBody>
      </p:sp>
    </p:spTree>
  </p:cSld>
  <p:transition spd="fast">
    <p:fade/>
  </p:transition>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01 · MECHANISM</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How Prompt a REST API Contract works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665351"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5351"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1</a:t>
            </a:r>
          </a:p>
        </p:txBody>
      </p:sp>
      <p:sp>
        <p:nvSpPr>
          <p:cNvPr id="10" name="TextBox 9"/>
          <p:cNvSpPr txBox="1"/>
          <p:nvPr/>
        </p:nvSpPr>
        <p:spPr>
          <a:xfrm>
            <a:off x="859536"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Input contract</a:t>
            </a:r>
          </a:p>
        </p:txBody>
      </p:sp>
      <p:sp>
        <p:nvSpPr>
          <p:cNvPr id="11" name="TextBox 10"/>
          <p:cNvSpPr txBox="1"/>
          <p:nvPr/>
        </p:nvSpPr>
        <p:spPr>
          <a:xfrm>
            <a:off x="886968"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Convert Northstar Commerce requirements into a versioned OpenAPI-first route and data contract.</a:t>
            </a:r>
          </a:p>
        </p:txBody>
      </p:sp>
      <p:sp>
        <p:nvSpPr>
          <p:cNvPr id="12" name="Rounded Rectangle 11"/>
          <p:cNvSpPr/>
          <p:nvPr/>
        </p:nvSpPr>
        <p:spPr>
          <a:xfrm>
            <a:off x="3477006"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92549"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92549"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2</a:t>
            </a:r>
          </a:p>
        </p:txBody>
      </p:sp>
      <p:sp>
        <p:nvSpPr>
          <p:cNvPr id="15" name="TextBox 14"/>
          <p:cNvSpPr txBox="1"/>
          <p:nvPr/>
        </p:nvSpPr>
        <p:spPr>
          <a:xfrm>
            <a:off x="3586734"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Boundary validation</a:t>
            </a:r>
          </a:p>
        </p:txBody>
      </p:sp>
      <p:sp>
        <p:nvSpPr>
          <p:cNvPr id="16" name="TextBox 15"/>
          <p:cNvSpPr txBox="1"/>
          <p:nvPr/>
        </p:nvSpPr>
        <p:spPr>
          <a:xfrm>
            <a:off x="3614166"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Reject invalid or unauthorised input</a:t>
            </a:r>
          </a:p>
        </p:txBody>
      </p:sp>
      <p:sp>
        <p:nvSpPr>
          <p:cNvPr id="17" name="Rounded Rectangle 16"/>
          <p:cNvSpPr/>
          <p:nvPr/>
        </p:nvSpPr>
        <p:spPr>
          <a:xfrm>
            <a:off x="6204204"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119747"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9747"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3</a:t>
            </a:r>
          </a:p>
        </p:txBody>
      </p:sp>
      <p:sp>
        <p:nvSpPr>
          <p:cNvPr id="20" name="TextBox 19"/>
          <p:cNvSpPr txBox="1"/>
          <p:nvPr/>
        </p:nvSpPr>
        <p:spPr>
          <a:xfrm>
            <a:off x="6313932"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Business decision</a:t>
            </a:r>
          </a:p>
        </p:txBody>
      </p:sp>
      <p:sp>
        <p:nvSpPr>
          <p:cNvPr id="21" name="TextBox 20"/>
          <p:cNvSpPr txBox="1"/>
          <p:nvPr/>
        </p:nvSpPr>
        <p:spPr>
          <a:xfrm>
            <a:off x="6341364"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Apply one explicit rule</a:t>
            </a:r>
          </a:p>
        </p:txBody>
      </p:sp>
      <p:sp>
        <p:nvSpPr>
          <p:cNvPr id="22" name="Rounded Rectangle 21"/>
          <p:cNvSpPr/>
          <p:nvPr/>
        </p:nvSpPr>
        <p:spPr>
          <a:xfrm>
            <a:off x="8931402"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46945"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46945"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4</a:t>
            </a:r>
          </a:p>
        </p:txBody>
      </p:sp>
      <p:sp>
        <p:nvSpPr>
          <p:cNvPr id="25" name="TextBox 24"/>
          <p:cNvSpPr txBox="1"/>
          <p:nvPr/>
        </p:nvSpPr>
        <p:spPr>
          <a:xfrm>
            <a:off x="9041130"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State/evidence</a:t>
            </a:r>
          </a:p>
        </p:txBody>
      </p:sp>
      <p:sp>
        <p:nvSpPr>
          <p:cNvPr id="26" name="TextBox 25"/>
          <p:cNvSpPr txBox="1"/>
          <p:nvPr/>
        </p:nvSpPr>
        <p:spPr>
          <a:xfrm>
            <a:off x="9068562"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The contract covers products, customers and orders, names 200/201/204/401/404/409/422 outcomes and validates as OpenAPI 3.1.</a:t>
            </a:r>
          </a:p>
        </p:txBody>
      </p:sp>
      <p:sp>
        <p:nvSpPr>
          <p:cNvPr id="27" name="TextBox 26"/>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8" name="TextBox 27"/>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9" name="TextBox 2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43</a:t>
            </a:r>
          </a:p>
        </p:txBody>
      </p:sp>
    </p:spTree>
  </p:cSld>
  <p:transition spd="fast">
    <p:fade/>
  </p:transition>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01 ·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api-contract.md and openapi-draft.yaml</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01952"/>
            <a:ext cx="6812280" cy="3611880"/>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194560"/>
            <a:ext cx="6144768" cy="3063240"/>
          </a:xfrm>
          <a:prstGeom prst="rect">
            <a:avLst/>
          </a:prstGeom>
          <a:noFill/>
        </p:spPr>
        <p:txBody>
          <a:bodyPr wrap="square" anchor="t" lIns="36576" rIns="36576" tIns="36576" bIns="36576">
            <a:spAutoFit/>
          </a:bodyPr>
          <a:lstStyle/>
          <a:p>
            <a:pPr algn="l">
              <a:spcAft>
                <a:spcPts val="0"/>
              </a:spcAft>
            </a:pPr>
            <a:r>
              <a:rPr sz="1250" b="0">
                <a:solidFill>
                  <a:srgbClr val="A7F3D0"/>
                </a:solidFill>
                <a:latin typeface="Consolas"/>
              </a:rPr>
              <a:t>REQUEST
  lab: 01
  objective: Convert Northstar Commerce requirements into a
             versioned OpenAPI-first route and data
             contract.
EXPECTED EVIDENCE
  artifact: api-contract.md and openapi-draft.yaml
  codes: A1, A2
  status: verified</a:t>
            </a:r>
          </a:p>
        </p:txBody>
      </p:sp>
      <p:sp>
        <p:nvSpPr>
          <p:cNvPr id="9" name="Rounded Rectangle 8"/>
          <p:cNvSpPr/>
          <p:nvPr/>
        </p:nvSpPr>
        <p:spPr>
          <a:xfrm>
            <a:off x="7882127" y="1901952"/>
            <a:ext cx="3493008" cy="3611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2212848"/>
            <a:ext cx="2880360" cy="310896"/>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ASSESSMENT BRIDGE</a:t>
            </a:r>
          </a:p>
        </p:txBody>
      </p:sp>
      <p:sp>
        <p:nvSpPr>
          <p:cNvPr id="11" name="TextBox 10"/>
          <p:cNvSpPr txBox="1"/>
          <p:nvPr/>
        </p:nvSpPr>
        <p:spPr>
          <a:xfrm>
            <a:off x="8193024" y="2761488"/>
            <a:ext cx="2834640" cy="1051560"/>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Ability codes
A1, A2</a:t>
            </a:r>
          </a:p>
        </p:txBody>
      </p:sp>
      <p:sp>
        <p:nvSpPr>
          <p:cNvPr id="12" name="TextBox 11"/>
          <p:cNvSpPr txBox="1"/>
          <p:nvPr/>
        </p:nvSpPr>
        <p:spPr>
          <a:xfrm>
            <a:off x="8193024" y="4160520"/>
            <a:ext cx="2788920" cy="685800"/>
          </a:xfrm>
          <a:prstGeom prst="rect">
            <a:avLst/>
          </a:prstGeom>
          <a:noFill/>
        </p:spPr>
        <p:txBody>
          <a:bodyPr wrap="square" anchor="t" lIns="36576" rIns="36576" tIns="36576" bIns="36576">
            <a:spAutoFit/>
          </a:bodyPr>
          <a:lstStyle/>
          <a:p>
            <a:pPr algn="l">
              <a:spcAft>
                <a:spcPts val="0"/>
              </a:spcAft>
            </a:pPr>
            <a:r>
              <a:rPr sz="1100" b="0">
                <a:solidFill>
                  <a:srgbClr val="475569"/>
                </a:solidFill>
                <a:latin typeface="Arial"/>
              </a:rPr>
              <a:t>Capture a screenshot, terminal output or test result that proves the acceptance criterion.</a:t>
            </a:r>
          </a:p>
        </p:txBody>
      </p:sp>
      <p:sp>
        <p:nvSpPr>
          <p:cNvPr id="13" name="TextBox 1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4" name="TextBox 1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5" name="TextBox 14"/>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44</a:t>
            </a:r>
          </a:p>
        </p:txBody>
      </p:sp>
    </p:spTree>
  </p:cSld>
  <p:transition spd="fast">
    <p:fade/>
  </p:transition>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01 · VERIFY</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Acceptance and diagnosis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74519"/>
            <a:ext cx="5166360" cy="3611880"/>
          </a:xfrm>
          <a:prstGeom prst="roundRect">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240280"/>
            <a:ext cx="4526280" cy="310896"/>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PASS WHEN</a:t>
            </a:r>
          </a:p>
        </p:txBody>
      </p:sp>
      <p:sp>
        <p:nvSpPr>
          <p:cNvPr id="9" name="TextBox 8"/>
          <p:cNvSpPr txBox="1"/>
          <p:nvPr/>
        </p:nvSpPr>
        <p:spPr>
          <a:xfrm>
            <a:off x="1078992" y="2798064"/>
            <a:ext cx="4498848" cy="1600200"/>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The contract covers products, customers and orders, names 200/201/204/401/404/409/422 outcomes and validates as OpenAPI 3.1.</a:t>
            </a:r>
          </a:p>
        </p:txBody>
      </p:sp>
      <p:sp>
        <p:nvSpPr>
          <p:cNvPr id="10" name="Rounded Rectangle 9"/>
          <p:cNvSpPr/>
          <p:nvPr/>
        </p:nvSpPr>
        <p:spPr>
          <a:xfrm>
            <a:off x="6217920" y="1874519"/>
            <a:ext cx="5148072" cy="3611880"/>
          </a:xfrm>
          <a:prstGeom prst="roundRect">
            <a:avLst/>
          </a:prstGeom>
          <a:solidFill>
            <a:srgbClr val="FEF2F2"/>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56248" y="2240280"/>
            <a:ext cx="4480560" cy="310896"/>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DIAGNOSE</a:t>
            </a:r>
          </a:p>
        </p:txBody>
      </p:sp>
      <p:sp>
        <p:nvSpPr>
          <p:cNvPr id="12" name="TextBox 11"/>
          <p:cNvSpPr txBox="1"/>
          <p:nvPr/>
        </p:nvSpPr>
        <p:spPr>
          <a:xfrm>
            <a:off x="6556248" y="277063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1. Inspect HTTP status and response body</a:t>
            </a:r>
          </a:p>
        </p:txBody>
      </p:sp>
      <p:sp>
        <p:nvSpPr>
          <p:cNvPr id="13" name="TextBox 12"/>
          <p:cNvSpPr txBox="1"/>
          <p:nvPr/>
        </p:nvSpPr>
        <p:spPr>
          <a:xfrm>
            <a:off x="6556248" y="327355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2. Check request fields and headers</a:t>
            </a:r>
          </a:p>
        </p:txBody>
      </p:sp>
      <p:sp>
        <p:nvSpPr>
          <p:cNvPr id="14" name="TextBox 13"/>
          <p:cNvSpPr txBox="1"/>
          <p:nvPr/>
        </p:nvSpPr>
        <p:spPr>
          <a:xfrm>
            <a:off x="6556248" y="377647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3. Follow request ID into logs</a:t>
            </a:r>
          </a:p>
        </p:txBody>
      </p:sp>
      <p:sp>
        <p:nvSpPr>
          <p:cNvPr id="15" name="TextBox 14"/>
          <p:cNvSpPr txBox="1"/>
          <p:nvPr/>
        </p:nvSpPr>
        <p:spPr>
          <a:xfrm>
            <a:off x="6556248" y="427939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4. Re-run the smallest failing test</a:t>
            </a:r>
          </a:p>
        </p:txBody>
      </p:sp>
      <p:sp>
        <p:nvSpPr>
          <p:cNvPr id="16" name="TextBox 1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7" name="TextBox 1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8" name="TextBox 17"/>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45</a:t>
            </a:r>
          </a:p>
        </p:txBody>
      </p:sp>
    </p:spTree>
  </p:cSld>
  <p:transition spd="fast">
    <p:fade/>
  </p:transition>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LAB 01 · CONTRACT REVIEW</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Prompt output must preserve the API boundary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02352" cy="3730752"/>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176272"/>
            <a:ext cx="4434840" cy="420624"/>
          </a:xfrm>
          <a:prstGeom prst="rect">
            <a:avLst/>
          </a:prstGeom>
          <a:noFill/>
        </p:spPr>
        <p:txBody>
          <a:bodyPr wrap="square" anchor="t" lIns="36576" rIns="36576" tIns="36576" bIns="36576">
            <a:spAutoFit/>
          </a:bodyPr>
          <a:lstStyle/>
          <a:p>
            <a:pPr algn="l">
              <a:spcAft>
                <a:spcPts val="0"/>
              </a:spcAft>
            </a:pPr>
            <a:r>
              <a:rPr sz="1000" b="1">
                <a:solidFill>
                  <a:srgbClr val="D1FAE5"/>
                </a:solidFill>
                <a:latin typeface="Arial"/>
              </a:rPr>
              <a:t>TARGET FILES</a:t>
            </a:r>
          </a:p>
        </p:txBody>
      </p:sp>
      <p:sp>
        <p:nvSpPr>
          <p:cNvPr id="9" name="TextBox 8"/>
          <p:cNvSpPr txBox="1"/>
          <p:nvPr/>
        </p:nvSpPr>
        <p:spPr>
          <a:xfrm>
            <a:off x="1078992" y="2743200"/>
            <a:ext cx="4434840" cy="420624"/>
          </a:xfrm>
          <a:prstGeom prst="rect">
            <a:avLst/>
          </a:prstGeom>
          <a:noFill/>
        </p:spPr>
        <p:txBody>
          <a:bodyPr wrap="square" anchor="t" lIns="36576" rIns="36576" tIns="36576" bIns="36576">
            <a:spAutoFit/>
          </a:bodyPr>
          <a:lstStyle/>
          <a:p>
            <a:pPr algn="l">
              <a:spcAft>
                <a:spcPts val="0"/>
              </a:spcAft>
            </a:pPr>
            <a:r>
              <a:rPr sz="1100" b="0">
                <a:solidFill>
                  <a:srgbClr val="D1FAE5"/>
                </a:solidFill>
                <a:latin typeface="Consolas"/>
              </a:rPr>
              <a:t>api-contract.md</a:t>
            </a:r>
          </a:p>
        </p:txBody>
      </p:sp>
      <p:sp>
        <p:nvSpPr>
          <p:cNvPr id="10" name="TextBox 9"/>
          <p:cNvSpPr txBox="1"/>
          <p:nvPr/>
        </p:nvSpPr>
        <p:spPr>
          <a:xfrm>
            <a:off x="1078992" y="3310128"/>
            <a:ext cx="4434840" cy="420624"/>
          </a:xfrm>
          <a:prstGeom prst="rect">
            <a:avLst/>
          </a:prstGeom>
          <a:noFill/>
        </p:spPr>
        <p:txBody>
          <a:bodyPr wrap="square" anchor="t" lIns="36576" rIns="36576" tIns="36576" bIns="36576">
            <a:spAutoFit/>
          </a:bodyPr>
          <a:lstStyle/>
          <a:p>
            <a:pPr algn="l">
              <a:spcAft>
                <a:spcPts val="0"/>
              </a:spcAft>
            </a:pPr>
            <a:r>
              <a:rPr sz="1100" b="0">
                <a:solidFill>
                  <a:srgbClr val="D1FAE5"/>
                </a:solidFill>
                <a:latin typeface="Consolas"/>
              </a:rPr>
              <a:t>tests/contract-cases.json</a:t>
            </a:r>
          </a:p>
        </p:txBody>
      </p:sp>
      <p:sp>
        <p:nvSpPr>
          <p:cNvPr id="11" name="Rounded Rectangle 10"/>
          <p:cNvSpPr/>
          <p:nvPr/>
        </p:nvSpPr>
        <p:spPr>
          <a:xfrm>
            <a:off x="6144768" y="1847088"/>
            <a:ext cx="5230368" cy="373075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2176272"/>
            <a:ext cx="4526280" cy="237744"/>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ACCEPTANCE</a:t>
            </a:r>
          </a:p>
        </p:txBody>
      </p:sp>
      <p:sp>
        <p:nvSpPr>
          <p:cNvPr id="13" name="TextBox 12"/>
          <p:cNvSpPr txBox="1"/>
          <p:nvPr/>
        </p:nvSpPr>
        <p:spPr>
          <a:xfrm>
            <a:off x="6473952" y="2578608"/>
            <a:ext cx="4526280" cy="1417320"/>
          </a:xfrm>
          <a:prstGeom prst="rect">
            <a:avLst/>
          </a:prstGeom>
          <a:noFill/>
        </p:spPr>
        <p:txBody>
          <a:bodyPr wrap="square" anchor="t" lIns="36576" rIns="36576" tIns="36576" bIns="36576">
            <a:spAutoFit/>
          </a:bodyPr>
          <a:lstStyle/>
          <a:p>
            <a:pPr algn="l">
              <a:spcAft>
                <a:spcPts val="0"/>
              </a:spcAft>
            </a:pPr>
            <a:r>
              <a:rPr sz="1500" b="1">
                <a:solidFill>
                  <a:srgbClr val="172433"/>
                </a:solidFill>
                <a:latin typeface="Arial"/>
              </a:rPr>
              <a:t>The contract covers products, customers and orders, names 200/201/204/401/404/409/422 outcomes and validates as OpenAPI 3.1.</a:t>
            </a:r>
          </a:p>
        </p:txBody>
      </p:sp>
      <p:sp>
        <p:nvSpPr>
          <p:cNvPr id="14" name="TextBox 13"/>
          <p:cNvSpPr txBox="1"/>
          <p:nvPr/>
        </p:nvSpPr>
        <p:spPr>
          <a:xfrm>
            <a:off x="6473952" y="4279392"/>
            <a:ext cx="4526280" cy="237744"/>
          </a:xfrm>
          <a:prstGeom prst="rect">
            <a:avLst/>
          </a:prstGeom>
          <a:noFill/>
        </p:spPr>
        <p:txBody>
          <a:bodyPr wrap="square" anchor="t" lIns="36576" rIns="36576" tIns="36576" bIns="36576">
            <a:spAutoFit/>
          </a:bodyPr>
          <a:lstStyle/>
          <a:p>
            <a:pPr algn="l">
              <a:spcAft>
                <a:spcPts val="0"/>
              </a:spcAft>
            </a:pPr>
            <a:r>
              <a:rPr sz="1000" b="1">
                <a:solidFill>
                  <a:srgbClr val="7C3AED"/>
                </a:solidFill>
                <a:latin typeface="Arial"/>
              </a:rPr>
              <a:t>ABILITY TRACE</a:t>
            </a:r>
          </a:p>
        </p:txBody>
      </p:sp>
      <p:sp>
        <p:nvSpPr>
          <p:cNvPr id="15" name="TextBox 14"/>
          <p:cNvSpPr txBox="1"/>
          <p:nvPr/>
        </p:nvSpPr>
        <p:spPr>
          <a:xfrm>
            <a:off x="6473952" y="4645152"/>
            <a:ext cx="4526280" cy="438912"/>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A1, A2</a:t>
            </a:r>
          </a:p>
        </p:txBody>
      </p:sp>
      <p:sp>
        <p:nvSpPr>
          <p:cNvPr id="16" name="TextBox 1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7" name="TextBox 1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8" name="TextBox 17"/>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OpenAPI contract + lab prompt</a:t>
            </a:r>
          </a:p>
        </p:txBody>
      </p:sp>
      <p:sp>
        <p:nvSpPr>
          <p:cNvPr id="19" name="TextBox 1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46</a:t>
            </a:r>
          </a:p>
        </p:txBody>
      </p:sp>
    </p:spTree>
  </p:cSld>
  <p:transition spd="fast">
    <p:fade/>
  </p:transition>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02 · SCENARIO</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Run the First FastAPI Service</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74519"/>
            <a:ext cx="6675120" cy="3611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212848"/>
            <a:ext cx="6035040" cy="34747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DESIGN CHALLENGE</a:t>
            </a:r>
          </a:p>
        </p:txBody>
      </p:sp>
      <p:sp>
        <p:nvSpPr>
          <p:cNvPr id="9" name="TextBox 8"/>
          <p:cNvSpPr txBox="1"/>
          <p:nvPr/>
        </p:nvSpPr>
        <p:spPr>
          <a:xfrm>
            <a:off x="1078992" y="2743200"/>
            <a:ext cx="5989320" cy="1097280"/>
          </a:xfrm>
          <a:prstGeom prst="rect">
            <a:avLst/>
          </a:prstGeom>
          <a:noFill/>
        </p:spPr>
        <p:txBody>
          <a:bodyPr wrap="square" anchor="t" lIns="36576" rIns="36576" tIns="36576" bIns="36576">
            <a:spAutoFit/>
          </a:bodyPr>
          <a:lstStyle/>
          <a:p>
            <a:pPr algn="l">
              <a:spcAft>
                <a:spcPts val="0"/>
              </a:spcAft>
            </a:pPr>
            <a:r>
              <a:rPr sz="2200" b="1">
                <a:solidFill>
                  <a:srgbClr val="172433"/>
                </a:solidFill>
                <a:latin typeface="Arial"/>
              </a:rPr>
              <a:t>Create and verify a typed product endpoint and its generated OpenAPI documentation.</a:t>
            </a:r>
          </a:p>
        </p:txBody>
      </p:sp>
      <p:sp>
        <p:nvSpPr>
          <p:cNvPr id="10" name="TextBox 9"/>
          <p:cNvSpPr txBox="1"/>
          <p:nvPr/>
        </p:nvSpPr>
        <p:spPr>
          <a:xfrm>
            <a:off x="1078992" y="4187952"/>
            <a:ext cx="5989320" cy="731520"/>
          </a:xfrm>
          <a:prstGeom prst="rect">
            <a:avLst/>
          </a:prstGeom>
          <a:noFill/>
        </p:spPr>
        <p:txBody>
          <a:bodyPr wrap="square" anchor="t" lIns="36576" rIns="36576" tIns="36576" bIns="36576">
            <a:spAutoFit/>
          </a:bodyPr>
          <a:lstStyle/>
          <a:p>
            <a:pPr algn="l">
              <a:spcAft>
                <a:spcPts val="0"/>
              </a:spcAft>
            </a:pPr>
            <a:r>
              <a:rPr sz="1400" b="0">
                <a:solidFill>
                  <a:srgbClr val="475569"/>
                </a:solidFill>
                <a:latin typeface="Arial"/>
              </a:rPr>
              <a:t>Build: main.py with /health and /api/v1/products routes</a:t>
            </a:r>
          </a:p>
        </p:txBody>
      </p:sp>
      <p:sp>
        <p:nvSpPr>
          <p:cNvPr id="11" name="Rounded Rectangle 10"/>
          <p:cNvSpPr/>
          <p:nvPr/>
        </p:nvSpPr>
        <p:spPr>
          <a:xfrm>
            <a:off x="7754112" y="1874519"/>
            <a:ext cx="3611880" cy="3611880"/>
          </a:xfrm>
          <a:prstGeom prst="roundRect">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19872" y="2249424"/>
            <a:ext cx="2880360" cy="274320"/>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TOOLS</a:t>
            </a:r>
          </a:p>
        </p:txBody>
      </p:sp>
      <p:sp>
        <p:nvSpPr>
          <p:cNvPr id="13" name="TextBox 12"/>
          <p:cNvSpPr txBox="1"/>
          <p:nvPr/>
        </p:nvSpPr>
        <p:spPr>
          <a:xfrm>
            <a:off x="8119872" y="2724912"/>
            <a:ext cx="2834640" cy="914400"/>
          </a:xfrm>
          <a:prstGeom prst="rect">
            <a:avLst/>
          </a:prstGeom>
          <a:noFill/>
        </p:spPr>
        <p:txBody>
          <a:bodyPr wrap="square" anchor="t" lIns="36576" rIns="36576" tIns="36576" bIns="36576">
            <a:spAutoFit/>
          </a:bodyPr>
          <a:lstStyle/>
          <a:p>
            <a:pPr algn="l">
              <a:spcAft>
                <a:spcPts val="0"/>
              </a:spcAft>
            </a:pPr>
            <a:r>
              <a:rPr sz="1600" b="1">
                <a:solidFill>
                  <a:srgbClr val="172433"/>
                </a:solidFill>
                <a:latin typeface="Arial"/>
              </a:rPr>
              <a:t>Python, FastAPI, Uvicorn, Swagger UI, OpenAI Python SDK</a:t>
            </a:r>
          </a:p>
        </p:txBody>
      </p:sp>
      <p:sp>
        <p:nvSpPr>
          <p:cNvPr id="14" name="TextBox 13"/>
          <p:cNvSpPr txBox="1"/>
          <p:nvPr/>
        </p:nvSpPr>
        <p:spPr>
          <a:xfrm>
            <a:off x="8119872" y="3886200"/>
            <a:ext cx="2834640" cy="786384"/>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Detailed procedure: Learner Guide + lab README</a:t>
            </a:r>
          </a:p>
        </p:txBody>
      </p:sp>
      <p:sp>
        <p:nvSpPr>
          <p:cNvPr id="15" name="TextBox 14"/>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6" name="TextBox 15"/>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7" name="TextBox 16"/>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47</a:t>
            </a:r>
          </a:p>
        </p:txBody>
      </p:sp>
    </p:spTree>
  </p:cSld>
  <p:transition spd="fast">
    <p:fade/>
  </p:transition>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LAB 02 · PROMPT ARTIFACT</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Prompt submitted by ai_vibe.py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7452360" cy="4005072"/>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121408"/>
            <a:ext cx="6858000" cy="274320"/>
          </a:xfrm>
          <a:prstGeom prst="rect">
            <a:avLst/>
          </a:prstGeom>
          <a:noFill/>
        </p:spPr>
        <p:txBody>
          <a:bodyPr wrap="square" anchor="t" lIns="36576" rIns="36576" tIns="36576" bIns="36576">
            <a:spAutoFit/>
          </a:bodyPr>
          <a:lstStyle/>
          <a:p>
            <a:pPr algn="l">
              <a:spcAft>
                <a:spcPts val="0"/>
              </a:spcAft>
            </a:pPr>
            <a:r>
              <a:rPr sz="1000" b="1">
                <a:solidFill>
                  <a:srgbClr val="06B6D4"/>
                </a:solidFill>
                <a:latin typeface="Arial"/>
              </a:rPr>
              <a:t>LEARNER PROMPT</a:t>
            </a:r>
          </a:p>
        </p:txBody>
      </p:sp>
      <p:sp>
        <p:nvSpPr>
          <p:cNvPr id="9" name="TextBox 8"/>
          <p:cNvSpPr txBox="1"/>
          <p:nvPr/>
        </p:nvSpPr>
        <p:spPr>
          <a:xfrm>
            <a:off x="1051560" y="2596896"/>
            <a:ext cx="6821424" cy="2880360"/>
          </a:xfrm>
          <a:prstGeom prst="rect">
            <a:avLst/>
          </a:prstGeom>
          <a:noFill/>
        </p:spPr>
        <p:txBody>
          <a:bodyPr wrap="square" anchor="t" lIns="36576" rIns="36576" tIns="36576" bIns="36576">
            <a:spAutoFit/>
          </a:bodyPr>
          <a:lstStyle/>
          <a:p>
            <a:pPr algn="l">
              <a:spcAft>
                <a:spcPts val="0"/>
              </a:spcAft>
            </a:pPr>
            <a:r>
              <a:rPr sz="1320" b="0">
                <a:solidFill>
                  <a:srgbClr val="D1FAE5"/>
                </a:solidFill>
                <a:latin typeface="Consolas"/>
              </a:rPr>
              <a:t>You are working on Lab 02 of a Northstar Commerce API. Generate the smallest typed FastAPI service with GET /health, GET /api/v1/products and GET /api/v1/products/{product_id}. Use Pydantic response models, integer path validation and OpenAPI summaries. Add TestClient tests for health, route inventory and a non-integer product id returning structured 422 JSON.</a:t>
            </a:r>
          </a:p>
        </p:txBody>
      </p:sp>
      <p:sp>
        <p:nvSpPr>
          <p:cNvPr id="10" name="Rounded Rectangle 9"/>
          <p:cNvSpPr/>
          <p:nvPr/>
        </p:nvSpPr>
        <p:spPr>
          <a:xfrm>
            <a:off x="8439912" y="1847088"/>
            <a:ext cx="2944368" cy="400507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14232" y="2130552"/>
            <a:ext cx="2377440" cy="256032"/>
          </a:xfrm>
          <a:prstGeom prst="rect">
            <a:avLst/>
          </a:prstGeom>
          <a:noFill/>
        </p:spPr>
        <p:txBody>
          <a:bodyPr wrap="square" anchor="t" lIns="36576" rIns="36576" tIns="36576" bIns="36576">
            <a:spAutoFit/>
          </a:bodyPr>
          <a:lstStyle/>
          <a:p>
            <a:pPr algn="l">
              <a:spcAft>
                <a:spcPts val="0"/>
              </a:spcAft>
            </a:pPr>
            <a:r>
              <a:rPr sz="950" b="1">
                <a:solidFill>
                  <a:srgbClr val="7C3AED"/>
                </a:solidFill>
                <a:latin typeface="Arial"/>
              </a:rPr>
              <a:t>PYTHON SDK ENVELOPE</a:t>
            </a:r>
          </a:p>
        </p:txBody>
      </p:sp>
      <p:sp>
        <p:nvSpPr>
          <p:cNvPr id="12" name="Rounded Rectangle 11"/>
          <p:cNvSpPr/>
          <p:nvPr/>
        </p:nvSpPr>
        <p:spPr>
          <a:xfrm>
            <a:off x="8714232" y="2615184"/>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07424" y="2578608"/>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Prompts.pdf</a:t>
            </a:r>
          </a:p>
        </p:txBody>
      </p:sp>
      <p:sp>
        <p:nvSpPr>
          <p:cNvPr id="14" name="Rounded Rectangle 13"/>
          <p:cNvSpPr/>
          <p:nvPr/>
        </p:nvSpPr>
        <p:spPr>
          <a:xfrm>
            <a:off x="8714232" y="3081528"/>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07424" y="3044952"/>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mock-data.json</a:t>
            </a:r>
          </a:p>
        </p:txBody>
      </p:sp>
      <p:sp>
        <p:nvSpPr>
          <p:cNvPr id="16" name="Rounded Rectangle 15"/>
          <p:cNvSpPr/>
          <p:nvPr/>
        </p:nvSpPr>
        <p:spPr>
          <a:xfrm>
            <a:off x="8714232" y="3547872"/>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07424" y="3511296"/>
            <a:ext cx="1874519" cy="274320"/>
          </a:xfrm>
          <a:prstGeom prst="rect">
            <a:avLst/>
          </a:prstGeom>
          <a:noFill/>
        </p:spPr>
        <p:txBody>
          <a:bodyPr wrap="square" anchor="t" lIns="36576" rIns="36576" tIns="36576" bIns="36576">
            <a:spAutoFit/>
          </a:bodyPr>
          <a:lstStyle/>
          <a:p>
            <a:pPr algn="l">
              <a:spcAft>
                <a:spcPts val="0"/>
              </a:spcAft>
            </a:pPr>
            <a:r>
              <a:rPr sz="1050" b="1">
                <a:solidFill>
                  <a:srgbClr val="172433"/>
                </a:solidFill>
                <a:latin typeface="Arial"/>
              </a:rPr>
              <a:t>responses.parse</a:t>
            </a:r>
          </a:p>
        </p:txBody>
      </p:sp>
      <p:sp>
        <p:nvSpPr>
          <p:cNvPr id="18" name="Rounded Rectangle 17"/>
          <p:cNvSpPr/>
          <p:nvPr/>
        </p:nvSpPr>
        <p:spPr>
          <a:xfrm>
            <a:off x="8714232" y="4014215"/>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07424" y="3977639"/>
            <a:ext cx="1874519" cy="274320"/>
          </a:xfrm>
          <a:prstGeom prst="rect">
            <a:avLst/>
          </a:prstGeom>
          <a:noFill/>
        </p:spPr>
        <p:txBody>
          <a:bodyPr wrap="square" anchor="t" lIns="36576" rIns="36576" tIns="36576" bIns="36576">
            <a:spAutoFit/>
          </a:bodyPr>
          <a:lstStyle/>
          <a:p>
            <a:pPr algn="l">
              <a:spcAft>
                <a:spcPts val="0"/>
              </a:spcAft>
            </a:pPr>
            <a:r>
              <a:rPr sz="1050" b="1">
                <a:solidFill>
                  <a:srgbClr val="172433"/>
                </a:solidFill>
                <a:latin typeface="Arial"/>
              </a:rPr>
              <a:t>CodeBundle</a:t>
            </a:r>
          </a:p>
        </p:txBody>
      </p:sp>
      <p:sp>
        <p:nvSpPr>
          <p:cNvPr id="20" name="Rounded Rectangle 19"/>
          <p:cNvSpPr/>
          <p:nvPr/>
        </p:nvSpPr>
        <p:spPr>
          <a:xfrm>
            <a:off x="8714232" y="4480560"/>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07424" y="4443984"/>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generated/</a:t>
            </a:r>
          </a:p>
        </p:txBody>
      </p:sp>
      <p:sp>
        <p:nvSpPr>
          <p:cNvPr id="22" name="Rounded Rectangle 21"/>
          <p:cNvSpPr/>
          <p:nvPr/>
        </p:nvSpPr>
        <p:spPr>
          <a:xfrm>
            <a:off x="8714232" y="4946904"/>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07424" y="4910328"/>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pytest + review</a:t>
            </a:r>
          </a:p>
        </p:txBody>
      </p:sp>
      <p:sp>
        <p:nvSpPr>
          <p:cNvPr id="24" name="TextBox 23"/>
          <p:cNvSpPr txBox="1"/>
          <p:nvPr/>
        </p:nvSpPr>
        <p:spPr>
          <a:xfrm>
            <a:off x="8714232" y="5468112"/>
            <a:ext cx="2148840" cy="219456"/>
          </a:xfrm>
          <a:prstGeom prst="rect">
            <a:avLst/>
          </a:prstGeom>
          <a:noFill/>
        </p:spPr>
        <p:txBody>
          <a:bodyPr wrap="square" anchor="t" lIns="36576" rIns="36576" tIns="36576" bIns="36576">
            <a:spAutoFit/>
          </a:bodyPr>
          <a:lstStyle/>
          <a:p>
            <a:pPr algn="l">
              <a:spcAft>
                <a:spcPts val="0"/>
              </a:spcAft>
            </a:pPr>
            <a:r>
              <a:rPr sz="950" b="1">
                <a:solidFill>
                  <a:srgbClr val="10B981"/>
                </a:solidFill>
                <a:latin typeface="Arial"/>
              </a:rPr>
              <a:t>Full prompt + refinement</a:t>
            </a:r>
          </a:p>
        </p:txBody>
      </p:sp>
      <p:sp>
        <p:nvSpPr>
          <p:cNvPr id="25" name="TextBox 24"/>
          <p:cNvSpPr txBox="1"/>
          <p:nvPr/>
        </p:nvSpPr>
        <p:spPr>
          <a:xfrm>
            <a:off x="8714232" y="5650992"/>
            <a:ext cx="2148840" cy="219456"/>
          </a:xfrm>
          <a:prstGeom prst="rect">
            <a:avLst/>
          </a:prstGeom>
          <a:noFill/>
        </p:spPr>
        <p:txBody>
          <a:bodyPr wrap="square" anchor="t" lIns="36576" rIns="36576" tIns="36576" bIns="36576">
            <a:spAutoFit/>
          </a:bodyPr>
          <a:lstStyle/>
          <a:p>
            <a:pPr algn="l">
              <a:spcAft>
                <a:spcPts val="0"/>
              </a:spcAft>
            </a:pPr>
            <a:r>
              <a:rPr sz="950" b="0">
                <a:solidFill>
                  <a:srgbClr val="475569"/>
                </a:solidFill>
                <a:latin typeface="Arial"/>
              </a:rPr>
              <a:t>in the lab Prompts.pdf</a:t>
            </a:r>
          </a:p>
        </p:txBody>
      </p:sp>
      <p:sp>
        <p:nvSpPr>
          <p:cNvPr id="26" name="TextBox 2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7" name="TextBox 2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8" name="TextBox 27"/>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OpenAI Python SDK</a:t>
            </a:r>
          </a:p>
        </p:txBody>
      </p:sp>
      <p:sp>
        <p:nvSpPr>
          <p:cNvPr id="29" name="TextBox 2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48</a:t>
            </a:r>
          </a:p>
        </p:txBody>
      </p:sp>
    </p:spTree>
  </p:cSld>
  <p:transition spd="fast">
    <p:fade/>
  </p:transition>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02 · MECHANISM</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How Run the First FastAPI Service works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665351"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5351"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1</a:t>
            </a:r>
          </a:p>
        </p:txBody>
      </p:sp>
      <p:sp>
        <p:nvSpPr>
          <p:cNvPr id="10" name="TextBox 9"/>
          <p:cNvSpPr txBox="1"/>
          <p:nvPr/>
        </p:nvSpPr>
        <p:spPr>
          <a:xfrm>
            <a:off x="859536"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Input contract</a:t>
            </a:r>
          </a:p>
        </p:txBody>
      </p:sp>
      <p:sp>
        <p:nvSpPr>
          <p:cNvPr id="11" name="TextBox 10"/>
          <p:cNvSpPr txBox="1"/>
          <p:nvPr/>
        </p:nvSpPr>
        <p:spPr>
          <a:xfrm>
            <a:off x="886968"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Create and verify a typed product endpoint and its generated OpenAPI documentation.</a:t>
            </a:r>
          </a:p>
        </p:txBody>
      </p:sp>
      <p:sp>
        <p:nvSpPr>
          <p:cNvPr id="12" name="Rounded Rectangle 11"/>
          <p:cNvSpPr/>
          <p:nvPr/>
        </p:nvSpPr>
        <p:spPr>
          <a:xfrm>
            <a:off x="3477006"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92549"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92549"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2</a:t>
            </a:r>
          </a:p>
        </p:txBody>
      </p:sp>
      <p:sp>
        <p:nvSpPr>
          <p:cNvPr id="15" name="TextBox 14"/>
          <p:cNvSpPr txBox="1"/>
          <p:nvPr/>
        </p:nvSpPr>
        <p:spPr>
          <a:xfrm>
            <a:off x="3586734"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Boundary validation</a:t>
            </a:r>
          </a:p>
        </p:txBody>
      </p:sp>
      <p:sp>
        <p:nvSpPr>
          <p:cNvPr id="16" name="TextBox 15"/>
          <p:cNvSpPr txBox="1"/>
          <p:nvPr/>
        </p:nvSpPr>
        <p:spPr>
          <a:xfrm>
            <a:off x="3614166"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Reject invalid or unauthorised input</a:t>
            </a:r>
          </a:p>
        </p:txBody>
      </p:sp>
      <p:sp>
        <p:nvSpPr>
          <p:cNvPr id="17" name="Rounded Rectangle 16"/>
          <p:cNvSpPr/>
          <p:nvPr/>
        </p:nvSpPr>
        <p:spPr>
          <a:xfrm>
            <a:off x="6204204"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119747"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9747"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3</a:t>
            </a:r>
          </a:p>
        </p:txBody>
      </p:sp>
      <p:sp>
        <p:nvSpPr>
          <p:cNvPr id="20" name="TextBox 19"/>
          <p:cNvSpPr txBox="1"/>
          <p:nvPr/>
        </p:nvSpPr>
        <p:spPr>
          <a:xfrm>
            <a:off x="6313932"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Business decision</a:t>
            </a:r>
          </a:p>
        </p:txBody>
      </p:sp>
      <p:sp>
        <p:nvSpPr>
          <p:cNvPr id="21" name="TextBox 20"/>
          <p:cNvSpPr txBox="1"/>
          <p:nvPr/>
        </p:nvSpPr>
        <p:spPr>
          <a:xfrm>
            <a:off x="6341364"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Apply one explicit rule</a:t>
            </a:r>
          </a:p>
        </p:txBody>
      </p:sp>
      <p:sp>
        <p:nvSpPr>
          <p:cNvPr id="22" name="Rounded Rectangle 21"/>
          <p:cNvSpPr/>
          <p:nvPr/>
        </p:nvSpPr>
        <p:spPr>
          <a:xfrm>
            <a:off x="8931402"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46945"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46945"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4</a:t>
            </a:r>
          </a:p>
        </p:txBody>
      </p:sp>
      <p:sp>
        <p:nvSpPr>
          <p:cNvPr id="25" name="TextBox 24"/>
          <p:cNvSpPr txBox="1"/>
          <p:nvPr/>
        </p:nvSpPr>
        <p:spPr>
          <a:xfrm>
            <a:off x="9041130"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State/evidence</a:t>
            </a:r>
          </a:p>
        </p:txBody>
      </p:sp>
      <p:sp>
        <p:nvSpPr>
          <p:cNvPr id="26" name="TextBox 25"/>
          <p:cNvSpPr txBox="1"/>
          <p:nvPr/>
        </p:nvSpPr>
        <p:spPr>
          <a:xfrm>
            <a:off x="9068562"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GET /health/live returns 200; /docs lists the product route; invalid path input returns structured 422 JSON.</a:t>
            </a:r>
          </a:p>
        </p:txBody>
      </p:sp>
      <p:sp>
        <p:nvSpPr>
          <p:cNvPr id="27" name="TextBox 26"/>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8" name="TextBox 27"/>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9" name="TextBox 2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49</a:t>
            </a:r>
          </a:p>
        </p:txBody>
      </p:sp>
    </p:spTree>
  </p:cSld>
  <p:transition spd="fast">
    <p:fade/>
  </p:transition>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02 ·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main.py with /health and /api/v1/products routes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01952"/>
            <a:ext cx="6812280" cy="3611880"/>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194560"/>
            <a:ext cx="6144768" cy="3063240"/>
          </a:xfrm>
          <a:prstGeom prst="rect">
            <a:avLst/>
          </a:prstGeom>
          <a:noFill/>
        </p:spPr>
        <p:txBody>
          <a:bodyPr wrap="square" anchor="t" lIns="36576" rIns="36576" tIns="36576" bIns="36576">
            <a:spAutoFit/>
          </a:bodyPr>
          <a:lstStyle/>
          <a:p>
            <a:pPr algn="l">
              <a:spcAft>
                <a:spcPts val="0"/>
              </a:spcAft>
            </a:pPr>
            <a:r>
              <a:rPr sz="1250" b="0">
                <a:solidFill>
                  <a:srgbClr val="A7F3D0"/>
                </a:solidFill>
                <a:latin typeface="Consolas"/>
              </a:rPr>
              <a:t>REQUEST
  lab: 02
  objective: Create and verify a typed product endpoint and its
             generated OpenAPI documentation.
EXPECTED EVIDENCE
  artifact: main.py with /health and /api/v1/products routes
  codes: A1, A4
  status: verified</a:t>
            </a:r>
          </a:p>
        </p:txBody>
      </p:sp>
      <p:sp>
        <p:nvSpPr>
          <p:cNvPr id="9" name="Rounded Rectangle 8"/>
          <p:cNvSpPr/>
          <p:nvPr/>
        </p:nvSpPr>
        <p:spPr>
          <a:xfrm>
            <a:off x="7882127" y="1901952"/>
            <a:ext cx="3493008" cy="3611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2212848"/>
            <a:ext cx="2880360" cy="310896"/>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ASSESSMENT BRIDGE</a:t>
            </a:r>
          </a:p>
        </p:txBody>
      </p:sp>
      <p:sp>
        <p:nvSpPr>
          <p:cNvPr id="11" name="TextBox 10"/>
          <p:cNvSpPr txBox="1"/>
          <p:nvPr/>
        </p:nvSpPr>
        <p:spPr>
          <a:xfrm>
            <a:off x="8193024" y="2761488"/>
            <a:ext cx="2834640" cy="1051560"/>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Ability codes
A1, A4</a:t>
            </a:r>
          </a:p>
        </p:txBody>
      </p:sp>
      <p:sp>
        <p:nvSpPr>
          <p:cNvPr id="12" name="TextBox 11"/>
          <p:cNvSpPr txBox="1"/>
          <p:nvPr/>
        </p:nvSpPr>
        <p:spPr>
          <a:xfrm>
            <a:off x="8193024" y="4160520"/>
            <a:ext cx="2788920" cy="685800"/>
          </a:xfrm>
          <a:prstGeom prst="rect">
            <a:avLst/>
          </a:prstGeom>
          <a:noFill/>
        </p:spPr>
        <p:txBody>
          <a:bodyPr wrap="square" anchor="t" lIns="36576" rIns="36576" tIns="36576" bIns="36576">
            <a:spAutoFit/>
          </a:bodyPr>
          <a:lstStyle/>
          <a:p>
            <a:pPr algn="l">
              <a:spcAft>
                <a:spcPts val="0"/>
              </a:spcAft>
            </a:pPr>
            <a:r>
              <a:rPr sz="1100" b="0">
                <a:solidFill>
                  <a:srgbClr val="475569"/>
                </a:solidFill>
                <a:latin typeface="Arial"/>
              </a:rPr>
              <a:t>Capture a screenshot, terminal output or test result that proves the acceptance criterion.</a:t>
            </a:r>
          </a:p>
        </p:txBody>
      </p:sp>
      <p:sp>
        <p:nvSpPr>
          <p:cNvPr id="13" name="TextBox 1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4" name="TextBox 1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5" name="TextBox 14"/>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50</a:t>
            </a:r>
          </a:p>
        </p:txBody>
      </p:sp>
    </p:spTree>
  </p:cSld>
  <p:transition spd="fast">
    <p:fade/>
  </p:transition>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02 · VERIFY</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Acceptance and diagnosis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74519"/>
            <a:ext cx="5166360" cy="3611880"/>
          </a:xfrm>
          <a:prstGeom prst="roundRect">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240280"/>
            <a:ext cx="4526280" cy="310896"/>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PASS WHEN</a:t>
            </a:r>
          </a:p>
        </p:txBody>
      </p:sp>
      <p:sp>
        <p:nvSpPr>
          <p:cNvPr id="9" name="TextBox 8"/>
          <p:cNvSpPr txBox="1"/>
          <p:nvPr/>
        </p:nvSpPr>
        <p:spPr>
          <a:xfrm>
            <a:off x="1078992" y="2798064"/>
            <a:ext cx="4498848" cy="1600200"/>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GET /health/live returns 200; /docs lists the product route; invalid path input returns structured 422 JSON.</a:t>
            </a:r>
          </a:p>
        </p:txBody>
      </p:sp>
      <p:sp>
        <p:nvSpPr>
          <p:cNvPr id="10" name="Rounded Rectangle 9"/>
          <p:cNvSpPr/>
          <p:nvPr/>
        </p:nvSpPr>
        <p:spPr>
          <a:xfrm>
            <a:off x="6217920" y="1874519"/>
            <a:ext cx="5148072" cy="3611880"/>
          </a:xfrm>
          <a:prstGeom prst="roundRect">
            <a:avLst/>
          </a:prstGeom>
          <a:solidFill>
            <a:srgbClr val="FEF2F2"/>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56248" y="2240280"/>
            <a:ext cx="4480560" cy="310896"/>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DIAGNOSE</a:t>
            </a:r>
          </a:p>
        </p:txBody>
      </p:sp>
      <p:sp>
        <p:nvSpPr>
          <p:cNvPr id="12" name="TextBox 11"/>
          <p:cNvSpPr txBox="1"/>
          <p:nvPr/>
        </p:nvSpPr>
        <p:spPr>
          <a:xfrm>
            <a:off x="6556248" y="277063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1. Inspect HTTP status and response body</a:t>
            </a:r>
          </a:p>
        </p:txBody>
      </p:sp>
      <p:sp>
        <p:nvSpPr>
          <p:cNvPr id="13" name="TextBox 12"/>
          <p:cNvSpPr txBox="1"/>
          <p:nvPr/>
        </p:nvSpPr>
        <p:spPr>
          <a:xfrm>
            <a:off x="6556248" y="327355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2. Check request fields and headers</a:t>
            </a:r>
          </a:p>
        </p:txBody>
      </p:sp>
      <p:sp>
        <p:nvSpPr>
          <p:cNvPr id="14" name="TextBox 13"/>
          <p:cNvSpPr txBox="1"/>
          <p:nvPr/>
        </p:nvSpPr>
        <p:spPr>
          <a:xfrm>
            <a:off x="6556248" y="377647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3. Follow request ID into logs</a:t>
            </a:r>
          </a:p>
        </p:txBody>
      </p:sp>
      <p:sp>
        <p:nvSpPr>
          <p:cNvPr id="15" name="TextBox 14"/>
          <p:cNvSpPr txBox="1"/>
          <p:nvPr/>
        </p:nvSpPr>
        <p:spPr>
          <a:xfrm>
            <a:off x="6556248" y="427939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4. Re-run the smallest failing test</a:t>
            </a:r>
          </a:p>
        </p:txBody>
      </p:sp>
      <p:sp>
        <p:nvSpPr>
          <p:cNvPr id="16" name="TextBox 1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7" name="TextBox 1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8" name="TextBox 17"/>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51</a:t>
            </a:r>
          </a:p>
        </p:txBody>
      </p:sp>
    </p:spTree>
  </p:cSld>
  <p:transition spd="fast">
    <p:fade/>
  </p:transition>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LAB 02 · CONTRACT REVIEW</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Prompt output must preserve the API boundary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02352" cy="3730752"/>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176272"/>
            <a:ext cx="4434840" cy="420624"/>
          </a:xfrm>
          <a:prstGeom prst="rect">
            <a:avLst/>
          </a:prstGeom>
          <a:noFill/>
        </p:spPr>
        <p:txBody>
          <a:bodyPr wrap="square" anchor="t" lIns="36576" rIns="36576" tIns="36576" bIns="36576">
            <a:spAutoFit/>
          </a:bodyPr>
          <a:lstStyle/>
          <a:p>
            <a:pPr algn="l">
              <a:spcAft>
                <a:spcPts val="0"/>
              </a:spcAft>
            </a:pPr>
            <a:r>
              <a:rPr sz="1000" b="1">
                <a:solidFill>
                  <a:srgbClr val="D1FAE5"/>
                </a:solidFill>
                <a:latin typeface="Arial"/>
              </a:rPr>
              <a:t>TARGET FILES</a:t>
            </a:r>
          </a:p>
        </p:txBody>
      </p:sp>
      <p:sp>
        <p:nvSpPr>
          <p:cNvPr id="9" name="TextBox 8"/>
          <p:cNvSpPr txBox="1"/>
          <p:nvPr/>
        </p:nvSpPr>
        <p:spPr>
          <a:xfrm>
            <a:off x="1078992" y="2743200"/>
            <a:ext cx="4434840" cy="420624"/>
          </a:xfrm>
          <a:prstGeom prst="rect">
            <a:avLst/>
          </a:prstGeom>
          <a:noFill/>
        </p:spPr>
        <p:txBody>
          <a:bodyPr wrap="square" anchor="t" lIns="36576" rIns="36576" tIns="36576" bIns="36576">
            <a:spAutoFit/>
          </a:bodyPr>
          <a:lstStyle/>
          <a:p>
            <a:pPr algn="l">
              <a:spcAft>
                <a:spcPts val="0"/>
              </a:spcAft>
            </a:pPr>
            <a:r>
              <a:rPr sz="1100" b="0">
                <a:solidFill>
                  <a:srgbClr val="D1FAE5"/>
                </a:solidFill>
                <a:latin typeface="Consolas"/>
              </a:rPr>
              <a:t>app/main.py</a:t>
            </a:r>
          </a:p>
        </p:txBody>
      </p:sp>
      <p:sp>
        <p:nvSpPr>
          <p:cNvPr id="10" name="TextBox 9"/>
          <p:cNvSpPr txBox="1"/>
          <p:nvPr/>
        </p:nvSpPr>
        <p:spPr>
          <a:xfrm>
            <a:off x="1078992" y="3310128"/>
            <a:ext cx="4434840" cy="420624"/>
          </a:xfrm>
          <a:prstGeom prst="rect">
            <a:avLst/>
          </a:prstGeom>
          <a:noFill/>
        </p:spPr>
        <p:txBody>
          <a:bodyPr wrap="square" anchor="t" lIns="36576" rIns="36576" tIns="36576" bIns="36576">
            <a:spAutoFit/>
          </a:bodyPr>
          <a:lstStyle/>
          <a:p>
            <a:pPr algn="l">
              <a:spcAft>
                <a:spcPts val="0"/>
              </a:spcAft>
            </a:pPr>
            <a:r>
              <a:rPr sz="1100" b="0">
                <a:solidFill>
                  <a:srgbClr val="D1FAE5"/>
                </a:solidFill>
                <a:latin typeface="Consolas"/>
              </a:rPr>
              <a:t>tests/test_health.py</a:t>
            </a:r>
          </a:p>
        </p:txBody>
      </p:sp>
      <p:sp>
        <p:nvSpPr>
          <p:cNvPr id="11" name="Rounded Rectangle 10"/>
          <p:cNvSpPr/>
          <p:nvPr/>
        </p:nvSpPr>
        <p:spPr>
          <a:xfrm>
            <a:off x="6144768" y="1847088"/>
            <a:ext cx="5230368" cy="373075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2176272"/>
            <a:ext cx="4526280" cy="237744"/>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ACCEPTANCE</a:t>
            </a:r>
          </a:p>
        </p:txBody>
      </p:sp>
      <p:sp>
        <p:nvSpPr>
          <p:cNvPr id="13" name="TextBox 12"/>
          <p:cNvSpPr txBox="1"/>
          <p:nvPr/>
        </p:nvSpPr>
        <p:spPr>
          <a:xfrm>
            <a:off x="6473952" y="2578608"/>
            <a:ext cx="4526280" cy="1417320"/>
          </a:xfrm>
          <a:prstGeom prst="rect">
            <a:avLst/>
          </a:prstGeom>
          <a:noFill/>
        </p:spPr>
        <p:txBody>
          <a:bodyPr wrap="square" anchor="t" lIns="36576" rIns="36576" tIns="36576" bIns="36576">
            <a:spAutoFit/>
          </a:bodyPr>
          <a:lstStyle/>
          <a:p>
            <a:pPr algn="l">
              <a:spcAft>
                <a:spcPts val="0"/>
              </a:spcAft>
            </a:pPr>
            <a:r>
              <a:rPr sz="1500" b="1">
                <a:solidFill>
                  <a:srgbClr val="172433"/>
                </a:solidFill>
                <a:latin typeface="Arial"/>
              </a:rPr>
              <a:t>GET /health/live returns 200; /docs lists the product route; invalid path input returns structured 422 JSON.</a:t>
            </a:r>
          </a:p>
        </p:txBody>
      </p:sp>
      <p:sp>
        <p:nvSpPr>
          <p:cNvPr id="14" name="TextBox 13"/>
          <p:cNvSpPr txBox="1"/>
          <p:nvPr/>
        </p:nvSpPr>
        <p:spPr>
          <a:xfrm>
            <a:off x="6473952" y="4279392"/>
            <a:ext cx="4526280" cy="237744"/>
          </a:xfrm>
          <a:prstGeom prst="rect">
            <a:avLst/>
          </a:prstGeom>
          <a:noFill/>
        </p:spPr>
        <p:txBody>
          <a:bodyPr wrap="square" anchor="t" lIns="36576" rIns="36576" tIns="36576" bIns="36576">
            <a:spAutoFit/>
          </a:bodyPr>
          <a:lstStyle/>
          <a:p>
            <a:pPr algn="l">
              <a:spcAft>
                <a:spcPts val="0"/>
              </a:spcAft>
            </a:pPr>
            <a:r>
              <a:rPr sz="1000" b="1">
                <a:solidFill>
                  <a:srgbClr val="7C3AED"/>
                </a:solidFill>
                <a:latin typeface="Arial"/>
              </a:rPr>
              <a:t>ABILITY TRACE</a:t>
            </a:r>
          </a:p>
        </p:txBody>
      </p:sp>
      <p:sp>
        <p:nvSpPr>
          <p:cNvPr id="15" name="TextBox 14"/>
          <p:cNvSpPr txBox="1"/>
          <p:nvPr/>
        </p:nvSpPr>
        <p:spPr>
          <a:xfrm>
            <a:off x="6473952" y="4645152"/>
            <a:ext cx="4526280" cy="438912"/>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A1, A4</a:t>
            </a:r>
          </a:p>
        </p:txBody>
      </p:sp>
      <p:sp>
        <p:nvSpPr>
          <p:cNvPr id="16" name="TextBox 1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7" name="TextBox 1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8" name="TextBox 17"/>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OpenAPI contract + lab prompt</a:t>
            </a:r>
          </a:p>
        </p:txBody>
      </p:sp>
      <p:sp>
        <p:nvSpPr>
          <p:cNvPr id="19" name="TextBox 1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52</a:t>
            </a:r>
          </a:p>
        </p:txBody>
      </p:sp>
    </p:spTree>
  </p:cSld>
  <p:transition spd="fast">
    <p:fade/>
  </p:transition>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hero-v1.png"/>
          <p:cNvPicPr>
            <a:picLocks noChangeAspect="1"/>
          </p:cNvPicPr>
          <p:nvPr/>
        </p:nvPicPr>
        <p:blipFill>
          <a:blip r:embed="rId2"/>
          <a:stretch>
            <a:fillRect/>
          </a:stretch>
        </p:blipFill>
        <p:spPr>
          <a:xfrm>
            <a:off x="6812280" y="0"/>
            <a:ext cx="5376672" cy="6858000"/>
          </a:xfrm>
          <a:prstGeom prst="rect">
            <a:avLst/>
          </a:prstGeom>
        </p:spPr>
      </p:pic>
      <p:sp>
        <p:nvSpPr>
          <p:cNvPr id="4" name="Rectangle 3"/>
          <p:cNvSpPr/>
          <p:nvPr/>
        </p:nvSpPr>
        <p:spPr>
          <a:xfrm>
            <a:off x="6812280" y="0"/>
            <a:ext cx="5376672"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024128"/>
            <a:ext cx="5212080" cy="274320"/>
          </a:xfrm>
          <a:prstGeom prst="rect">
            <a:avLst/>
          </a:prstGeom>
          <a:noFill/>
        </p:spPr>
        <p:txBody>
          <a:bodyPr wrap="square" anchor="t" lIns="36576" rIns="36576" tIns="36576" bIns="36576">
            <a:spAutoFit/>
          </a:bodyPr>
          <a:lstStyle/>
          <a:p>
            <a:pPr algn="l">
              <a:spcAft>
                <a:spcPts val="0"/>
              </a:spcAft>
            </a:pPr>
            <a:r>
              <a:rPr sz="1200" b="1">
                <a:solidFill>
                  <a:srgbClr val="06B6D4"/>
                </a:solidFill>
                <a:latin typeface="Arial"/>
              </a:rPr>
              <a:t>TOPIC 02</a:t>
            </a:r>
          </a:p>
        </p:txBody>
      </p:sp>
      <p:sp>
        <p:nvSpPr>
          <p:cNvPr id="6" name="TextBox 5"/>
          <p:cNvSpPr txBox="1"/>
          <p:nvPr/>
        </p:nvSpPr>
        <p:spPr>
          <a:xfrm>
            <a:off x="777240" y="1481328"/>
            <a:ext cx="5943600" cy="1874519"/>
          </a:xfrm>
          <a:prstGeom prst="rect">
            <a:avLst/>
          </a:prstGeom>
          <a:noFill/>
        </p:spPr>
        <p:txBody>
          <a:bodyPr wrap="square" anchor="t" lIns="36576" rIns="36576" tIns="36576" bIns="36576">
            <a:spAutoFit/>
          </a:bodyPr>
          <a:lstStyle/>
          <a:p>
            <a:pPr algn="l">
              <a:spcAft>
                <a:spcPts val="0"/>
              </a:spcAft>
            </a:pPr>
            <a:r>
              <a:rPr sz="3000" b="1">
                <a:solidFill>
                  <a:srgbClr val="FFFFFF"/>
                </a:solidFill>
                <a:latin typeface="Arial"/>
              </a:rPr>
              <a:t>AI-Assisted API Functions, Routing and Security</a:t>
            </a:r>
          </a:p>
        </p:txBody>
      </p:sp>
      <p:sp>
        <p:nvSpPr>
          <p:cNvPr id="7" name="TextBox 6"/>
          <p:cNvSpPr txBox="1"/>
          <p:nvPr/>
        </p:nvSpPr>
        <p:spPr>
          <a:xfrm>
            <a:off x="804672" y="3822191"/>
            <a:ext cx="5623560" cy="749808"/>
          </a:xfrm>
          <a:prstGeom prst="rect">
            <a:avLst/>
          </a:prstGeom>
          <a:noFill/>
        </p:spPr>
        <p:txBody>
          <a:bodyPr wrap="square" anchor="t" lIns="36576" rIns="36576" tIns="36576" bIns="36576">
            <a:spAutoFit/>
          </a:bodyPr>
          <a:lstStyle/>
          <a:p>
            <a:pPr algn="l">
              <a:spcAft>
                <a:spcPts val="0"/>
              </a:spcAft>
            </a:pPr>
            <a:r>
              <a:rPr sz="1600" b="0">
                <a:solidFill>
                  <a:srgbClr val="CBD5E1"/>
                </a:solidFill>
                <a:latin typeface="Arial"/>
              </a:rPr>
              <a:t>Routers · dependency injection · reusable services · CORS · API keys</a:t>
            </a:r>
          </a:p>
        </p:txBody>
      </p:sp>
      <p:sp>
        <p:nvSpPr>
          <p:cNvPr id="8" name="TextBox 7"/>
          <p:cNvSpPr txBox="1"/>
          <p:nvPr/>
        </p:nvSpPr>
        <p:spPr>
          <a:xfrm>
            <a:off x="731520" y="5074920"/>
            <a:ext cx="2194560" cy="822960"/>
          </a:xfrm>
          <a:prstGeom prst="rect">
            <a:avLst/>
          </a:prstGeom>
          <a:noFill/>
        </p:spPr>
        <p:txBody>
          <a:bodyPr wrap="square" anchor="t" lIns="36576" rIns="36576" tIns="36576" bIns="36576">
            <a:spAutoFit/>
          </a:bodyPr>
          <a:lstStyle/>
          <a:p>
            <a:pPr algn="l">
              <a:spcAft>
                <a:spcPts val="0"/>
              </a:spcAft>
            </a:pPr>
            <a:r>
              <a:rPr sz="6400" b="1">
                <a:solidFill>
                  <a:srgbClr val="06B6D4"/>
                </a:solidFill>
                <a:latin typeface="Arial"/>
              </a:rPr>
              <a:t>02</a:t>
            </a:r>
          </a:p>
        </p:txBody>
      </p:sp>
      <p:sp>
        <p:nvSpPr>
          <p:cNvPr id="9" name="TextBox 8"/>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0" name="TextBox 9"/>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1" name="TextBox 10"/>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53</a:t>
            </a:r>
          </a:p>
        </p:txBody>
      </p:sp>
    </p:spTree>
  </p:cSld>
  <p:transition spd="med">
    <p:push/>
  </p:transition>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06B6D4"/>
                </a:solidFill>
                <a:latin typeface="Arial"/>
              </a:rPr>
              <a:t>TOPIC 02 · ARCH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Separate transport from business logic</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Thin route functions translate HTTP; service functions express rules independently of the web framework.</a:t>
            </a:r>
          </a:p>
        </p:txBody>
      </p:sp>
      <p:sp>
        <p:nvSpPr>
          <p:cNvPr id="8" name="Rounded Rectangle 7"/>
          <p:cNvSpPr/>
          <p:nvPr/>
        </p:nvSpPr>
        <p:spPr>
          <a:xfrm>
            <a:off x="749808" y="2487168"/>
            <a:ext cx="2548890"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768221" y="2724912"/>
            <a:ext cx="512064" cy="512064"/>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68221"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1</a:t>
            </a:r>
          </a:p>
        </p:txBody>
      </p:sp>
      <p:sp>
        <p:nvSpPr>
          <p:cNvPr id="11" name="TextBox 10"/>
          <p:cNvSpPr txBox="1"/>
          <p:nvPr/>
        </p:nvSpPr>
        <p:spPr>
          <a:xfrm>
            <a:off x="822960" y="3502152"/>
            <a:ext cx="2402586"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Router: parse/return</a:t>
            </a:r>
          </a:p>
        </p:txBody>
      </p:sp>
      <p:cxnSp>
        <p:nvCxnSpPr>
          <p:cNvPr id="12" name="Connector 11"/>
          <p:cNvCxnSpPr/>
          <p:nvPr/>
        </p:nvCxnSpPr>
        <p:spPr>
          <a:xfrm>
            <a:off x="3298698" y="3520440"/>
            <a:ext cx="146304" cy="0"/>
          </a:xfrm>
          <a:prstGeom prst="line">
            <a:avLst/>
          </a:prstGeom>
          <a:ln>
            <a:solidFill>
              <a:srgbClr val="06B6D4"/>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445002" y="2487168"/>
            <a:ext cx="2548890"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463415" y="2724912"/>
            <a:ext cx="512064" cy="512064"/>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63415"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2</a:t>
            </a:r>
          </a:p>
        </p:txBody>
      </p:sp>
      <p:sp>
        <p:nvSpPr>
          <p:cNvPr id="16" name="TextBox 15"/>
          <p:cNvSpPr txBox="1"/>
          <p:nvPr/>
        </p:nvSpPr>
        <p:spPr>
          <a:xfrm>
            <a:off x="3518154" y="3502152"/>
            <a:ext cx="2402586"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Service: decisions</a:t>
            </a:r>
          </a:p>
        </p:txBody>
      </p:sp>
      <p:cxnSp>
        <p:nvCxnSpPr>
          <p:cNvPr id="17" name="Connector 16"/>
          <p:cNvCxnSpPr/>
          <p:nvPr/>
        </p:nvCxnSpPr>
        <p:spPr>
          <a:xfrm>
            <a:off x="5993892" y="3520440"/>
            <a:ext cx="146304" cy="0"/>
          </a:xfrm>
          <a:prstGeom prst="line">
            <a:avLst/>
          </a:prstGeom>
          <a:ln>
            <a:solidFill>
              <a:srgbClr val="06B6D4"/>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140196" y="2487168"/>
            <a:ext cx="2548890"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158609" y="2724912"/>
            <a:ext cx="512064" cy="512064"/>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58609"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3</a:t>
            </a:r>
          </a:p>
        </p:txBody>
      </p:sp>
      <p:sp>
        <p:nvSpPr>
          <p:cNvPr id="21" name="TextBox 20"/>
          <p:cNvSpPr txBox="1"/>
          <p:nvPr/>
        </p:nvSpPr>
        <p:spPr>
          <a:xfrm>
            <a:off x="6213348" y="3502152"/>
            <a:ext cx="2402586"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Repository: SQL</a:t>
            </a:r>
          </a:p>
        </p:txBody>
      </p:sp>
      <p:cxnSp>
        <p:nvCxnSpPr>
          <p:cNvPr id="22" name="Connector 21"/>
          <p:cNvCxnSpPr/>
          <p:nvPr/>
        </p:nvCxnSpPr>
        <p:spPr>
          <a:xfrm>
            <a:off x="8689086" y="3520440"/>
            <a:ext cx="146304" cy="0"/>
          </a:xfrm>
          <a:prstGeom prst="line">
            <a:avLst/>
          </a:prstGeom>
          <a:ln>
            <a:solidFill>
              <a:srgbClr val="06B6D4"/>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835390" y="2487168"/>
            <a:ext cx="2548890"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853803" y="2724912"/>
            <a:ext cx="512064" cy="512064"/>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53803"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4</a:t>
            </a:r>
          </a:p>
        </p:txBody>
      </p:sp>
      <p:sp>
        <p:nvSpPr>
          <p:cNvPr id="26" name="TextBox 25"/>
          <p:cNvSpPr txBox="1"/>
          <p:nvPr/>
        </p:nvSpPr>
        <p:spPr>
          <a:xfrm>
            <a:off x="8908542" y="3502152"/>
            <a:ext cx="2402586"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Schema: validate/serialize</a:t>
            </a:r>
          </a:p>
        </p:txBody>
      </p:sp>
      <p:sp>
        <p:nvSpPr>
          <p:cNvPr id="27" name="Rounded Rectangle 26"/>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29" name="TextBox 28"/>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router → service → repository</a:t>
            </a:r>
          </a:p>
        </p:txBody>
      </p:sp>
      <p:sp>
        <p:nvSpPr>
          <p:cNvPr id="30" name="Rounded Rectangle 29"/>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32" name="TextBox 31"/>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SQL embedded in every route creates duplication and fragile tests.</a:t>
            </a:r>
          </a:p>
        </p:txBody>
      </p:sp>
      <p:sp>
        <p:nvSpPr>
          <p:cNvPr id="33" name="Rounded Rectangle 32"/>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35" name="TextBox 34"/>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The service can be unit-tested without starting Uvicorn.</a:t>
            </a:r>
          </a:p>
        </p:txBody>
      </p:sp>
      <p:sp>
        <p:nvSpPr>
          <p:cNvPr id="36" name="TextBox 3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7" name="TextBox 3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8" name="TextBox 37"/>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FastAPI Tutorial</a:t>
            </a:r>
          </a:p>
        </p:txBody>
      </p:sp>
      <p:sp>
        <p:nvSpPr>
          <p:cNvPr id="39" name="TextBox 3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54</a:t>
            </a:r>
          </a:p>
        </p:txBody>
      </p:sp>
    </p:spTree>
  </p:cSld>
  <p:transition spd="fast">
    <p:fade/>
  </p:transition>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06B6D4"/>
                </a:solidFill>
                <a:latin typeface="Arial"/>
              </a:rPr>
              <a:t>TOPIC 02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Separate transport from business logic</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06B6D4"/>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Router: parse/return</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06B6D4"/>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Thin route functions translate HTTP; service functions express rules independently of the web framework.</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SQL embedded in every route creates duplication and fragile tests.</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The service can be unit-tested without starting Uvicorn.</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router → service → repository</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FastAPI Tutorial</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55</a:t>
            </a:r>
          </a:p>
        </p:txBody>
      </p:sp>
    </p:spTree>
  </p:cSld>
  <p:transition spd="fast">
    <p:fade/>
  </p:transition>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06B6D4"/>
                </a:solidFill>
                <a:latin typeface="Arial"/>
              </a:rPr>
              <a:t>TOPIC 02 · CODE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APIRouter creates bounded route modules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A router groups paths, tags and dependencies under a shared prefix.</a:t>
            </a:r>
          </a:p>
        </p:txBody>
      </p:sp>
      <p:sp>
        <p:nvSpPr>
          <p:cNvPr id="8" name="Rounded Rectangle 7"/>
          <p:cNvSpPr/>
          <p:nvPr/>
        </p:nvSpPr>
        <p:spPr>
          <a:xfrm>
            <a:off x="749808" y="2331720"/>
            <a:ext cx="6766560" cy="2697480"/>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2615184"/>
            <a:ext cx="6199632" cy="2057400"/>
          </a:xfrm>
          <a:prstGeom prst="rect">
            <a:avLst/>
          </a:prstGeom>
          <a:noFill/>
        </p:spPr>
        <p:txBody>
          <a:bodyPr wrap="square" anchor="t" lIns="36576" rIns="36576" tIns="36576" bIns="36576">
            <a:spAutoFit/>
          </a:bodyPr>
          <a:lstStyle/>
          <a:p>
            <a:pPr algn="l">
              <a:spcAft>
                <a:spcPts val="0"/>
              </a:spcAft>
            </a:pPr>
            <a:r>
              <a:rPr sz="1500" b="0">
                <a:solidFill>
                  <a:srgbClr val="A7F3D0"/>
                </a:solidFill>
                <a:latin typeface="Consolas"/>
              </a:rPr>
              <a:t>router = APIRouter(prefix="/api/v1/products", tags=["products"])
app.include_router(router)</a:t>
            </a:r>
          </a:p>
        </p:txBody>
      </p:sp>
      <p:sp>
        <p:nvSpPr>
          <p:cNvPr id="10" name="Rounded Rectangle 9"/>
          <p:cNvSpPr/>
          <p:nvPr/>
        </p:nvSpPr>
        <p:spPr>
          <a:xfrm>
            <a:off x="7799831" y="2331720"/>
            <a:ext cx="3584448" cy="26974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65008" y="2624328"/>
            <a:ext cx="219456" cy="219456"/>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30768" y="2551176"/>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prefix=/api/v1/products</a:t>
            </a:r>
          </a:p>
        </p:txBody>
      </p:sp>
      <p:sp>
        <p:nvSpPr>
          <p:cNvPr id="13" name="Rounded Rectangle 12"/>
          <p:cNvSpPr/>
          <p:nvPr/>
        </p:nvSpPr>
        <p:spPr>
          <a:xfrm>
            <a:off x="8065008" y="3136392"/>
            <a:ext cx="219456" cy="219456"/>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30768" y="3063240"/>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tags=[products]</a:t>
            </a:r>
          </a:p>
        </p:txBody>
      </p:sp>
      <p:sp>
        <p:nvSpPr>
          <p:cNvPr id="15" name="Rounded Rectangle 14"/>
          <p:cNvSpPr/>
          <p:nvPr/>
        </p:nvSpPr>
        <p:spPr>
          <a:xfrm>
            <a:off x="8065008" y="3648456"/>
            <a:ext cx="219456" cy="219456"/>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30768" y="3575304"/>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shared dependencies</a:t>
            </a:r>
          </a:p>
        </p:txBody>
      </p:sp>
      <p:sp>
        <p:nvSpPr>
          <p:cNvPr id="17" name="Rounded Rectangle 16"/>
          <p:cNvSpPr/>
          <p:nvPr/>
        </p:nvSpPr>
        <p:spPr>
          <a:xfrm>
            <a:off x="8065008" y="4160520"/>
            <a:ext cx="219456" cy="219456"/>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30768" y="4087368"/>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included once by app</a:t>
            </a:r>
          </a:p>
        </p:txBody>
      </p:sp>
      <p:sp>
        <p:nvSpPr>
          <p:cNvPr id="19" name="Rounded Rectangle 18"/>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21" name="TextBox 20"/>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products.router mounted by main.py</a:t>
            </a:r>
          </a:p>
        </p:txBody>
      </p:sp>
      <p:sp>
        <p:nvSpPr>
          <p:cNvPr id="22" name="Rounded Rectangle 21"/>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24" name="TextBox 23"/>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Duplicate prefixes and inconsistent tags produce confusing OpenAPI output.</a:t>
            </a:r>
          </a:p>
        </p:txBody>
      </p:sp>
      <p:sp>
        <p:nvSpPr>
          <p:cNvPr id="25" name="Rounded Rectangle 24"/>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27" name="TextBox 26"/>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OpenAPI lists every product endpoint once under the intended tag.</a:t>
            </a:r>
          </a:p>
        </p:txBody>
      </p:sp>
      <p:sp>
        <p:nvSpPr>
          <p:cNvPr id="28" name="TextBox 27"/>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9" name="TextBox 28"/>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0" name="TextBox 29"/>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FastAPI Tutorial</a:t>
            </a:r>
          </a:p>
        </p:txBody>
      </p:sp>
      <p:sp>
        <p:nvSpPr>
          <p:cNvPr id="31" name="TextBox 30"/>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56</a:t>
            </a:r>
          </a:p>
        </p:txBody>
      </p:sp>
    </p:spTree>
  </p:cSld>
  <p:transition spd="fast">
    <p:fade/>
  </p:transition>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06B6D4"/>
                </a:solidFill>
                <a:latin typeface="Arial"/>
              </a:rPr>
              <a:t>TOPIC 02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APIRouter creates bounded route modules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06B6D4"/>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prefix=/api/v1/products</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06B6D4"/>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A router groups paths, tags and dependencies under a shared prefix.</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Duplicate prefixes and inconsistent tags produce confusing OpenAPI output.</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OpenAPI lists every product endpoint once under the intended tag.</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products.router mounted by main.py</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FastAPI Tutorial</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57</a:t>
            </a:r>
          </a:p>
        </p:txBody>
      </p:sp>
    </p:spTree>
  </p:cSld>
  <p:transition spd="fast">
    <p:fade/>
  </p:transition>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06B6D4"/>
                </a:solidFill>
                <a:latin typeface="Arial"/>
              </a:rPr>
              <a:t>TOPIC 02 · FLOW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Dependency injection makes controls reusable</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Depends() resolves shared behaviour before the handler and passes the verified result in.</a:t>
            </a:r>
          </a:p>
        </p:txBody>
      </p:sp>
      <p:sp>
        <p:nvSpPr>
          <p:cNvPr id="8" name="Rounded Rectangle 7"/>
          <p:cNvSpPr/>
          <p:nvPr/>
        </p:nvSpPr>
        <p:spPr>
          <a:xfrm>
            <a:off x="749808"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498701" y="2724912"/>
            <a:ext cx="512064" cy="512064"/>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98701"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1</a:t>
            </a:r>
          </a:p>
        </p:txBody>
      </p:sp>
      <p:sp>
        <p:nvSpPr>
          <p:cNvPr id="11" name="TextBox 10"/>
          <p:cNvSpPr txBox="1"/>
          <p:nvPr/>
        </p:nvSpPr>
        <p:spPr>
          <a:xfrm>
            <a:off x="822960"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read header</a:t>
            </a:r>
          </a:p>
        </p:txBody>
      </p:sp>
      <p:cxnSp>
        <p:nvCxnSpPr>
          <p:cNvPr id="12" name="Connector 11"/>
          <p:cNvCxnSpPr/>
          <p:nvPr/>
        </p:nvCxnSpPr>
        <p:spPr>
          <a:xfrm>
            <a:off x="2759659" y="3520440"/>
            <a:ext cx="146304" cy="0"/>
          </a:xfrm>
          <a:prstGeom prst="line">
            <a:avLst/>
          </a:prstGeom>
          <a:ln>
            <a:solidFill>
              <a:srgbClr val="06B6D4"/>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05963"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654856" y="2724912"/>
            <a:ext cx="512064" cy="512064"/>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4856"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2</a:t>
            </a:r>
          </a:p>
        </p:txBody>
      </p:sp>
      <p:sp>
        <p:nvSpPr>
          <p:cNvPr id="16" name="TextBox 15"/>
          <p:cNvSpPr txBox="1"/>
          <p:nvPr/>
        </p:nvSpPr>
        <p:spPr>
          <a:xfrm>
            <a:off x="2979115"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validate token</a:t>
            </a:r>
          </a:p>
        </p:txBody>
      </p:sp>
      <p:cxnSp>
        <p:nvCxnSpPr>
          <p:cNvPr id="17" name="Connector 16"/>
          <p:cNvCxnSpPr/>
          <p:nvPr/>
        </p:nvCxnSpPr>
        <p:spPr>
          <a:xfrm>
            <a:off x="4915814" y="3520440"/>
            <a:ext cx="146304" cy="0"/>
          </a:xfrm>
          <a:prstGeom prst="line">
            <a:avLst/>
          </a:prstGeom>
          <a:ln>
            <a:solidFill>
              <a:srgbClr val="06B6D4"/>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062118"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811012" y="2724912"/>
            <a:ext cx="512064" cy="512064"/>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11012"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3</a:t>
            </a:r>
          </a:p>
        </p:txBody>
      </p:sp>
      <p:sp>
        <p:nvSpPr>
          <p:cNvPr id="21" name="TextBox 20"/>
          <p:cNvSpPr txBox="1"/>
          <p:nvPr/>
        </p:nvSpPr>
        <p:spPr>
          <a:xfrm>
            <a:off x="5135270"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open DB</a:t>
            </a:r>
          </a:p>
        </p:txBody>
      </p:sp>
      <p:cxnSp>
        <p:nvCxnSpPr>
          <p:cNvPr id="22" name="Connector 21"/>
          <p:cNvCxnSpPr/>
          <p:nvPr/>
        </p:nvCxnSpPr>
        <p:spPr>
          <a:xfrm>
            <a:off x="7071969" y="3520440"/>
            <a:ext cx="146304" cy="0"/>
          </a:xfrm>
          <a:prstGeom prst="line">
            <a:avLst/>
          </a:prstGeom>
          <a:ln>
            <a:solidFill>
              <a:srgbClr val="06B6D4"/>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218273"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967167" y="2724912"/>
            <a:ext cx="512064" cy="512064"/>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67167"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4</a:t>
            </a:r>
          </a:p>
        </p:txBody>
      </p:sp>
      <p:sp>
        <p:nvSpPr>
          <p:cNvPr id="26" name="TextBox 25"/>
          <p:cNvSpPr txBox="1"/>
          <p:nvPr/>
        </p:nvSpPr>
        <p:spPr>
          <a:xfrm>
            <a:off x="7291425"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call handler</a:t>
            </a:r>
          </a:p>
        </p:txBody>
      </p:sp>
      <p:cxnSp>
        <p:nvCxnSpPr>
          <p:cNvPr id="27" name="Connector 26"/>
          <p:cNvCxnSpPr/>
          <p:nvPr/>
        </p:nvCxnSpPr>
        <p:spPr>
          <a:xfrm>
            <a:off x="9228124" y="3520440"/>
            <a:ext cx="146304" cy="0"/>
          </a:xfrm>
          <a:prstGeom prst="line">
            <a:avLst/>
          </a:prstGeom>
          <a:ln>
            <a:solidFill>
              <a:srgbClr val="06B6D4"/>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74428"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0123322" y="2724912"/>
            <a:ext cx="512064" cy="512064"/>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23322"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5</a:t>
            </a:r>
          </a:p>
        </p:txBody>
      </p:sp>
      <p:sp>
        <p:nvSpPr>
          <p:cNvPr id="31" name="TextBox 30"/>
          <p:cNvSpPr txBox="1"/>
          <p:nvPr/>
        </p:nvSpPr>
        <p:spPr>
          <a:xfrm>
            <a:off x="9447580"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close resource</a:t>
            </a:r>
          </a:p>
        </p:txBody>
      </p:sp>
      <p:sp>
        <p:nvSpPr>
          <p:cNvPr id="32" name="Rounded Rectangle 31"/>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34" name="TextBox 33"/>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Depends(require_api_key)</a:t>
            </a:r>
          </a:p>
        </p:txBody>
      </p:sp>
      <p:sp>
        <p:nvSpPr>
          <p:cNvPr id="35" name="Rounded Rectangle 34"/>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37" name="TextBox 36"/>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Copy-pasted authentication diverges route by route.</a:t>
            </a:r>
          </a:p>
        </p:txBody>
      </p:sp>
      <p:sp>
        <p:nvSpPr>
          <p:cNvPr id="38" name="Rounded Rectangle 37"/>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40" name="TextBox 39"/>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Protected routes reject missing/invalid keys and accept the configured key.</a:t>
            </a:r>
          </a:p>
        </p:txBody>
      </p:sp>
      <p:sp>
        <p:nvSpPr>
          <p:cNvPr id="41" name="TextBox 40"/>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42" name="TextBox 41"/>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43" name="TextBox 42"/>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Security</a:t>
            </a:r>
          </a:p>
        </p:txBody>
      </p:sp>
      <p:sp>
        <p:nvSpPr>
          <p:cNvPr id="44" name="TextBox 43"/>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58</a:t>
            </a:r>
          </a:p>
        </p:txBody>
      </p:sp>
    </p:spTree>
  </p:cSld>
  <p:transition spd="fast">
    <p:fade/>
  </p:transition>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06B6D4"/>
                </a:solidFill>
                <a:latin typeface="Arial"/>
              </a:rPr>
              <a:t>TOPIC 02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Dependency injection makes controls reusable</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06B6D4"/>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read header</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06B6D4"/>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Depends() resolves shared behaviour before the handler and passes the verified result in.</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Copy-pasted authentication diverges route by route.</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Protected routes reject missing/invalid keys and accept the configured key.</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Depends(require_api_key)</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Security</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59</a:t>
            </a:r>
          </a:p>
        </p:txBody>
      </p:sp>
    </p:spTree>
  </p:cSld>
  <p:transition spd="fast">
    <p:fade/>
  </p:transition>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06B6D4"/>
                </a:solidFill>
                <a:latin typeface="Arial"/>
              </a:rPr>
              <a:t>TOPIC 02 · CODE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API-key authentication is a boundary control</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A demo API key illustrates authentication, but production needs rotation, secure storage and least privilege.</a:t>
            </a:r>
          </a:p>
        </p:txBody>
      </p:sp>
      <p:sp>
        <p:nvSpPr>
          <p:cNvPr id="8" name="Rounded Rectangle 7"/>
          <p:cNvSpPr/>
          <p:nvPr/>
        </p:nvSpPr>
        <p:spPr>
          <a:xfrm>
            <a:off x="749808" y="2331720"/>
            <a:ext cx="6766560" cy="2697480"/>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2615184"/>
            <a:ext cx="6199632" cy="2057400"/>
          </a:xfrm>
          <a:prstGeom prst="rect">
            <a:avLst/>
          </a:prstGeom>
          <a:noFill/>
        </p:spPr>
        <p:txBody>
          <a:bodyPr wrap="square" anchor="t" lIns="36576" rIns="36576" tIns="36576" bIns="36576">
            <a:spAutoFit/>
          </a:bodyPr>
          <a:lstStyle/>
          <a:p>
            <a:pPr algn="l">
              <a:spcAft>
                <a:spcPts val="0"/>
              </a:spcAft>
            </a:pPr>
            <a:r>
              <a:rPr sz="1500" b="0">
                <a:solidFill>
                  <a:srgbClr val="A7F3D0"/>
                </a:solidFill>
                <a:latin typeface="Consolas"/>
              </a:rPr>
              <a:t>def require_api_key(x_api_key: str = Header()):
    if not secrets.compare_digest(x_api_key, settings.api_key):
        raise HTTPException(401, "Invalid API key")</a:t>
            </a:r>
          </a:p>
        </p:txBody>
      </p:sp>
      <p:sp>
        <p:nvSpPr>
          <p:cNvPr id="10" name="Rounded Rectangle 9"/>
          <p:cNvSpPr/>
          <p:nvPr/>
        </p:nvSpPr>
        <p:spPr>
          <a:xfrm>
            <a:off x="7799831" y="2331720"/>
            <a:ext cx="3584448" cy="26974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65008" y="2624328"/>
            <a:ext cx="219456" cy="219456"/>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30768" y="2551176"/>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X-API-Key header</a:t>
            </a:r>
          </a:p>
        </p:txBody>
      </p:sp>
      <p:sp>
        <p:nvSpPr>
          <p:cNvPr id="13" name="Rounded Rectangle 12"/>
          <p:cNvSpPr/>
          <p:nvPr/>
        </p:nvSpPr>
        <p:spPr>
          <a:xfrm>
            <a:off x="8065008" y="3136392"/>
            <a:ext cx="219456" cy="219456"/>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30768" y="3063240"/>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constant-time comparison</a:t>
            </a:r>
          </a:p>
        </p:txBody>
      </p:sp>
      <p:sp>
        <p:nvSpPr>
          <p:cNvPr id="15" name="Rounded Rectangle 14"/>
          <p:cNvSpPr/>
          <p:nvPr/>
        </p:nvSpPr>
        <p:spPr>
          <a:xfrm>
            <a:off x="8065008" y="3648456"/>
            <a:ext cx="219456" cy="219456"/>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30768" y="3575304"/>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environment configuration</a:t>
            </a:r>
          </a:p>
        </p:txBody>
      </p:sp>
      <p:sp>
        <p:nvSpPr>
          <p:cNvPr id="17" name="Rounded Rectangle 16"/>
          <p:cNvSpPr/>
          <p:nvPr/>
        </p:nvSpPr>
        <p:spPr>
          <a:xfrm>
            <a:off x="8065008" y="4160520"/>
            <a:ext cx="219456" cy="219456"/>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30768" y="4087368"/>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401/403 policy</a:t>
            </a:r>
          </a:p>
        </p:txBody>
      </p:sp>
      <p:sp>
        <p:nvSpPr>
          <p:cNvPr id="19" name="Rounded Rectangle 18"/>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21" name="TextBox 20"/>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Header → dependency → authorised principal</a:t>
            </a:r>
          </a:p>
        </p:txBody>
      </p:sp>
      <p:sp>
        <p:nvSpPr>
          <p:cNvPr id="22" name="Rounded Rectangle 21"/>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24" name="TextBox 23"/>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Hard-coded secrets in source or frontend are publicly exposed.</a:t>
            </a:r>
          </a:p>
        </p:txBody>
      </p:sp>
      <p:sp>
        <p:nvSpPr>
          <p:cNvPr id="25" name="Rounded Rectangle 24"/>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27" name="TextBox 26"/>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Secret scan finds no live key; unauthorised requests fail before business logic.</a:t>
            </a:r>
          </a:p>
        </p:txBody>
      </p:sp>
      <p:sp>
        <p:nvSpPr>
          <p:cNvPr id="28" name="TextBox 27"/>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9" name="TextBox 28"/>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0" name="TextBox 29"/>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Security</a:t>
            </a:r>
          </a:p>
        </p:txBody>
      </p:sp>
      <p:sp>
        <p:nvSpPr>
          <p:cNvPr id="31" name="TextBox 30"/>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60</a:t>
            </a:r>
          </a:p>
        </p:txBody>
      </p:sp>
    </p:spTree>
  </p:cSld>
  <p:transition spd="fast">
    <p:fade/>
  </p:transition>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06B6D4"/>
                </a:solidFill>
                <a:latin typeface="Arial"/>
              </a:rPr>
              <a:t>TOPIC 02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API-key authentication is a boundary control</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06B6D4"/>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X-API-Key header</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06B6D4"/>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A demo API key illustrates authentication, but production needs rotation, secure storage and least privilege.</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Hard-coded secrets in source or frontend are publicly exposed.</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Secret scan finds no live key; unauthorised requests fail before business logic.</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Header → dependency → authorised principal</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Security</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61</a:t>
            </a:r>
          </a:p>
        </p:txBody>
      </p:sp>
    </p:spTree>
  </p:cSld>
  <p:transition spd="fast">
    <p:fade/>
  </p:transition>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06B6D4"/>
                </a:solidFill>
                <a:latin typeface="Arial"/>
              </a:rPr>
              <a:t>TOPIC 02 · MODEL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CORS is a browser origin policy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Origin is scheme + host + port; the browser checks whether frontend JavaScript may read the response.</a:t>
            </a:r>
          </a:p>
        </p:txBody>
      </p:sp>
      <p:sp>
        <p:nvSpPr>
          <p:cNvPr id="8" name="Rounded Rectangle 7"/>
          <p:cNvSpPr/>
          <p:nvPr/>
        </p:nvSpPr>
        <p:spPr>
          <a:xfrm>
            <a:off x="749808"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50976" y="2596896"/>
            <a:ext cx="502920" cy="50292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1</a:t>
            </a:r>
          </a:p>
        </p:txBody>
      </p:sp>
      <p:sp>
        <p:nvSpPr>
          <p:cNvPr id="11" name="TextBox 10"/>
          <p:cNvSpPr txBox="1"/>
          <p:nvPr/>
        </p:nvSpPr>
        <p:spPr>
          <a:xfrm>
            <a:off x="1682496"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http://localhost:5500</a:t>
            </a:r>
          </a:p>
        </p:txBody>
      </p:sp>
      <p:sp>
        <p:nvSpPr>
          <p:cNvPr id="12" name="Rounded Rectangle 11"/>
          <p:cNvSpPr/>
          <p:nvPr/>
        </p:nvSpPr>
        <p:spPr>
          <a:xfrm>
            <a:off x="6172200"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73368" y="2596896"/>
            <a:ext cx="502920" cy="502920"/>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2</a:t>
            </a:r>
          </a:p>
        </p:txBody>
      </p:sp>
      <p:sp>
        <p:nvSpPr>
          <p:cNvPr id="15" name="TextBox 14"/>
          <p:cNvSpPr txBox="1"/>
          <p:nvPr/>
        </p:nvSpPr>
        <p:spPr>
          <a:xfrm>
            <a:off x="7104888"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http://localhost:8000</a:t>
            </a:r>
          </a:p>
        </p:txBody>
      </p:sp>
      <p:sp>
        <p:nvSpPr>
          <p:cNvPr id="16" name="Rounded Rectangle 15"/>
          <p:cNvSpPr/>
          <p:nvPr/>
        </p:nvSpPr>
        <p:spPr>
          <a:xfrm>
            <a:off x="749808" y="3639311"/>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50976" y="3904487"/>
            <a:ext cx="502920" cy="50292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0976" y="4032503"/>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3</a:t>
            </a:r>
          </a:p>
        </p:txBody>
      </p:sp>
      <p:sp>
        <p:nvSpPr>
          <p:cNvPr id="19" name="TextBox 18"/>
          <p:cNvSpPr txBox="1"/>
          <p:nvPr/>
        </p:nvSpPr>
        <p:spPr>
          <a:xfrm>
            <a:off x="1682496" y="3840479"/>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different ports = different origins</a:t>
            </a:r>
          </a:p>
        </p:txBody>
      </p:sp>
      <p:sp>
        <p:nvSpPr>
          <p:cNvPr id="20" name="Rounded Rectangle 19"/>
          <p:cNvSpPr/>
          <p:nvPr/>
        </p:nvSpPr>
        <p:spPr>
          <a:xfrm>
            <a:off x="6172200" y="3639311"/>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73368" y="3904487"/>
            <a:ext cx="502920" cy="50292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3368" y="4032503"/>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4</a:t>
            </a:r>
          </a:p>
        </p:txBody>
      </p:sp>
      <p:sp>
        <p:nvSpPr>
          <p:cNvPr id="23" name="TextBox 22"/>
          <p:cNvSpPr txBox="1"/>
          <p:nvPr/>
        </p:nvSpPr>
        <p:spPr>
          <a:xfrm>
            <a:off x="7104888" y="3840479"/>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allow only required origins</a:t>
            </a:r>
          </a:p>
        </p:txBody>
      </p:sp>
      <p:sp>
        <p:nvSpPr>
          <p:cNvPr id="24" name="Rounded Rectangle 23"/>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26" name="TextBox 25"/>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Preflight OPTIONS → CORS headers</a:t>
            </a:r>
          </a:p>
        </p:txBody>
      </p:sp>
      <p:sp>
        <p:nvSpPr>
          <p:cNvPr id="27" name="Rounded Rectangle 26"/>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29" name="TextBox 28"/>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Wildcard origins cannot safely support credentials and widen exposure.</a:t>
            </a:r>
          </a:p>
        </p:txBody>
      </p:sp>
      <p:sp>
        <p:nvSpPr>
          <p:cNvPr id="30" name="Rounded Rectangle 29"/>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32" name="TextBox 31"/>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Browser devtools shows the allowed origin and successful preflight.</a:t>
            </a:r>
          </a:p>
        </p:txBody>
      </p:sp>
      <p:sp>
        <p:nvSpPr>
          <p:cNvPr id="33" name="TextBox 3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4" name="TextBox 3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5" name="TextBox 34"/>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CORS</a:t>
            </a:r>
          </a:p>
        </p:txBody>
      </p:sp>
      <p:sp>
        <p:nvSpPr>
          <p:cNvPr id="36" name="TextBox 35"/>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62</a:t>
            </a:r>
          </a:p>
        </p:txBody>
      </p:sp>
    </p:spTree>
  </p:cSld>
  <p:transition spd="fast">
    <p:fade/>
  </p:transition>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06B6D4"/>
                </a:solidFill>
                <a:latin typeface="Arial"/>
              </a:rPr>
              <a:t>TOPIC 02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CORS is a browser origin policy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06B6D4"/>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http://localhost:5500</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06B6D4"/>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Origin is scheme + host + port; the browser checks whether frontend JavaScript may read the response.</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Wildcard origins cannot safely support credentials and widen exposure.</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Browser devtools shows the allowed origin and successful preflight.</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Preflight OPTIONS → CORS headers</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CORS</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63</a:t>
            </a:r>
          </a:p>
        </p:txBody>
      </p:sp>
    </p:spTree>
  </p:cSld>
  <p:transition spd="fast">
    <p:fade/>
  </p:transition>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06B6D4"/>
                </a:solidFill>
                <a:latin typeface="Arial"/>
              </a:rPr>
              <a:t>TOPIC 02 · TABLE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Security requirements are testable behaviour</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Translate ‘secure the endpoint’ into explicit threat, control and verification rows.</a:t>
            </a:r>
          </a:p>
        </p:txBody>
      </p:sp>
      <p:sp>
        <p:nvSpPr>
          <p:cNvPr id="8" name="Rounded Rectangle 7"/>
          <p:cNvSpPr/>
          <p:nvPr/>
        </p:nvSpPr>
        <p:spPr>
          <a:xfrm>
            <a:off x="749808"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50976" y="2596896"/>
            <a:ext cx="502920" cy="50292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1</a:t>
            </a:r>
          </a:p>
        </p:txBody>
      </p:sp>
      <p:sp>
        <p:nvSpPr>
          <p:cNvPr id="11" name="TextBox 10"/>
          <p:cNvSpPr txBox="1"/>
          <p:nvPr/>
        </p:nvSpPr>
        <p:spPr>
          <a:xfrm>
            <a:off x="1682496"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Threat: unauthorized write</a:t>
            </a:r>
          </a:p>
        </p:txBody>
      </p:sp>
      <p:sp>
        <p:nvSpPr>
          <p:cNvPr id="12" name="Rounded Rectangle 11"/>
          <p:cNvSpPr/>
          <p:nvPr/>
        </p:nvSpPr>
        <p:spPr>
          <a:xfrm>
            <a:off x="6172200"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73368" y="2596896"/>
            <a:ext cx="502920" cy="502920"/>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2</a:t>
            </a:r>
          </a:p>
        </p:txBody>
      </p:sp>
      <p:sp>
        <p:nvSpPr>
          <p:cNvPr id="15" name="TextBox 14"/>
          <p:cNvSpPr txBox="1"/>
          <p:nvPr/>
        </p:nvSpPr>
        <p:spPr>
          <a:xfrm>
            <a:off x="7104888"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Control: API key dependency</a:t>
            </a:r>
          </a:p>
        </p:txBody>
      </p:sp>
      <p:sp>
        <p:nvSpPr>
          <p:cNvPr id="16" name="Rounded Rectangle 15"/>
          <p:cNvSpPr/>
          <p:nvPr/>
        </p:nvSpPr>
        <p:spPr>
          <a:xfrm>
            <a:off x="749808" y="3639311"/>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50976" y="3904487"/>
            <a:ext cx="502920" cy="50292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0976" y="4032503"/>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3</a:t>
            </a:r>
          </a:p>
        </p:txBody>
      </p:sp>
      <p:sp>
        <p:nvSpPr>
          <p:cNvPr id="19" name="TextBox 18"/>
          <p:cNvSpPr txBox="1"/>
          <p:nvPr/>
        </p:nvSpPr>
        <p:spPr>
          <a:xfrm>
            <a:off x="1682496" y="3840479"/>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Failure: 401</a:t>
            </a:r>
          </a:p>
        </p:txBody>
      </p:sp>
      <p:sp>
        <p:nvSpPr>
          <p:cNvPr id="20" name="Rounded Rectangle 19"/>
          <p:cNvSpPr/>
          <p:nvPr/>
        </p:nvSpPr>
        <p:spPr>
          <a:xfrm>
            <a:off x="6172200" y="3639311"/>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73368" y="3904487"/>
            <a:ext cx="502920" cy="50292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3368" y="4032503"/>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4</a:t>
            </a:r>
          </a:p>
        </p:txBody>
      </p:sp>
      <p:sp>
        <p:nvSpPr>
          <p:cNvPr id="23" name="TextBox 22"/>
          <p:cNvSpPr txBox="1"/>
          <p:nvPr/>
        </p:nvSpPr>
        <p:spPr>
          <a:xfrm>
            <a:off x="7104888" y="3840479"/>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Evidence: test + log</a:t>
            </a:r>
          </a:p>
        </p:txBody>
      </p:sp>
      <p:sp>
        <p:nvSpPr>
          <p:cNvPr id="24" name="Rounded Rectangle 23"/>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26" name="TextBox 25"/>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Threat-control-test matrix</a:t>
            </a:r>
          </a:p>
        </p:txBody>
      </p:sp>
      <p:sp>
        <p:nvSpPr>
          <p:cNvPr id="27" name="Rounded Rectangle 26"/>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29" name="TextBox 28"/>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A control with no negative test is an unverified assumption.</a:t>
            </a:r>
          </a:p>
        </p:txBody>
      </p:sp>
      <p:sp>
        <p:nvSpPr>
          <p:cNvPr id="30" name="Rounded Rectangle 29"/>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32" name="TextBox 31"/>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Each security requirement has at least one rejection test.</a:t>
            </a:r>
          </a:p>
        </p:txBody>
      </p:sp>
      <p:sp>
        <p:nvSpPr>
          <p:cNvPr id="33" name="TextBox 3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4" name="TextBox 3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5" name="TextBox 34"/>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Security</a:t>
            </a:r>
          </a:p>
        </p:txBody>
      </p:sp>
      <p:sp>
        <p:nvSpPr>
          <p:cNvPr id="36" name="TextBox 35"/>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64</a:t>
            </a:r>
          </a:p>
        </p:txBody>
      </p:sp>
    </p:spTree>
  </p:cSld>
  <p:transition spd="fast">
    <p:fade/>
  </p:transition>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06B6D4"/>
                </a:solidFill>
                <a:latin typeface="Arial"/>
              </a:rPr>
              <a:t>TOPIC 02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Security requirements are testable behaviour</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06B6D4"/>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Threat: unauthorized write</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06B6D4"/>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Translate ‘secure the endpoint’ into explicit threat, control and verification rows.</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A control with no negative test is an unverified assumption.</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Each security requirement has at least one rejection test.</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Threat-control-test matrix</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Security</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65</a:t>
            </a:r>
          </a:p>
        </p:txBody>
      </p:sp>
    </p:spTree>
  </p:cSld>
  <p:transition spd="fast">
    <p:fade/>
  </p:transition>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06B6D4"/>
                </a:solidFill>
                <a:latin typeface="Arial"/>
              </a:rPr>
              <a:t>TOPIC 02 · COMPARE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Review AI-generated security code adversarially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Generated code is a draft; inspect secrets, validation, SQL, error detail, CORS and dependency versions.</a:t>
            </a:r>
          </a:p>
        </p:txBody>
      </p:sp>
      <p:sp>
        <p:nvSpPr>
          <p:cNvPr id="8" name="Rounded Rectangle 7"/>
          <p:cNvSpPr/>
          <p:nvPr/>
        </p:nvSpPr>
        <p:spPr>
          <a:xfrm>
            <a:off x="749808"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50976" y="2596896"/>
            <a:ext cx="502920" cy="50292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1</a:t>
            </a:r>
          </a:p>
        </p:txBody>
      </p:sp>
      <p:sp>
        <p:nvSpPr>
          <p:cNvPr id="11" name="TextBox 10"/>
          <p:cNvSpPr txBox="1"/>
          <p:nvPr/>
        </p:nvSpPr>
        <p:spPr>
          <a:xfrm>
            <a:off x="1682496"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Plausible: hard-coded key</a:t>
            </a:r>
          </a:p>
        </p:txBody>
      </p:sp>
      <p:sp>
        <p:nvSpPr>
          <p:cNvPr id="12" name="Rounded Rectangle 11"/>
          <p:cNvSpPr/>
          <p:nvPr/>
        </p:nvSpPr>
        <p:spPr>
          <a:xfrm>
            <a:off x="6172200"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73368" y="2596896"/>
            <a:ext cx="502920" cy="502920"/>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2</a:t>
            </a:r>
          </a:p>
        </p:txBody>
      </p:sp>
      <p:sp>
        <p:nvSpPr>
          <p:cNvPr id="15" name="TextBox 14"/>
          <p:cNvSpPr txBox="1"/>
          <p:nvPr/>
        </p:nvSpPr>
        <p:spPr>
          <a:xfrm>
            <a:off x="7104888"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Acceptable: environment key + ignored .env</a:t>
            </a:r>
          </a:p>
        </p:txBody>
      </p:sp>
      <p:sp>
        <p:nvSpPr>
          <p:cNvPr id="16" name="Rounded Rectangle 15"/>
          <p:cNvSpPr/>
          <p:nvPr/>
        </p:nvSpPr>
        <p:spPr>
          <a:xfrm>
            <a:off x="749808" y="3639311"/>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50976" y="3904487"/>
            <a:ext cx="502920" cy="50292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0976" y="4032503"/>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3</a:t>
            </a:r>
          </a:p>
        </p:txBody>
      </p:sp>
      <p:sp>
        <p:nvSpPr>
          <p:cNvPr id="19" name="TextBox 18"/>
          <p:cNvSpPr txBox="1"/>
          <p:nvPr/>
        </p:nvSpPr>
        <p:spPr>
          <a:xfrm>
            <a:off x="1682496" y="3840479"/>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Plausible: f-string SQL</a:t>
            </a:r>
          </a:p>
        </p:txBody>
      </p:sp>
      <p:sp>
        <p:nvSpPr>
          <p:cNvPr id="20" name="Rounded Rectangle 19"/>
          <p:cNvSpPr/>
          <p:nvPr/>
        </p:nvSpPr>
        <p:spPr>
          <a:xfrm>
            <a:off x="6172200" y="3639311"/>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73368" y="3904487"/>
            <a:ext cx="502920" cy="50292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3368" y="4032503"/>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4</a:t>
            </a:r>
          </a:p>
        </p:txBody>
      </p:sp>
      <p:sp>
        <p:nvSpPr>
          <p:cNvPr id="23" name="TextBox 22"/>
          <p:cNvSpPr txBox="1"/>
          <p:nvPr/>
        </p:nvSpPr>
        <p:spPr>
          <a:xfrm>
            <a:off x="7104888" y="3840479"/>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Acceptable: parameters</a:t>
            </a:r>
          </a:p>
        </p:txBody>
      </p:sp>
      <p:sp>
        <p:nvSpPr>
          <p:cNvPr id="24" name="Rounded Rectangle 23"/>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26" name="TextBox 25"/>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Security review diff</a:t>
            </a:r>
          </a:p>
        </p:txBody>
      </p:sp>
      <p:sp>
        <p:nvSpPr>
          <p:cNvPr id="27" name="Rounded Rectangle 26"/>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29" name="TextBox 28"/>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AI may optimise for a working demo rather than operational safety.</a:t>
            </a:r>
          </a:p>
        </p:txBody>
      </p:sp>
      <p:sp>
        <p:nvSpPr>
          <p:cNvPr id="30" name="Rounded Rectangle 29"/>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32" name="TextBox 31"/>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A checklist review produces an approved diff and recorded exceptions.</a:t>
            </a:r>
          </a:p>
        </p:txBody>
      </p:sp>
      <p:sp>
        <p:nvSpPr>
          <p:cNvPr id="33" name="TextBox 3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4" name="TextBox 3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5" name="TextBox 34"/>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Security</a:t>
            </a:r>
          </a:p>
        </p:txBody>
      </p:sp>
      <p:sp>
        <p:nvSpPr>
          <p:cNvPr id="36" name="TextBox 35"/>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66</a:t>
            </a:r>
          </a:p>
        </p:txBody>
      </p:sp>
    </p:spTree>
  </p:cSld>
  <p:transition spd="fast">
    <p:fade/>
  </p:transition>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06B6D4"/>
                </a:solidFill>
                <a:latin typeface="Arial"/>
              </a:rPr>
              <a:t>TOPIC 02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Review AI-generated security code adversarially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06B6D4"/>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Plausible: hard-coded key</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06B6D4"/>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Generated code is a draft; inspect secrets, validation, SQL, error detail, CORS and dependency versions.</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AI may optimise for a working demo rather than operational safety.</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A checklist review produces an approved diff and recorded exceptions.</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Security review diff</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Security</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67</a:t>
            </a:r>
          </a:p>
        </p:txBody>
      </p:sp>
    </p:spTree>
  </p:cSld>
  <p:transition spd="fast">
    <p:fade/>
  </p:transition>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06B6D4"/>
                </a:solidFill>
                <a:latin typeface="Arial"/>
              </a:rPr>
              <a:t>TOPIC 02 · CHART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Sync and async must match the work</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Async improves concurrency for awaitable I/O; blocking SQLite calls belong in normal def handlers or a threadpool.</a:t>
            </a:r>
          </a:p>
        </p:txBody>
      </p:sp>
      <p:graphicFrame>
        <p:nvGraphicFramePr>
          <p:cNvPr id="8" name="Chart 7"/>
          <p:cNvGraphicFramePr>
            <a:graphicFrameLocks noGrp="1"/>
          </p:cNvGraphicFramePr>
          <p:nvPr/>
        </p:nvGraphicFramePr>
        <p:xfrm>
          <a:off x="749808" y="2340864"/>
          <a:ext cx="6492240" cy="2697480"/>
        </p:xfrm>
        <a:graphic>
          <a:graphicData uri="http://schemas.openxmlformats.org/drawingml/2006/chart">
            <c:chart xmlns:c="http://schemas.openxmlformats.org/drawingml/2006/chart" r:id="rId2"/>
          </a:graphicData>
        </a:graphic>
      </p:graphicFrame>
      <p:sp>
        <p:nvSpPr>
          <p:cNvPr id="9" name="Rounded Rectangle 8"/>
          <p:cNvSpPr/>
          <p:nvPr/>
        </p:nvSpPr>
        <p:spPr>
          <a:xfrm>
            <a:off x="7543800" y="2340864"/>
            <a:ext cx="3840480" cy="26974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18120" y="2578608"/>
            <a:ext cx="3246120" cy="365760"/>
          </a:xfrm>
          <a:prstGeom prst="rect">
            <a:avLst/>
          </a:prstGeom>
          <a:noFill/>
        </p:spPr>
        <p:txBody>
          <a:bodyPr wrap="square" anchor="t" lIns="36576" rIns="36576" tIns="36576" bIns="36576">
            <a:spAutoFit/>
          </a:bodyPr>
          <a:lstStyle/>
          <a:p>
            <a:pPr algn="l">
              <a:spcAft>
                <a:spcPts val="0"/>
              </a:spcAft>
            </a:pPr>
            <a:r>
              <a:rPr sz="1150" b="1">
                <a:solidFill>
                  <a:srgbClr val="172433"/>
                </a:solidFill>
                <a:latin typeface="Arial"/>
              </a:rPr>
              <a:t>01  async def for awaitable clients</a:t>
            </a:r>
          </a:p>
        </p:txBody>
      </p:sp>
      <p:sp>
        <p:nvSpPr>
          <p:cNvPr id="11" name="TextBox 10"/>
          <p:cNvSpPr txBox="1"/>
          <p:nvPr/>
        </p:nvSpPr>
        <p:spPr>
          <a:xfrm>
            <a:off x="7818120" y="3090672"/>
            <a:ext cx="3246120" cy="365760"/>
          </a:xfrm>
          <a:prstGeom prst="rect">
            <a:avLst/>
          </a:prstGeom>
          <a:noFill/>
        </p:spPr>
        <p:txBody>
          <a:bodyPr wrap="square" anchor="t" lIns="36576" rIns="36576" tIns="36576" bIns="36576">
            <a:spAutoFit/>
          </a:bodyPr>
          <a:lstStyle/>
          <a:p>
            <a:pPr algn="l">
              <a:spcAft>
                <a:spcPts val="0"/>
              </a:spcAft>
            </a:pPr>
            <a:r>
              <a:rPr sz="1150" b="0">
                <a:solidFill>
                  <a:srgbClr val="172433"/>
                </a:solidFill>
                <a:latin typeface="Arial"/>
              </a:rPr>
              <a:t>02  def for blocking libraries</a:t>
            </a:r>
          </a:p>
        </p:txBody>
      </p:sp>
      <p:sp>
        <p:nvSpPr>
          <p:cNvPr id="12" name="TextBox 11"/>
          <p:cNvSpPr txBox="1"/>
          <p:nvPr/>
        </p:nvSpPr>
        <p:spPr>
          <a:xfrm>
            <a:off x="7818120" y="3602736"/>
            <a:ext cx="3246120" cy="365760"/>
          </a:xfrm>
          <a:prstGeom prst="rect">
            <a:avLst/>
          </a:prstGeom>
          <a:noFill/>
        </p:spPr>
        <p:txBody>
          <a:bodyPr wrap="square" anchor="t" lIns="36576" rIns="36576" tIns="36576" bIns="36576">
            <a:spAutoFit/>
          </a:bodyPr>
          <a:lstStyle/>
          <a:p>
            <a:pPr algn="l">
              <a:spcAft>
                <a:spcPts val="0"/>
              </a:spcAft>
            </a:pPr>
            <a:r>
              <a:rPr sz="1150" b="0">
                <a:solidFill>
                  <a:srgbClr val="172433"/>
                </a:solidFill>
                <a:latin typeface="Arial"/>
              </a:rPr>
              <a:t>03  measure, do not cargo-cult</a:t>
            </a:r>
          </a:p>
        </p:txBody>
      </p:sp>
      <p:sp>
        <p:nvSpPr>
          <p:cNvPr id="13" name="TextBox 12"/>
          <p:cNvSpPr txBox="1"/>
          <p:nvPr/>
        </p:nvSpPr>
        <p:spPr>
          <a:xfrm>
            <a:off x="7818120" y="4114800"/>
            <a:ext cx="3246120" cy="365760"/>
          </a:xfrm>
          <a:prstGeom prst="rect">
            <a:avLst/>
          </a:prstGeom>
          <a:noFill/>
        </p:spPr>
        <p:txBody>
          <a:bodyPr wrap="square" anchor="t" lIns="36576" rIns="36576" tIns="36576" bIns="36576">
            <a:spAutoFit/>
          </a:bodyPr>
          <a:lstStyle/>
          <a:p>
            <a:pPr algn="l">
              <a:spcAft>
                <a:spcPts val="0"/>
              </a:spcAft>
            </a:pPr>
            <a:r>
              <a:rPr sz="1150" b="0">
                <a:solidFill>
                  <a:srgbClr val="172433"/>
                </a:solidFill>
                <a:latin typeface="Arial"/>
              </a:rPr>
              <a:t>04  keep transactions short</a:t>
            </a:r>
          </a:p>
        </p:txBody>
      </p:sp>
      <p:sp>
        <p:nvSpPr>
          <p:cNvPr id="14" name="Rounded Rectangle 13"/>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16" name="TextBox 15"/>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Latency under 1 vs 20 concurrent requests</a:t>
            </a:r>
          </a:p>
        </p:txBody>
      </p:sp>
      <p:sp>
        <p:nvSpPr>
          <p:cNvPr id="17" name="Rounded Rectangle 16"/>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19" name="TextBox 18"/>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Calling blocking work directly inside async def stalls the event loop.</a:t>
            </a:r>
          </a:p>
        </p:txBody>
      </p:sp>
      <p:sp>
        <p:nvSpPr>
          <p:cNvPr id="20" name="Rounded Rectangle 19"/>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22" name="TextBox 21"/>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A concurrency test keeps p95 latency within the chosen threshold.</a:t>
            </a:r>
          </a:p>
        </p:txBody>
      </p:sp>
      <p:sp>
        <p:nvSpPr>
          <p:cNvPr id="23" name="TextBox 2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4" name="TextBox 2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5" name="TextBox 24"/>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FastAPI Tutorial</a:t>
            </a:r>
          </a:p>
        </p:txBody>
      </p:sp>
      <p:sp>
        <p:nvSpPr>
          <p:cNvPr id="26" name="TextBox 25"/>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68</a:t>
            </a:r>
          </a:p>
        </p:txBody>
      </p:sp>
    </p:spTree>
  </p:cSld>
  <p:transition spd="fast">
    <p:fade/>
  </p:transition>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06B6D4"/>
                </a:solidFill>
                <a:latin typeface="Arial"/>
              </a:rPr>
              <a:t>TOPIC 02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Sync and async must match the work</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06B6D4"/>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async def for awaitable clients</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06B6D4"/>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Async improves concurrency for awaitable I/O; blocking SQLite calls belong in normal def handlers or a threadpool.</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Calling blocking work directly inside async def stalls the event loop.</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A concurrency test keeps p95 latency within the chosen threshold.</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Latency under 1 vs 20 concurrent requests</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FastAPI Tutorial</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69</a:t>
            </a:r>
          </a:p>
        </p:txBody>
      </p:sp>
    </p:spTree>
  </p:cSld>
  <p:transition spd="fast">
    <p:fade/>
  </p:transition>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03 · SCENARIO</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Split Routes and Reuse a Service Function</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74519"/>
            <a:ext cx="6675120" cy="3611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212848"/>
            <a:ext cx="6035040" cy="34747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DESIGN CHALLENGE</a:t>
            </a:r>
          </a:p>
        </p:txBody>
      </p:sp>
      <p:sp>
        <p:nvSpPr>
          <p:cNvPr id="9" name="TextBox 8"/>
          <p:cNvSpPr txBox="1"/>
          <p:nvPr/>
        </p:nvSpPr>
        <p:spPr>
          <a:xfrm>
            <a:off x="1078992" y="2743200"/>
            <a:ext cx="5989320" cy="1097280"/>
          </a:xfrm>
          <a:prstGeom prst="rect">
            <a:avLst/>
          </a:prstGeom>
          <a:noFill/>
        </p:spPr>
        <p:txBody>
          <a:bodyPr wrap="square" anchor="t" lIns="36576" rIns="36576" tIns="36576" bIns="36576">
            <a:spAutoFit/>
          </a:bodyPr>
          <a:lstStyle/>
          <a:p>
            <a:pPr algn="l">
              <a:spcAft>
                <a:spcPts val="0"/>
              </a:spcAft>
            </a:pPr>
            <a:r>
              <a:rPr sz="2200" b="1">
                <a:solidFill>
                  <a:srgbClr val="172433"/>
                </a:solidFill>
                <a:latin typeface="Arial"/>
              </a:rPr>
              <a:t>Refactor a monolithic FastAPI file into router and service modules without changing the contract.</a:t>
            </a:r>
          </a:p>
        </p:txBody>
      </p:sp>
      <p:sp>
        <p:nvSpPr>
          <p:cNvPr id="10" name="TextBox 9"/>
          <p:cNvSpPr txBox="1"/>
          <p:nvPr/>
        </p:nvSpPr>
        <p:spPr>
          <a:xfrm>
            <a:off x="1078992" y="4187952"/>
            <a:ext cx="5989320" cy="731520"/>
          </a:xfrm>
          <a:prstGeom prst="rect">
            <a:avLst/>
          </a:prstGeom>
          <a:noFill/>
        </p:spPr>
        <p:txBody>
          <a:bodyPr wrap="square" anchor="t" lIns="36576" rIns="36576" tIns="36576" bIns="36576">
            <a:spAutoFit/>
          </a:bodyPr>
          <a:lstStyle/>
          <a:p>
            <a:pPr algn="l">
              <a:spcAft>
                <a:spcPts val="0"/>
              </a:spcAft>
            </a:pPr>
            <a:r>
              <a:rPr sz="1400" b="0">
                <a:solidFill>
                  <a:srgbClr val="475569"/>
                </a:solidFill>
                <a:latin typeface="Arial"/>
              </a:rPr>
              <a:t>Build: main.py, routes.py and service.py</a:t>
            </a:r>
          </a:p>
        </p:txBody>
      </p:sp>
      <p:sp>
        <p:nvSpPr>
          <p:cNvPr id="11" name="Rounded Rectangle 10"/>
          <p:cNvSpPr/>
          <p:nvPr/>
        </p:nvSpPr>
        <p:spPr>
          <a:xfrm>
            <a:off x="7754112" y="1874519"/>
            <a:ext cx="3611880" cy="3611880"/>
          </a:xfrm>
          <a:prstGeom prst="roundRect">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19872" y="2249424"/>
            <a:ext cx="2880360" cy="274320"/>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TOOLS</a:t>
            </a:r>
          </a:p>
        </p:txBody>
      </p:sp>
      <p:sp>
        <p:nvSpPr>
          <p:cNvPr id="13" name="TextBox 12"/>
          <p:cNvSpPr txBox="1"/>
          <p:nvPr/>
        </p:nvSpPr>
        <p:spPr>
          <a:xfrm>
            <a:off x="8119872" y="2724912"/>
            <a:ext cx="2834640" cy="914400"/>
          </a:xfrm>
          <a:prstGeom prst="rect">
            <a:avLst/>
          </a:prstGeom>
          <a:noFill/>
        </p:spPr>
        <p:txBody>
          <a:bodyPr wrap="square" anchor="t" lIns="36576" rIns="36576" tIns="36576" bIns="36576">
            <a:spAutoFit/>
          </a:bodyPr>
          <a:lstStyle/>
          <a:p>
            <a:pPr algn="l">
              <a:spcAft>
                <a:spcPts val="0"/>
              </a:spcAft>
            </a:pPr>
            <a:r>
              <a:rPr sz="1600" b="1">
                <a:solidFill>
                  <a:srgbClr val="172433"/>
                </a:solidFill>
                <a:latin typeface="Arial"/>
              </a:rPr>
              <a:t>FastAPI APIRouter, pytest, OpenAI Python SDK</a:t>
            </a:r>
          </a:p>
        </p:txBody>
      </p:sp>
      <p:sp>
        <p:nvSpPr>
          <p:cNvPr id="14" name="TextBox 13"/>
          <p:cNvSpPr txBox="1"/>
          <p:nvPr/>
        </p:nvSpPr>
        <p:spPr>
          <a:xfrm>
            <a:off x="8119872" y="3886200"/>
            <a:ext cx="2834640" cy="786384"/>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Detailed procedure: Learner Guide + lab README</a:t>
            </a:r>
          </a:p>
        </p:txBody>
      </p:sp>
      <p:sp>
        <p:nvSpPr>
          <p:cNvPr id="15" name="TextBox 14"/>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6" name="TextBox 15"/>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7" name="TextBox 16"/>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70</a:t>
            </a:r>
          </a:p>
        </p:txBody>
      </p:sp>
    </p:spTree>
  </p:cSld>
  <p:transition spd="fast">
    <p:fade/>
  </p:transition>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LAB 03 · PROMPT ARTIFACT</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Prompt submitted by ai_vibe.py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7452360" cy="4005072"/>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121408"/>
            <a:ext cx="6858000" cy="274320"/>
          </a:xfrm>
          <a:prstGeom prst="rect">
            <a:avLst/>
          </a:prstGeom>
          <a:noFill/>
        </p:spPr>
        <p:txBody>
          <a:bodyPr wrap="square" anchor="t" lIns="36576" rIns="36576" tIns="36576" bIns="36576">
            <a:spAutoFit/>
          </a:bodyPr>
          <a:lstStyle/>
          <a:p>
            <a:pPr algn="l">
              <a:spcAft>
                <a:spcPts val="0"/>
              </a:spcAft>
            </a:pPr>
            <a:r>
              <a:rPr sz="1000" b="1">
                <a:solidFill>
                  <a:srgbClr val="06B6D4"/>
                </a:solidFill>
                <a:latin typeface="Arial"/>
              </a:rPr>
              <a:t>LEARNER PROMPT</a:t>
            </a:r>
          </a:p>
        </p:txBody>
      </p:sp>
      <p:sp>
        <p:nvSpPr>
          <p:cNvPr id="9" name="TextBox 8"/>
          <p:cNvSpPr txBox="1"/>
          <p:nvPr/>
        </p:nvSpPr>
        <p:spPr>
          <a:xfrm>
            <a:off x="1051560" y="2596896"/>
            <a:ext cx="6821424" cy="2880360"/>
          </a:xfrm>
          <a:prstGeom prst="rect">
            <a:avLst/>
          </a:prstGeom>
          <a:noFill/>
        </p:spPr>
        <p:txBody>
          <a:bodyPr wrap="square" anchor="t" lIns="36576" rIns="36576" tIns="36576" bIns="36576">
            <a:spAutoFit/>
          </a:bodyPr>
          <a:lstStyle/>
          <a:p>
            <a:pPr algn="l">
              <a:spcAft>
                <a:spcPts val="0"/>
              </a:spcAft>
            </a:pPr>
            <a:r>
              <a:rPr sz="1320" b="0">
                <a:solidFill>
                  <a:srgbClr val="D1FAE5"/>
                </a:solidFill>
                <a:latin typeface="Consolas"/>
              </a:rPr>
              <a:t>You are working on Lab 03 of a Northstar Commerce API. Refactor the supplied FastAPI product service into thin routes and reusable service functions. Mount one APIRouter at /api/v1/products, preserve the existing contract and add regression tests proving every OpenAPI operation appears once. Explain module ownership in concise docstrings.</a:t>
            </a:r>
          </a:p>
        </p:txBody>
      </p:sp>
      <p:sp>
        <p:nvSpPr>
          <p:cNvPr id="10" name="Rounded Rectangle 9"/>
          <p:cNvSpPr/>
          <p:nvPr/>
        </p:nvSpPr>
        <p:spPr>
          <a:xfrm>
            <a:off x="8439912" y="1847088"/>
            <a:ext cx="2944368" cy="400507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14232" y="2130552"/>
            <a:ext cx="2377440" cy="256032"/>
          </a:xfrm>
          <a:prstGeom prst="rect">
            <a:avLst/>
          </a:prstGeom>
          <a:noFill/>
        </p:spPr>
        <p:txBody>
          <a:bodyPr wrap="square" anchor="t" lIns="36576" rIns="36576" tIns="36576" bIns="36576">
            <a:spAutoFit/>
          </a:bodyPr>
          <a:lstStyle/>
          <a:p>
            <a:pPr algn="l">
              <a:spcAft>
                <a:spcPts val="0"/>
              </a:spcAft>
            </a:pPr>
            <a:r>
              <a:rPr sz="950" b="1">
                <a:solidFill>
                  <a:srgbClr val="7C3AED"/>
                </a:solidFill>
                <a:latin typeface="Arial"/>
              </a:rPr>
              <a:t>PYTHON SDK ENVELOPE</a:t>
            </a:r>
          </a:p>
        </p:txBody>
      </p:sp>
      <p:sp>
        <p:nvSpPr>
          <p:cNvPr id="12" name="Rounded Rectangle 11"/>
          <p:cNvSpPr/>
          <p:nvPr/>
        </p:nvSpPr>
        <p:spPr>
          <a:xfrm>
            <a:off x="8714232" y="2615184"/>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07424" y="2578608"/>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Prompts.pdf</a:t>
            </a:r>
          </a:p>
        </p:txBody>
      </p:sp>
      <p:sp>
        <p:nvSpPr>
          <p:cNvPr id="14" name="Rounded Rectangle 13"/>
          <p:cNvSpPr/>
          <p:nvPr/>
        </p:nvSpPr>
        <p:spPr>
          <a:xfrm>
            <a:off x="8714232" y="3081528"/>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07424" y="3044952"/>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mock-data.json</a:t>
            </a:r>
          </a:p>
        </p:txBody>
      </p:sp>
      <p:sp>
        <p:nvSpPr>
          <p:cNvPr id="16" name="Rounded Rectangle 15"/>
          <p:cNvSpPr/>
          <p:nvPr/>
        </p:nvSpPr>
        <p:spPr>
          <a:xfrm>
            <a:off x="8714232" y="3547872"/>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07424" y="3511296"/>
            <a:ext cx="1874519" cy="274320"/>
          </a:xfrm>
          <a:prstGeom prst="rect">
            <a:avLst/>
          </a:prstGeom>
          <a:noFill/>
        </p:spPr>
        <p:txBody>
          <a:bodyPr wrap="square" anchor="t" lIns="36576" rIns="36576" tIns="36576" bIns="36576">
            <a:spAutoFit/>
          </a:bodyPr>
          <a:lstStyle/>
          <a:p>
            <a:pPr algn="l">
              <a:spcAft>
                <a:spcPts val="0"/>
              </a:spcAft>
            </a:pPr>
            <a:r>
              <a:rPr sz="1050" b="1">
                <a:solidFill>
                  <a:srgbClr val="172433"/>
                </a:solidFill>
                <a:latin typeface="Arial"/>
              </a:rPr>
              <a:t>responses.parse</a:t>
            </a:r>
          </a:p>
        </p:txBody>
      </p:sp>
      <p:sp>
        <p:nvSpPr>
          <p:cNvPr id="18" name="Rounded Rectangle 17"/>
          <p:cNvSpPr/>
          <p:nvPr/>
        </p:nvSpPr>
        <p:spPr>
          <a:xfrm>
            <a:off x="8714232" y="4014215"/>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07424" y="3977639"/>
            <a:ext cx="1874519" cy="274320"/>
          </a:xfrm>
          <a:prstGeom prst="rect">
            <a:avLst/>
          </a:prstGeom>
          <a:noFill/>
        </p:spPr>
        <p:txBody>
          <a:bodyPr wrap="square" anchor="t" lIns="36576" rIns="36576" tIns="36576" bIns="36576">
            <a:spAutoFit/>
          </a:bodyPr>
          <a:lstStyle/>
          <a:p>
            <a:pPr algn="l">
              <a:spcAft>
                <a:spcPts val="0"/>
              </a:spcAft>
            </a:pPr>
            <a:r>
              <a:rPr sz="1050" b="1">
                <a:solidFill>
                  <a:srgbClr val="172433"/>
                </a:solidFill>
                <a:latin typeface="Arial"/>
              </a:rPr>
              <a:t>CodeBundle</a:t>
            </a:r>
          </a:p>
        </p:txBody>
      </p:sp>
      <p:sp>
        <p:nvSpPr>
          <p:cNvPr id="20" name="Rounded Rectangle 19"/>
          <p:cNvSpPr/>
          <p:nvPr/>
        </p:nvSpPr>
        <p:spPr>
          <a:xfrm>
            <a:off x="8714232" y="4480560"/>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07424" y="4443984"/>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generated/</a:t>
            </a:r>
          </a:p>
        </p:txBody>
      </p:sp>
      <p:sp>
        <p:nvSpPr>
          <p:cNvPr id="22" name="Rounded Rectangle 21"/>
          <p:cNvSpPr/>
          <p:nvPr/>
        </p:nvSpPr>
        <p:spPr>
          <a:xfrm>
            <a:off x="8714232" y="4946904"/>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07424" y="4910328"/>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pytest + review</a:t>
            </a:r>
          </a:p>
        </p:txBody>
      </p:sp>
      <p:sp>
        <p:nvSpPr>
          <p:cNvPr id="24" name="TextBox 23"/>
          <p:cNvSpPr txBox="1"/>
          <p:nvPr/>
        </p:nvSpPr>
        <p:spPr>
          <a:xfrm>
            <a:off x="8714232" y="5468112"/>
            <a:ext cx="2148840" cy="219456"/>
          </a:xfrm>
          <a:prstGeom prst="rect">
            <a:avLst/>
          </a:prstGeom>
          <a:noFill/>
        </p:spPr>
        <p:txBody>
          <a:bodyPr wrap="square" anchor="t" lIns="36576" rIns="36576" tIns="36576" bIns="36576">
            <a:spAutoFit/>
          </a:bodyPr>
          <a:lstStyle/>
          <a:p>
            <a:pPr algn="l">
              <a:spcAft>
                <a:spcPts val="0"/>
              </a:spcAft>
            </a:pPr>
            <a:r>
              <a:rPr sz="950" b="1">
                <a:solidFill>
                  <a:srgbClr val="10B981"/>
                </a:solidFill>
                <a:latin typeface="Arial"/>
              </a:rPr>
              <a:t>Full prompt + refinement</a:t>
            </a:r>
          </a:p>
        </p:txBody>
      </p:sp>
      <p:sp>
        <p:nvSpPr>
          <p:cNvPr id="25" name="TextBox 24"/>
          <p:cNvSpPr txBox="1"/>
          <p:nvPr/>
        </p:nvSpPr>
        <p:spPr>
          <a:xfrm>
            <a:off x="8714232" y="5650992"/>
            <a:ext cx="2148840" cy="219456"/>
          </a:xfrm>
          <a:prstGeom prst="rect">
            <a:avLst/>
          </a:prstGeom>
          <a:noFill/>
        </p:spPr>
        <p:txBody>
          <a:bodyPr wrap="square" anchor="t" lIns="36576" rIns="36576" tIns="36576" bIns="36576">
            <a:spAutoFit/>
          </a:bodyPr>
          <a:lstStyle/>
          <a:p>
            <a:pPr algn="l">
              <a:spcAft>
                <a:spcPts val="0"/>
              </a:spcAft>
            </a:pPr>
            <a:r>
              <a:rPr sz="950" b="0">
                <a:solidFill>
                  <a:srgbClr val="475569"/>
                </a:solidFill>
                <a:latin typeface="Arial"/>
              </a:rPr>
              <a:t>in the lab Prompts.pdf</a:t>
            </a:r>
          </a:p>
        </p:txBody>
      </p:sp>
      <p:sp>
        <p:nvSpPr>
          <p:cNvPr id="26" name="TextBox 2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7" name="TextBox 2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8" name="TextBox 27"/>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OpenAI Python SDK</a:t>
            </a:r>
          </a:p>
        </p:txBody>
      </p:sp>
      <p:sp>
        <p:nvSpPr>
          <p:cNvPr id="29" name="TextBox 2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71</a:t>
            </a:r>
          </a:p>
        </p:txBody>
      </p:sp>
    </p:spTree>
  </p:cSld>
  <p:transition spd="fast">
    <p:fade/>
  </p:transition>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03 · MECHANISM</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How Split Routes and Reuse a Service Function works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665351"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5351"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1</a:t>
            </a:r>
          </a:p>
        </p:txBody>
      </p:sp>
      <p:sp>
        <p:nvSpPr>
          <p:cNvPr id="10" name="TextBox 9"/>
          <p:cNvSpPr txBox="1"/>
          <p:nvPr/>
        </p:nvSpPr>
        <p:spPr>
          <a:xfrm>
            <a:off x="859536"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Input contract</a:t>
            </a:r>
          </a:p>
        </p:txBody>
      </p:sp>
      <p:sp>
        <p:nvSpPr>
          <p:cNvPr id="11" name="TextBox 10"/>
          <p:cNvSpPr txBox="1"/>
          <p:nvPr/>
        </p:nvSpPr>
        <p:spPr>
          <a:xfrm>
            <a:off x="886968"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Refactor a monolithic FastAPI file into router and service modules without changing the contract.</a:t>
            </a:r>
          </a:p>
        </p:txBody>
      </p:sp>
      <p:sp>
        <p:nvSpPr>
          <p:cNvPr id="12" name="Rounded Rectangle 11"/>
          <p:cNvSpPr/>
          <p:nvPr/>
        </p:nvSpPr>
        <p:spPr>
          <a:xfrm>
            <a:off x="3477006"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92549"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92549"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2</a:t>
            </a:r>
          </a:p>
        </p:txBody>
      </p:sp>
      <p:sp>
        <p:nvSpPr>
          <p:cNvPr id="15" name="TextBox 14"/>
          <p:cNvSpPr txBox="1"/>
          <p:nvPr/>
        </p:nvSpPr>
        <p:spPr>
          <a:xfrm>
            <a:off x="3586734"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Boundary validation</a:t>
            </a:r>
          </a:p>
        </p:txBody>
      </p:sp>
      <p:sp>
        <p:nvSpPr>
          <p:cNvPr id="16" name="TextBox 15"/>
          <p:cNvSpPr txBox="1"/>
          <p:nvPr/>
        </p:nvSpPr>
        <p:spPr>
          <a:xfrm>
            <a:off x="3614166"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Reject invalid or unauthorised input</a:t>
            </a:r>
          </a:p>
        </p:txBody>
      </p:sp>
      <p:sp>
        <p:nvSpPr>
          <p:cNvPr id="17" name="Rounded Rectangle 16"/>
          <p:cNvSpPr/>
          <p:nvPr/>
        </p:nvSpPr>
        <p:spPr>
          <a:xfrm>
            <a:off x="6204204"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119747"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9747"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3</a:t>
            </a:r>
          </a:p>
        </p:txBody>
      </p:sp>
      <p:sp>
        <p:nvSpPr>
          <p:cNvPr id="20" name="TextBox 19"/>
          <p:cNvSpPr txBox="1"/>
          <p:nvPr/>
        </p:nvSpPr>
        <p:spPr>
          <a:xfrm>
            <a:off x="6313932"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Business decision</a:t>
            </a:r>
          </a:p>
        </p:txBody>
      </p:sp>
      <p:sp>
        <p:nvSpPr>
          <p:cNvPr id="21" name="TextBox 20"/>
          <p:cNvSpPr txBox="1"/>
          <p:nvPr/>
        </p:nvSpPr>
        <p:spPr>
          <a:xfrm>
            <a:off x="6341364"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Apply one explicit rule</a:t>
            </a:r>
          </a:p>
        </p:txBody>
      </p:sp>
      <p:sp>
        <p:nvSpPr>
          <p:cNvPr id="22" name="Rounded Rectangle 21"/>
          <p:cNvSpPr/>
          <p:nvPr/>
        </p:nvSpPr>
        <p:spPr>
          <a:xfrm>
            <a:off x="8931402"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46945"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46945"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4</a:t>
            </a:r>
          </a:p>
        </p:txBody>
      </p:sp>
      <p:sp>
        <p:nvSpPr>
          <p:cNvPr id="25" name="TextBox 24"/>
          <p:cNvSpPr txBox="1"/>
          <p:nvPr/>
        </p:nvSpPr>
        <p:spPr>
          <a:xfrm>
            <a:off x="9041130"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State/evidence</a:t>
            </a:r>
          </a:p>
        </p:txBody>
      </p:sp>
      <p:sp>
        <p:nvSpPr>
          <p:cNvPr id="26" name="TextBox 25"/>
          <p:cNvSpPr txBox="1"/>
          <p:nvPr/>
        </p:nvSpPr>
        <p:spPr>
          <a:xfrm>
            <a:off x="9068562"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All baseline tests still pass and OpenAPI exposes each route exactly once.</a:t>
            </a:r>
          </a:p>
        </p:txBody>
      </p:sp>
      <p:sp>
        <p:nvSpPr>
          <p:cNvPr id="27" name="TextBox 26"/>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8" name="TextBox 27"/>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9" name="TextBox 2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72</a:t>
            </a:r>
          </a:p>
        </p:txBody>
      </p:sp>
    </p:spTree>
  </p:cSld>
  <p:transition spd="fast">
    <p:fade/>
  </p:transition>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03 ·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main.py, routes.py and service.py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01952"/>
            <a:ext cx="6812280" cy="3611880"/>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194560"/>
            <a:ext cx="6144768" cy="3063240"/>
          </a:xfrm>
          <a:prstGeom prst="rect">
            <a:avLst/>
          </a:prstGeom>
          <a:noFill/>
        </p:spPr>
        <p:txBody>
          <a:bodyPr wrap="square" anchor="t" lIns="36576" rIns="36576" tIns="36576" bIns="36576">
            <a:spAutoFit/>
          </a:bodyPr>
          <a:lstStyle/>
          <a:p>
            <a:pPr algn="l">
              <a:spcAft>
                <a:spcPts val="0"/>
              </a:spcAft>
            </a:pPr>
            <a:r>
              <a:rPr sz="1250" b="0">
                <a:solidFill>
                  <a:srgbClr val="A7F3D0"/>
                </a:solidFill>
                <a:latin typeface="Consolas"/>
              </a:rPr>
              <a:t>REQUEST
  lab: 03
  objective: Refactor a monolithic FastAPI file into router and
             service modules without changing the
             contract.
EXPECTED EVIDENCE
  artifact: main.py, routes.py and service.py
  codes: A3, A8
  status: verified</a:t>
            </a:r>
          </a:p>
        </p:txBody>
      </p:sp>
      <p:sp>
        <p:nvSpPr>
          <p:cNvPr id="9" name="Rounded Rectangle 8"/>
          <p:cNvSpPr/>
          <p:nvPr/>
        </p:nvSpPr>
        <p:spPr>
          <a:xfrm>
            <a:off x="7882127" y="1901952"/>
            <a:ext cx="3493008" cy="3611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2212848"/>
            <a:ext cx="2880360" cy="310896"/>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ASSESSMENT BRIDGE</a:t>
            </a:r>
          </a:p>
        </p:txBody>
      </p:sp>
      <p:sp>
        <p:nvSpPr>
          <p:cNvPr id="11" name="TextBox 10"/>
          <p:cNvSpPr txBox="1"/>
          <p:nvPr/>
        </p:nvSpPr>
        <p:spPr>
          <a:xfrm>
            <a:off x="8193024" y="2761488"/>
            <a:ext cx="2834640" cy="1051560"/>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Ability codes
A3, A8</a:t>
            </a:r>
          </a:p>
        </p:txBody>
      </p:sp>
      <p:sp>
        <p:nvSpPr>
          <p:cNvPr id="12" name="TextBox 11"/>
          <p:cNvSpPr txBox="1"/>
          <p:nvPr/>
        </p:nvSpPr>
        <p:spPr>
          <a:xfrm>
            <a:off x="8193024" y="4160520"/>
            <a:ext cx="2788920" cy="685800"/>
          </a:xfrm>
          <a:prstGeom prst="rect">
            <a:avLst/>
          </a:prstGeom>
          <a:noFill/>
        </p:spPr>
        <p:txBody>
          <a:bodyPr wrap="square" anchor="t" lIns="36576" rIns="36576" tIns="36576" bIns="36576">
            <a:spAutoFit/>
          </a:bodyPr>
          <a:lstStyle/>
          <a:p>
            <a:pPr algn="l">
              <a:spcAft>
                <a:spcPts val="0"/>
              </a:spcAft>
            </a:pPr>
            <a:r>
              <a:rPr sz="1100" b="0">
                <a:solidFill>
                  <a:srgbClr val="475569"/>
                </a:solidFill>
                <a:latin typeface="Arial"/>
              </a:rPr>
              <a:t>Capture a screenshot, terminal output or test result that proves the acceptance criterion.</a:t>
            </a:r>
          </a:p>
        </p:txBody>
      </p:sp>
      <p:sp>
        <p:nvSpPr>
          <p:cNvPr id="13" name="TextBox 1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4" name="TextBox 1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5" name="TextBox 14"/>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73</a:t>
            </a:r>
          </a:p>
        </p:txBody>
      </p:sp>
    </p:spTree>
  </p:cSld>
  <p:transition spd="fast">
    <p:fade/>
  </p:transition>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03 · VERIFY</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Acceptance and diagnosis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74519"/>
            <a:ext cx="5166360" cy="3611880"/>
          </a:xfrm>
          <a:prstGeom prst="roundRect">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240280"/>
            <a:ext cx="4526280" cy="310896"/>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PASS WHEN</a:t>
            </a:r>
          </a:p>
        </p:txBody>
      </p:sp>
      <p:sp>
        <p:nvSpPr>
          <p:cNvPr id="9" name="TextBox 8"/>
          <p:cNvSpPr txBox="1"/>
          <p:nvPr/>
        </p:nvSpPr>
        <p:spPr>
          <a:xfrm>
            <a:off x="1078992" y="2798064"/>
            <a:ext cx="4498848" cy="1600200"/>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All baseline tests still pass and OpenAPI exposes each route exactly once.</a:t>
            </a:r>
          </a:p>
        </p:txBody>
      </p:sp>
      <p:sp>
        <p:nvSpPr>
          <p:cNvPr id="10" name="Rounded Rectangle 9"/>
          <p:cNvSpPr/>
          <p:nvPr/>
        </p:nvSpPr>
        <p:spPr>
          <a:xfrm>
            <a:off x="6217920" y="1874519"/>
            <a:ext cx="5148072" cy="3611880"/>
          </a:xfrm>
          <a:prstGeom prst="roundRect">
            <a:avLst/>
          </a:prstGeom>
          <a:solidFill>
            <a:srgbClr val="FEF2F2"/>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56248" y="2240280"/>
            <a:ext cx="4480560" cy="310896"/>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DIAGNOSE</a:t>
            </a:r>
          </a:p>
        </p:txBody>
      </p:sp>
      <p:sp>
        <p:nvSpPr>
          <p:cNvPr id="12" name="TextBox 11"/>
          <p:cNvSpPr txBox="1"/>
          <p:nvPr/>
        </p:nvSpPr>
        <p:spPr>
          <a:xfrm>
            <a:off x="6556248" y="277063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1. Inspect HTTP status and response body</a:t>
            </a:r>
          </a:p>
        </p:txBody>
      </p:sp>
      <p:sp>
        <p:nvSpPr>
          <p:cNvPr id="13" name="TextBox 12"/>
          <p:cNvSpPr txBox="1"/>
          <p:nvPr/>
        </p:nvSpPr>
        <p:spPr>
          <a:xfrm>
            <a:off x="6556248" y="327355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2. Check request fields and headers</a:t>
            </a:r>
          </a:p>
        </p:txBody>
      </p:sp>
      <p:sp>
        <p:nvSpPr>
          <p:cNvPr id="14" name="TextBox 13"/>
          <p:cNvSpPr txBox="1"/>
          <p:nvPr/>
        </p:nvSpPr>
        <p:spPr>
          <a:xfrm>
            <a:off x="6556248" y="377647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3. Follow request ID into logs</a:t>
            </a:r>
          </a:p>
        </p:txBody>
      </p:sp>
      <p:sp>
        <p:nvSpPr>
          <p:cNvPr id="15" name="TextBox 14"/>
          <p:cNvSpPr txBox="1"/>
          <p:nvPr/>
        </p:nvSpPr>
        <p:spPr>
          <a:xfrm>
            <a:off x="6556248" y="427939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4. Re-run the smallest failing test</a:t>
            </a:r>
          </a:p>
        </p:txBody>
      </p:sp>
      <p:sp>
        <p:nvSpPr>
          <p:cNvPr id="16" name="TextBox 1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7" name="TextBox 1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8" name="TextBox 17"/>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74</a:t>
            </a:r>
          </a:p>
        </p:txBody>
      </p:sp>
    </p:spTree>
  </p:cSld>
  <p:transition spd="fast">
    <p:fade/>
  </p:transition>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LAB 03 · CONTRACT REVIEW</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Prompt output must preserve the API boundary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02352" cy="3730752"/>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176272"/>
            <a:ext cx="4434840" cy="420624"/>
          </a:xfrm>
          <a:prstGeom prst="rect">
            <a:avLst/>
          </a:prstGeom>
          <a:noFill/>
        </p:spPr>
        <p:txBody>
          <a:bodyPr wrap="square" anchor="t" lIns="36576" rIns="36576" tIns="36576" bIns="36576">
            <a:spAutoFit/>
          </a:bodyPr>
          <a:lstStyle/>
          <a:p>
            <a:pPr algn="l">
              <a:spcAft>
                <a:spcPts val="0"/>
              </a:spcAft>
            </a:pPr>
            <a:r>
              <a:rPr sz="1000" b="1">
                <a:solidFill>
                  <a:srgbClr val="D1FAE5"/>
                </a:solidFill>
                <a:latin typeface="Arial"/>
              </a:rPr>
              <a:t>TARGET FILES</a:t>
            </a:r>
          </a:p>
        </p:txBody>
      </p:sp>
      <p:sp>
        <p:nvSpPr>
          <p:cNvPr id="9" name="TextBox 8"/>
          <p:cNvSpPr txBox="1"/>
          <p:nvPr/>
        </p:nvSpPr>
        <p:spPr>
          <a:xfrm>
            <a:off x="1078992" y="2743200"/>
            <a:ext cx="4434840" cy="420624"/>
          </a:xfrm>
          <a:prstGeom prst="rect">
            <a:avLst/>
          </a:prstGeom>
          <a:noFill/>
        </p:spPr>
        <p:txBody>
          <a:bodyPr wrap="square" anchor="t" lIns="36576" rIns="36576" tIns="36576" bIns="36576">
            <a:spAutoFit/>
          </a:bodyPr>
          <a:lstStyle/>
          <a:p>
            <a:pPr algn="l">
              <a:spcAft>
                <a:spcPts val="0"/>
              </a:spcAft>
            </a:pPr>
            <a:r>
              <a:rPr sz="1100" b="0">
                <a:solidFill>
                  <a:srgbClr val="D1FAE5"/>
                </a:solidFill>
                <a:latin typeface="Consolas"/>
              </a:rPr>
              <a:t>app/main.py</a:t>
            </a:r>
          </a:p>
        </p:txBody>
      </p:sp>
      <p:sp>
        <p:nvSpPr>
          <p:cNvPr id="10" name="TextBox 9"/>
          <p:cNvSpPr txBox="1"/>
          <p:nvPr/>
        </p:nvSpPr>
        <p:spPr>
          <a:xfrm>
            <a:off x="1078992" y="3310128"/>
            <a:ext cx="4434840" cy="420624"/>
          </a:xfrm>
          <a:prstGeom prst="rect">
            <a:avLst/>
          </a:prstGeom>
          <a:noFill/>
        </p:spPr>
        <p:txBody>
          <a:bodyPr wrap="square" anchor="t" lIns="36576" rIns="36576" tIns="36576" bIns="36576">
            <a:spAutoFit/>
          </a:bodyPr>
          <a:lstStyle/>
          <a:p>
            <a:pPr algn="l">
              <a:spcAft>
                <a:spcPts val="0"/>
              </a:spcAft>
            </a:pPr>
            <a:r>
              <a:rPr sz="1100" b="0">
                <a:solidFill>
                  <a:srgbClr val="D1FAE5"/>
                </a:solidFill>
                <a:latin typeface="Consolas"/>
              </a:rPr>
              <a:t>app/routes.py</a:t>
            </a:r>
          </a:p>
        </p:txBody>
      </p:sp>
      <p:sp>
        <p:nvSpPr>
          <p:cNvPr id="11" name="TextBox 10"/>
          <p:cNvSpPr txBox="1"/>
          <p:nvPr/>
        </p:nvSpPr>
        <p:spPr>
          <a:xfrm>
            <a:off x="1078992" y="3877056"/>
            <a:ext cx="4434840" cy="420624"/>
          </a:xfrm>
          <a:prstGeom prst="rect">
            <a:avLst/>
          </a:prstGeom>
          <a:noFill/>
        </p:spPr>
        <p:txBody>
          <a:bodyPr wrap="square" anchor="t" lIns="36576" rIns="36576" tIns="36576" bIns="36576">
            <a:spAutoFit/>
          </a:bodyPr>
          <a:lstStyle/>
          <a:p>
            <a:pPr algn="l">
              <a:spcAft>
                <a:spcPts val="0"/>
              </a:spcAft>
            </a:pPr>
            <a:r>
              <a:rPr sz="1100" b="0">
                <a:solidFill>
                  <a:srgbClr val="D1FAE5"/>
                </a:solidFill>
                <a:latin typeface="Consolas"/>
              </a:rPr>
              <a:t>app/service.py</a:t>
            </a:r>
          </a:p>
        </p:txBody>
      </p:sp>
      <p:sp>
        <p:nvSpPr>
          <p:cNvPr id="12" name="TextBox 11"/>
          <p:cNvSpPr txBox="1"/>
          <p:nvPr/>
        </p:nvSpPr>
        <p:spPr>
          <a:xfrm>
            <a:off x="1078992" y="4443983"/>
            <a:ext cx="4434840" cy="420624"/>
          </a:xfrm>
          <a:prstGeom prst="rect">
            <a:avLst/>
          </a:prstGeom>
          <a:noFill/>
        </p:spPr>
        <p:txBody>
          <a:bodyPr wrap="square" anchor="t" lIns="36576" rIns="36576" tIns="36576" bIns="36576">
            <a:spAutoFit/>
          </a:bodyPr>
          <a:lstStyle/>
          <a:p>
            <a:pPr algn="l">
              <a:spcAft>
                <a:spcPts val="0"/>
              </a:spcAft>
            </a:pPr>
            <a:r>
              <a:rPr sz="1100" b="0">
                <a:solidFill>
                  <a:srgbClr val="D1FAE5"/>
                </a:solidFill>
                <a:latin typeface="Consolas"/>
              </a:rPr>
              <a:t>tests/test_routes.py</a:t>
            </a:r>
          </a:p>
        </p:txBody>
      </p:sp>
      <p:sp>
        <p:nvSpPr>
          <p:cNvPr id="13" name="Rounded Rectangle 12"/>
          <p:cNvSpPr/>
          <p:nvPr/>
        </p:nvSpPr>
        <p:spPr>
          <a:xfrm>
            <a:off x="6144768" y="1847088"/>
            <a:ext cx="5230368" cy="373075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2176272"/>
            <a:ext cx="4526280" cy="237744"/>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ACCEPTANCE</a:t>
            </a:r>
          </a:p>
        </p:txBody>
      </p:sp>
      <p:sp>
        <p:nvSpPr>
          <p:cNvPr id="15" name="TextBox 14"/>
          <p:cNvSpPr txBox="1"/>
          <p:nvPr/>
        </p:nvSpPr>
        <p:spPr>
          <a:xfrm>
            <a:off x="6473952" y="2578608"/>
            <a:ext cx="4526280" cy="1417320"/>
          </a:xfrm>
          <a:prstGeom prst="rect">
            <a:avLst/>
          </a:prstGeom>
          <a:noFill/>
        </p:spPr>
        <p:txBody>
          <a:bodyPr wrap="square" anchor="t" lIns="36576" rIns="36576" tIns="36576" bIns="36576">
            <a:spAutoFit/>
          </a:bodyPr>
          <a:lstStyle/>
          <a:p>
            <a:pPr algn="l">
              <a:spcAft>
                <a:spcPts val="0"/>
              </a:spcAft>
            </a:pPr>
            <a:r>
              <a:rPr sz="1500" b="1">
                <a:solidFill>
                  <a:srgbClr val="172433"/>
                </a:solidFill>
                <a:latin typeface="Arial"/>
              </a:rPr>
              <a:t>All baseline tests still pass and OpenAPI exposes each route exactly once.</a:t>
            </a:r>
          </a:p>
        </p:txBody>
      </p:sp>
      <p:sp>
        <p:nvSpPr>
          <p:cNvPr id="16" name="TextBox 15"/>
          <p:cNvSpPr txBox="1"/>
          <p:nvPr/>
        </p:nvSpPr>
        <p:spPr>
          <a:xfrm>
            <a:off x="6473952" y="4279392"/>
            <a:ext cx="4526280" cy="237744"/>
          </a:xfrm>
          <a:prstGeom prst="rect">
            <a:avLst/>
          </a:prstGeom>
          <a:noFill/>
        </p:spPr>
        <p:txBody>
          <a:bodyPr wrap="square" anchor="t" lIns="36576" rIns="36576" tIns="36576" bIns="36576">
            <a:spAutoFit/>
          </a:bodyPr>
          <a:lstStyle/>
          <a:p>
            <a:pPr algn="l">
              <a:spcAft>
                <a:spcPts val="0"/>
              </a:spcAft>
            </a:pPr>
            <a:r>
              <a:rPr sz="1000" b="1">
                <a:solidFill>
                  <a:srgbClr val="7C3AED"/>
                </a:solidFill>
                <a:latin typeface="Arial"/>
              </a:rPr>
              <a:t>ABILITY TRACE</a:t>
            </a:r>
          </a:p>
        </p:txBody>
      </p:sp>
      <p:sp>
        <p:nvSpPr>
          <p:cNvPr id="17" name="TextBox 16"/>
          <p:cNvSpPr txBox="1"/>
          <p:nvPr/>
        </p:nvSpPr>
        <p:spPr>
          <a:xfrm>
            <a:off x="6473952" y="4645152"/>
            <a:ext cx="4526280" cy="438912"/>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A3, A8</a:t>
            </a:r>
          </a:p>
        </p:txBody>
      </p:sp>
      <p:sp>
        <p:nvSpPr>
          <p:cNvPr id="18" name="TextBox 17"/>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9" name="TextBox 18"/>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0" name="TextBox 19"/>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OpenAPI contract + lab prompt</a:t>
            </a:r>
          </a:p>
        </p:txBody>
      </p:sp>
      <p:sp>
        <p:nvSpPr>
          <p:cNvPr id="21" name="TextBox 20"/>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75</a:t>
            </a:r>
          </a:p>
        </p:txBody>
      </p:sp>
    </p:spTree>
  </p:cSld>
  <p:transition spd="fast">
    <p:fade/>
  </p:transition>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04 · SCENARIO</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Add API-Key Protection and CORS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74519"/>
            <a:ext cx="6675120" cy="3611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212848"/>
            <a:ext cx="6035040" cy="34747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DESIGN CHALLENGE</a:t>
            </a:r>
          </a:p>
        </p:txBody>
      </p:sp>
      <p:sp>
        <p:nvSpPr>
          <p:cNvPr id="9" name="TextBox 8"/>
          <p:cNvSpPr txBox="1"/>
          <p:nvPr/>
        </p:nvSpPr>
        <p:spPr>
          <a:xfrm>
            <a:off x="1078992" y="2743200"/>
            <a:ext cx="5989320" cy="1097280"/>
          </a:xfrm>
          <a:prstGeom prst="rect">
            <a:avLst/>
          </a:prstGeom>
          <a:noFill/>
        </p:spPr>
        <p:txBody>
          <a:bodyPr wrap="square" anchor="t" lIns="36576" rIns="36576" tIns="36576" bIns="36576">
            <a:spAutoFit/>
          </a:bodyPr>
          <a:lstStyle/>
          <a:p>
            <a:pPr algn="l">
              <a:spcAft>
                <a:spcPts val="0"/>
              </a:spcAft>
            </a:pPr>
            <a:r>
              <a:rPr sz="2200" b="1">
                <a:solidFill>
                  <a:srgbClr val="172433"/>
                </a:solidFill>
                <a:latin typeface="Arial"/>
              </a:rPr>
              <a:t>Implement a reusable API-key dependency and an explicit browser-origin allow list.</a:t>
            </a:r>
          </a:p>
        </p:txBody>
      </p:sp>
      <p:sp>
        <p:nvSpPr>
          <p:cNvPr id="10" name="TextBox 9"/>
          <p:cNvSpPr txBox="1"/>
          <p:nvPr/>
        </p:nvSpPr>
        <p:spPr>
          <a:xfrm>
            <a:off x="1078992" y="4187952"/>
            <a:ext cx="5989320" cy="731520"/>
          </a:xfrm>
          <a:prstGeom prst="rect">
            <a:avLst/>
          </a:prstGeom>
          <a:noFill/>
        </p:spPr>
        <p:txBody>
          <a:bodyPr wrap="square" anchor="t" lIns="36576" rIns="36576" tIns="36576" bIns="36576">
            <a:spAutoFit/>
          </a:bodyPr>
          <a:lstStyle/>
          <a:p>
            <a:pPr algn="l">
              <a:spcAft>
                <a:spcPts val="0"/>
              </a:spcAft>
            </a:pPr>
            <a:r>
              <a:rPr sz="1400" b="0">
                <a:solidFill>
                  <a:srgbClr val="475569"/>
                </a:solidFill>
                <a:latin typeface="Arial"/>
              </a:rPr>
              <a:t>Build: security.py plus protected write routes</a:t>
            </a:r>
          </a:p>
        </p:txBody>
      </p:sp>
      <p:sp>
        <p:nvSpPr>
          <p:cNvPr id="11" name="Rounded Rectangle 10"/>
          <p:cNvSpPr/>
          <p:nvPr/>
        </p:nvSpPr>
        <p:spPr>
          <a:xfrm>
            <a:off x="7754112" y="1874519"/>
            <a:ext cx="3611880" cy="3611880"/>
          </a:xfrm>
          <a:prstGeom prst="roundRect">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19872" y="2249424"/>
            <a:ext cx="2880360" cy="274320"/>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TOOLS</a:t>
            </a:r>
          </a:p>
        </p:txBody>
      </p:sp>
      <p:sp>
        <p:nvSpPr>
          <p:cNvPr id="13" name="TextBox 12"/>
          <p:cNvSpPr txBox="1"/>
          <p:nvPr/>
        </p:nvSpPr>
        <p:spPr>
          <a:xfrm>
            <a:off x="8119872" y="2724912"/>
            <a:ext cx="2834640" cy="914400"/>
          </a:xfrm>
          <a:prstGeom prst="rect">
            <a:avLst/>
          </a:prstGeom>
          <a:noFill/>
        </p:spPr>
        <p:txBody>
          <a:bodyPr wrap="square" anchor="t" lIns="36576" rIns="36576" tIns="36576" bIns="36576">
            <a:spAutoFit/>
          </a:bodyPr>
          <a:lstStyle/>
          <a:p>
            <a:pPr algn="l">
              <a:spcAft>
                <a:spcPts val="0"/>
              </a:spcAft>
            </a:pPr>
            <a:r>
              <a:rPr sz="1600" b="1">
                <a:solidFill>
                  <a:srgbClr val="172433"/>
                </a:solidFill>
                <a:latin typeface="Arial"/>
              </a:rPr>
              <a:t>FastAPI Depends, Header, CORSMiddleware, OpenAI Python SDK</a:t>
            </a:r>
          </a:p>
        </p:txBody>
      </p:sp>
      <p:sp>
        <p:nvSpPr>
          <p:cNvPr id="14" name="TextBox 13"/>
          <p:cNvSpPr txBox="1"/>
          <p:nvPr/>
        </p:nvSpPr>
        <p:spPr>
          <a:xfrm>
            <a:off x="8119872" y="3886200"/>
            <a:ext cx="2834640" cy="786384"/>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Detailed procedure: Learner Guide + lab README</a:t>
            </a:r>
          </a:p>
        </p:txBody>
      </p:sp>
      <p:sp>
        <p:nvSpPr>
          <p:cNvPr id="15" name="TextBox 14"/>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6" name="TextBox 15"/>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7" name="TextBox 16"/>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76</a:t>
            </a:r>
          </a:p>
        </p:txBody>
      </p:sp>
    </p:spTree>
  </p:cSld>
  <p:transition spd="fast">
    <p:fade/>
  </p:transition>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LAB 04 · PROMPT ARTIFACT</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Prompt submitted by ai_vibe.py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7452360" cy="4005072"/>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121408"/>
            <a:ext cx="6858000" cy="274320"/>
          </a:xfrm>
          <a:prstGeom prst="rect">
            <a:avLst/>
          </a:prstGeom>
          <a:noFill/>
        </p:spPr>
        <p:txBody>
          <a:bodyPr wrap="square" anchor="t" lIns="36576" rIns="36576" tIns="36576" bIns="36576">
            <a:spAutoFit/>
          </a:bodyPr>
          <a:lstStyle/>
          <a:p>
            <a:pPr algn="l">
              <a:spcAft>
                <a:spcPts val="0"/>
              </a:spcAft>
            </a:pPr>
            <a:r>
              <a:rPr sz="1000" b="1">
                <a:solidFill>
                  <a:srgbClr val="06B6D4"/>
                </a:solidFill>
                <a:latin typeface="Arial"/>
              </a:rPr>
              <a:t>LEARNER PROMPT</a:t>
            </a:r>
          </a:p>
        </p:txBody>
      </p:sp>
      <p:sp>
        <p:nvSpPr>
          <p:cNvPr id="9" name="TextBox 8"/>
          <p:cNvSpPr txBox="1"/>
          <p:nvPr/>
        </p:nvSpPr>
        <p:spPr>
          <a:xfrm>
            <a:off x="1051560" y="2596896"/>
            <a:ext cx="6821424" cy="2880360"/>
          </a:xfrm>
          <a:prstGeom prst="rect">
            <a:avLst/>
          </a:prstGeom>
          <a:noFill/>
        </p:spPr>
        <p:txBody>
          <a:bodyPr wrap="square" anchor="t" lIns="36576" rIns="36576" tIns="36576" bIns="36576">
            <a:spAutoFit/>
          </a:bodyPr>
          <a:lstStyle/>
          <a:p>
            <a:pPr algn="l">
              <a:spcAft>
                <a:spcPts val="0"/>
              </a:spcAft>
            </a:pPr>
            <a:r>
              <a:rPr sz="1320" b="0">
                <a:solidFill>
                  <a:srgbClr val="D1FAE5"/>
                </a:solidFill>
                <a:latin typeface="Consolas"/>
              </a:rPr>
              <a:t>You are working on Lab 04 of a Northstar Commerce API. Add a reusable X-API-Key dependency to product, customer and order write routes and configure CORS for only the origin supplied in mock-data.json. Read secrets from environment variables, compare safely, never place a live key in source or browser JavaScript, and test missing, invalid and valid credentials.</a:t>
            </a:r>
          </a:p>
        </p:txBody>
      </p:sp>
      <p:sp>
        <p:nvSpPr>
          <p:cNvPr id="10" name="Rounded Rectangle 9"/>
          <p:cNvSpPr/>
          <p:nvPr/>
        </p:nvSpPr>
        <p:spPr>
          <a:xfrm>
            <a:off x="8439912" y="1847088"/>
            <a:ext cx="2944368" cy="400507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14232" y="2130552"/>
            <a:ext cx="2377440" cy="256032"/>
          </a:xfrm>
          <a:prstGeom prst="rect">
            <a:avLst/>
          </a:prstGeom>
          <a:noFill/>
        </p:spPr>
        <p:txBody>
          <a:bodyPr wrap="square" anchor="t" lIns="36576" rIns="36576" tIns="36576" bIns="36576">
            <a:spAutoFit/>
          </a:bodyPr>
          <a:lstStyle/>
          <a:p>
            <a:pPr algn="l">
              <a:spcAft>
                <a:spcPts val="0"/>
              </a:spcAft>
            </a:pPr>
            <a:r>
              <a:rPr sz="950" b="1">
                <a:solidFill>
                  <a:srgbClr val="7C3AED"/>
                </a:solidFill>
                <a:latin typeface="Arial"/>
              </a:rPr>
              <a:t>PYTHON SDK ENVELOPE</a:t>
            </a:r>
          </a:p>
        </p:txBody>
      </p:sp>
      <p:sp>
        <p:nvSpPr>
          <p:cNvPr id="12" name="Rounded Rectangle 11"/>
          <p:cNvSpPr/>
          <p:nvPr/>
        </p:nvSpPr>
        <p:spPr>
          <a:xfrm>
            <a:off x="8714232" y="2615184"/>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07424" y="2578608"/>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Prompts.pdf</a:t>
            </a:r>
          </a:p>
        </p:txBody>
      </p:sp>
      <p:sp>
        <p:nvSpPr>
          <p:cNvPr id="14" name="Rounded Rectangle 13"/>
          <p:cNvSpPr/>
          <p:nvPr/>
        </p:nvSpPr>
        <p:spPr>
          <a:xfrm>
            <a:off x="8714232" y="3081528"/>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07424" y="3044952"/>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mock-data.json</a:t>
            </a:r>
          </a:p>
        </p:txBody>
      </p:sp>
      <p:sp>
        <p:nvSpPr>
          <p:cNvPr id="16" name="Rounded Rectangle 15"/>
          <p:cNvSpPr/>
          <p:nvPr/>
        </p:nvSpPr>
        <p:spPr>
          <a:xfrm>
            <a:off x="8714232" y="3547872"/>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07424" y="3511296"/>
            <a:ext cx="1874519" cy="274320"/>
          </a:xfrm>
          <a:prstGeom prst="rect">
            <a:avLst/>
          </a:prstGeom>
          <a:noFill/>
        </p:spPr>
        <p:txBody>
          <a:bodyPr wrap="square" anchor="t" lIns="36576" rIns="36576" tIns="36576" bIns="36576">
            <a:spAutoFit/>
          </a:bodyPr>
          <a:lstStyle/>
          <a:p>
            <a:pPr algn="l">
              <a:spcAft>
                <a:spcPts val="0"/>
              </a:spcAft>
            </a:pPr>
            <a:r>
              <a:rPr sz="1050" b="1">
                <a:solidFill>
                  <a:srgbClr val="172433"/>
                </a:solidFill>
                <a:latin typeface="Arial"/>
              </a:rPr>
              <a:t>responses.parse</a:t>
            </a:r>
          </a:p>
        </p:txBody>
      </p:sp>
      <p:sp>
        <p:nvSpPr>
          <p:cNvPr id="18" name="Rounded Rectangle 17"/>
          <p:cNvSpPr/>
          <p:nvPr/>
        </p:nvSpPr>
        <p:spPr>
          <a:xfrm>
            <a:off x="8714232" y="4014215"/>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07424" y="3977639"/>
            <a:ext cx="1874519" cy="274320"/>
          </a:xfrm>
          <a:prstGeom prst="rect">
            <a:avLst/>
          </a:prstGeom>
          <a:noFill/>
        </p:spPr>
        <p:txBody>
          <a:bodyPr wrap="square" anchor="t" lIns="36576" rIns="36576" tIns="36576" bIns="36576">
            <a:spAutoFit/>
          </a:bodyPr>
          <a:lstStyle/>
          <a:p>
            <a:pPr algn="l">
              <a:spcAft>
                <a:spcPts val="0"/>
              </a:spcAft>
            </a:pPr>
            <a:r>
              <a:rPr sz="1050" b="1">
                <a:solidFill>
                  <a:srgbClr val="172433"/>
                </a:solidFill>
                <a:latin typeface="Arial"/>
              </a:rPr>
              <a:t>CodeBundle</a:t>
            </a:r>
          </a:p>
        </p:txBody>
      </p:sp>
      <p:sp>
        <p:nvSpPr>
          <p:cNvPr id="20" name="Rounded Rectangle 19"/>
          <p:cNvSpPr/>
          <p:nvPr/>
        </p:nvSpPr>
        <p:spPr>
          <a:xfrm>
            <a:off x="8714232" y="4480560"/>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07424" y="4443984"/>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generated/</a:t>
            </a:r>
          </a:p>
        </p:txBody>
      </p:sp>
      <p:sp>
        <p:nvSpPr>
          <p:cNvPr id="22" name="Rounded Rectangle 21"/>
          <p:cNvSpPr/>
          <p:nvPr/>
        </p:nvSpPr>
        <p:spPr>
          <a:xfrm>
            <a:off x="8714232" y="4946904"/>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07424" y="4910328"/>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pytest + review</a:t>
            </a:r>
          </a:p>
        </p:txBody>
      </p:sp>
      <p:sp>
        <p:nvSpPr>
          <p:cNvPr id="24" name="TextBox 23"/>
          <p:cNvSpPr txBox="1"/>
          <p:nvPr/>
        </p:nvSpPr>
        <p:spPr>
          <a:xfrm>
            <a:off x="8714232" y="5468112"/>
            <a:ext cx="2148840" cy="219456"/>
          </a:xfrm>
          <a:prstGeom prst="rect">
            <a:avLst/>
          </a:prstGeom>
          <a:noFill/>
        </p:spPr>
        <p:txBody>
          <a:bodyPr wrap="square" anchor="t" lIns="36576" rIns="36576" tIns="36576" bIns="36576">
            <a:spAutoFit/>
          </a:bodyPr>
          <a:lstStyle/>
          <a:p>
            <a:pPr algn="l">
              <a:spcAft>
                <a:spcPts val="0"/>
              </a:spcAft>
            </a:pPr>
            <a:r>
              <a:rPr sz="950" b="1">
                <a:solidFill>
                  <a:srgbClr val="10B981"/>
                </a:solidFill>
                <a:latin typeface="Arial"/>
              </a:rPr>
              <a:t>Full prompt + refinement</a:t>
            </a:r>
          </a:p>
        </p:txBody>
      </p:sp>
      <p:sp>
        <p:nvSpPr>
          <p:cNvPr id="25" name="TextBox 24"/>
          <p:cNvSpPr txBox="1"/>
          <p:nvPr/>
        </p:nvSpPr>
        <p:spPr>
          <a:xfrm>
            <a:off x="8714232" y="5650992"/>
            <a:ext cx="2148840" cy="219456"/>
          </a:xfrm>
          <a:prstGeom prst="rect">
            <a:avLst/>
          </a:prstGeom>
          <a:noFill/>
        </p:spPr>
        <p:txBody>
          <a:bodyPr wrap="square" anchor="t" lIns="36576" rIns="36576" tIns="36576" bIns="36576">
            <a:spAutoFit/>
          </a:bodyPr>
          <a:lstStyle/>
          <a:p>
            <a:pPr algn="l">
              <a:spcAft>
                <a:spcPts val="0"/>
              </a:spcAft>
            </a:pPr>
            <a:r>
              <a:rPr sz="950" b="0">
                <a:solidFill>
                  <a:srgbClr val="475569"/>
                </a:solidFill>
                <a:latin typeface="Arial"/>
              </a:rPr>
              <a:t>in the lab Prompts.pdf</a:t>
            </a:r>
          </a:p>
        </p:txBody>
      </p:sp>
      <p:sp>
        <p:nvSpPr>
          <p:cNvPr id="26" name="TextBox 2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7" name="TextBox 2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8" name="TextBox 27"/>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OpenAI Python SDK</a:t>
            </a:r>
          </a:p>
        </p:txBody>
      </p:sp>
      <p:sp>
        <p:nvSpPr>
          <p:cNvPr id="29" name="TextBox 2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77</a:t>
            </a:r>
          </a:p>
        </p:txBody>
      </p:sp>
    </p:spTree>
  </p:cSld>
  <p:transition spd="fast">
    <p:fade/>
  </p:transition>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04 · MECHANISM</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How Add API-Key Protection and CORS works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665351"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5351"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1</a:t>
            </a:r>
          </a:p>
        </p:txBody>
      </p:sp>
      <p:sp>
        <p:nvSpPr>
          <p:cNvPr id="10" name="TextBox 9"/>
          <p:cNvSpPr txBox="1"/>
          <p:nvPr/>
        </p:nvSpPr>
        <p:spPr>
          <a:xfrm>
            <a:off x="859536"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Input contract</a:t>
            </a:r>
          </a:p>
        </p:txBody>
      </p:sp>
      <p:sp>
        <p:nvSpPr>
          <p:cNvPr id="11" name="TextBox 10"/>
          <p:cNvSpPr txBox="1"/>
          <p:nvPr/>
        </p:nvSpPr>
        <p:spPr>
          <a:xfrm>
            <a:off x="886968"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Implement a reusable API-key dependency and an explicit browser-origin allow list.</a:t>
            </a:r>
          </a:p>
        </p:txBody>
      </p:sp>
      <p:sp>
        <p:nvSpPr>
          <p:cNvPr id="12" name="Rounded Rectangle 11"/>
          <p:cNvSpPr/>
          <p:nvPr/>
        </p:nvSpPr>
        <p:spPr>
          <a:xfrm>
            <a:off x="3477006"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92549"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92549"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2</a:t>
            </a:r>
          </a:p>
        </p:txBody>
      </p:sp>
      <p:sp>
        <p:nvSpPr>
          <p:cNvPr id="15" name="TextBox 14"/>
          <p:cNvSpPr txBox="1"/>
          <p:nvPr/>
        </p:nvSpPr>
        <p:spPr>
          <a:xfrm>
            <a:off x="3586734"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Boundary validation</a:t>
            </a:r>
          </a:p>
        </p:txBody>
      </p:sp>
      <p:sp>
        <p:nvSpPr>
          <p:cNvPr id="16" name="TextBox 15"/>
          <p:cNvSpPr txBox="1"/>
          <p:nvPr/>
        </p:nvSpPr>
        <p:spPr>
          <a:xfrm>
            <a:off x="3614166"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Reject invalid or unauthorised input</a:t>
            </a:r>
          </a:p>
        </p:txBody>
      </p:sp>
      <p:sp>
        <p:nvSpPr>
          <p:cNvPr id="17" name="Rounded Rectangle 16"/>
          <p:cNvSpPr/>
          <p:nvPr/>
        </p:nvSpPr>
        <p:spPr>
          <a:xfrm>
            <a:off x="6204204"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119747"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9747"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3</a:t>
            </a:r>
          </a:p>
        </p:txBody>
      </p:sp>
      <p:sp>
        <p:nvSpPr>
          <p:cNvPr id="20" name="TextBox 19"/>
          <p:cNvSpPr txBox="1"/>
          <p:nvPr/>
        </p:nvSpPr>
        <p:spPr>
          <a:xfrm>
            <a:off x="6313932"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Business decision</a:t>
            </a:r>
          </a:p>
        </p:txBody>
      </p:sp>
      <p:sp>
        <p:nvSpPr>
          <p:cNvPr id="21" name="TextBox 20"/>
          <p:cNvSpPr txBox="1"/>
          <p:nvPr/>
        </p:nvSpPr>
        <p:spPr>
          <a:xfrm>
            <a:off x="6341364"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Apply one explicit rule</a:t>
            </a:r>
          </a:p>
        </p:txBody>
      </p:sp>
      <p:sp>
        <p:nvSpPr>
          <p:cNvPr id="22" name="Rounded Rectangle 21"/>
          <p:cNvSpPr/>
          <p:nvPr/>
        </p:nvSpPr>
        <p:spPr>
          <a:xfrm>
            <a:off x="8931402"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46945"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46945"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4</a:t>
            </a:r>
          </a:p>
        </p:txBody>
      </p:sp>
      <p:sp>
        <p:nvSpPr>
          <p:cNvPr id="25" name="TextBox 24"/>
          <p:cNvSpPr txBox="1"/>
          <p:nvPr/>
        </p:nvSpPr>
        <p:spPr>
          <a:xfrm>
            <a:off x="9041130"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State/evidence</a:t>
            </a:r>
          </a:p>
        </p:txBody>
      </p:sp>
      <p:sp>
        <p:nvSpPr>
          <p:cNvPr id="26" name="TextBox 25"/>
          <p:cNvSpPr txBox="1"/>
          <p:nvPr/>
        </p:nvSpPr>
        <p:spPr>
          <a:xfrm>
            <a:off x="9068562"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Unauthorized writes return 401; a valid key succeeds; only the configured origin receives CORS permission.</a:t>
            </a:r>
          </a:p>
        </p:txBody>
      </p:sp>
      <p:sp>
        <p:nvSpPr>
          <p:cNvPr id="27" name="TextBox 26"/>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8" name="TextBox 27"/>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9" name="TextBox 2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78</a:t>
            </a:r>
          </a:p>
        </p:txBody>
      </p:sp>
    </p:spTree>
  </p:cSld>
  <p:transition spd="fast">
    <p:fade/>
  </p:transition>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04 ·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security.py plus protected write routes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01952"/>
            <a:ext cx="6812280" cy="3611880"/>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194560"/>
            <a:ext cx="6144768" cy="3063240"/>
          </a:xfrm>
          <a:prstGeom prst="rect">
            <a:avLst/>
          </a:prstGeom>
          <a:noFill/>
        </p:spPr>
        <p:txBody>
          <a:bodyPr wrap="square" anchor="t" lIns="36576" rIns="36576" tIns="36576" bIns="36576">
            <a:spAutoFit/>
          </a:bodyPr>
          <a:lstStyle/>
          <a:p>
            <a:pPr algn="l">
              <a:spcAft>
                <a:spcPts val="0"/>
              </a:spcAft>
            </a:pPr>
            <a:r>
              <a:rPr sz="1250" b="0">
                <a:solidFill>
                  <a:srgbClr val="A7F3D0"/>
                </a:solidFill>
                <a:latin typeface="Consolas"/>
              </a:rPr>
              <a:t>REQUEST
  lab: 04
  objective: Implement a reusable API-key dependency and an
             explicit browser-origin allow list.
EXPECTED EVIDENCE
  artifact: security.py plus protected write routes
  codes: A7, A8
  status: verified</a:t>
            </a:r>
          </a:p>
        </p:txBody>
      </p:sp>
      <p:sp>
        <p:nvSpPr>
          <p:cNvPr id="9" name="Rounded Rectangle 8"/>
          <p:cNvSpPr/>
          <p:nvPr/>
        </p:nvSpPr>
        <p:spPr>
          <a:xfrm>
            <a:off x="7882127" y="1901952"/>
            <a:ext cx="3493008" cy="3611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2212848"/>
            <a:ext cx="2880360" cy="310896"/>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ASSESSMENT BRIDGE</a:t>
            </a:r>
          </a:p>
        </p:txBody>
      </p:sp>
      <p:sp>
        <p:nvSpPr>
          <p:cNvPr id="11" name="TextBox 10"/>
          <p:cNvSpPr txBox="1"/>
          <p:nvPr/>
        </p:nvSpPr>
        <p:spPr>
          <a:xfrm>
            <a:off x="8193024" y="2761488"/>
            <a:ext cx="2834640" cy="1051560"/>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Ability codes
A7, A8</a:t>
            </a:r>
          </a:p>
        </p:txBody>
      </p:sp>
      <p:sp>
        <p:nvSpPr>
          <p:cNvPr id="12" name="TextBox 11"/>
          <p:cNvSpPr txBox="1"/>
          <p:nvPr/>
        </p:nvSpPr>
        <p:spPr>
          <a:xfrm>
            <a:off x="8193024" y="4160520"/>
            <a:ext cx="2788920" cy="685800"/>
          </a:xfrm>
          <a:prstGeom prst="rect">
            <a:avLst/>
          </a:prstGeom>
          <a:noFill/>
        </p:spPr>
        <p:txBody>
          <a:bodyPr wrap="square" anchor="t" lIns="36576" rIns="36576" tIns="36576" bIns="36576">
            <a:spAutoFit/>
          </a:bodyPr>
          <a:lstStyle/>
          <a:p>
            <a:pPr algn="l">
              <a:spcAft>
                <a:spcPts val="0"/>
              </a:spcAft>
            </a:pPr>
            <a:r>
              <a:rPr sz="1100" b="0">
                <a:solidFill>
                  <a:srgbClr val="475569"/>
                </a:solidFill>
                <a:latin typeface="Arial"/>
              </a:rPr>
              <a:t>Capture a screenshot, terminal output or test result that proves the acceptance criterion.</a:t>
            </a:r>
          </a:p>
        </p:txBody>
      </p:sp>
      <p:sp>
        <p:nvSpPr>
          <p:cNvPr id="13" name="TextBox 1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4" name="TextBox 1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5" name="TextBox 14"/>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79</a:t>
            </a:r>
          </a:p>
        </p:txBody>
      </p:sp>
    </p:spTree>
  </p:cSld>
  <p:transition spd="fast">
    <p:fade/>
  </p:transition>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04 · VERIFY</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Acceptance and diagnosis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74519"/>
            <a:ext cx="5166360" cy="3611880"/>
          </a:xfrm>
          <a:prstGeom prst="roundRect">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240280"/>
            <a:ext cx="4526280" cy="310896"/>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PASS WHEN</a:t>
            </a:r>
          </a:p>
        </p:txBody>
      </p:sp>
      <p:sp>
        <p:nvSpPr>
          <p:cNvPr id="9" name="TextBox 8"/>
          <p:cNvSpPr txBox="1"/>
          <p:nvPr/>
        </p:nvSpPr>
        <p:spPr>
          <a:xfrm>
            <a:off x="1078992" y="2798064"/>
            <a:ext cx="4498848" cy="1600200"/>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Unauthorized writes return 401; a valid key succeeds; only the configured origin receives CORS permission.</a:t>
            </a:r>
          </a:p>
        </p:txBody>
      </p:sp>
      <p:sp>
        <p:nvSpPr>
          <p:cNvPr id="10" name="Rounded Rectangle 9"/>
          <p:cNvSpPr/>
          <p:nvPr/>
        </p:nvSpPr>
        <p:spPr>
          <a:xfrm>
            <a:off x="6217920" y="1874519"/>
            <a:ext cx="5148072" cy="3611880"/>
          </a:xfrm>
          <a:prstGeom prst="roundRect">
            <a:avLst/>
          </a:prstGeom>
          <a:solidFill>
            <a:srgbClr val="FEF2F2"/>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56248" y="2240280"/>
            <a:ext cx="4480560" cy="310896"/>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DIAGNOSE</a:t>
            </a:r>
          </a:p>
        </p:txBody>
      </p:sp>
      <p:sp>
        <p:nvSpPr>
          <p:cNvPr id="12" name="TextBox 11"/>
          <p:cNvSpPr txBox="1"/>
          <p:nvPr/>
        </p:nvSpPr>
        <p:spPr>
          <a:xfrm>
            <a:off x="6556248" y="277063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1. Inspect HTTP status and response body</a:t>
            </a:r>
          </a:p>
        </p:txBody>
      </p:sp>
      <p:sp>
        <p:nvSpPr>
          <p:cNvPr id="13" name="TextBox 12"/>
          <p:cNvSpPr txBox="1"/>
          <p:nvPr/>
        </p:nvSpPr>
        <p:spPr>
          <a:xfrm>
            <a:off x="6556248" y="327355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2. Check request fields and headers</a:t>
            </a:r>
          </a:p>
        </p:txBody>
      </p:sp>
      <p:sp>
        <p:nvSpPr>
          <p:cNvPr id="14" name="TextBox 13"/>
          <p:cNvSpPr txBox="1"/>
          <p:nvPr/>
        </p:nvSpPr>
        <p:spPr>
          <a:xfrm>
            <a:off x="6556248" y="377647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3. Follow request ID into logs</a:t>
            </a:r>
          </a:p>
        </p:txBody>
      </p:sp>
      <p:sp>
        <p:nvSpPr>
          <p:cNvPr id="15" name="TextBox 14"/>
          <p:cNvSpPr txBox="1"/>
          <p:nvPr/>
        </p:nvSpPr>
        <p:spPr>
          <a:xfrm>
            <a:off x="6556248" y="427939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4. Re-run the smallest failing test</a:t>
            </a:r>
          </a:p>
        </p:txBody>
      </p:sp>
      <p:sp>
        <p:nvSpPr>
          <p:cNvPr id="16" name="TextBox 1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7" name="TextBox 1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8" name="TextBox 17"/>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80</a:t>
            </a:r>
          </a:p>
        </p:txBody>
      </p:sp>
    </p:spTree>
  </p:cSld>
  <p:transition spd="fast">
    <p:fade/>
  </p:transition>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LAB 04 · CONTRACT REVIEW</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Prompt output must preserve the API boundary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02352" cy="3730752"/>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176272"/>
            <a:ext cx="4434840" cy="420624"/>
          </a:xfrm>
          <a:prstGeom prst="rect">
            <a:avLst/>
          </a:prstGeom>
          <a:noFill/>
        </p:spPr>
        <p:txBody>
          <a:bodyPr wrap="square" anchor="t" lIns="36576" rIns="36576" tIns="36576" bIns="36576">
            <a:spAutoFit/>
          </a:bodyPr>
          <a:lstStyle/>
          <a:p>
            <a:pPr algn="l">
              <a:spcAft>
                <a:spcPts val="0"/>
              </a:spcAft>
            </a:pPr>
            <a:r>
              <a:rPr sz="1000" b="1">
                <a:solidFill>
                  <a:srgbClr val="D1FAE5"/>
                </a:solidFill>
                <a:latin typeface="Arial"/>
              </a:rPr>
              <a:t>TARGET FILES</a:t>
            </a:r>
          </a:p>
        </p:txBody>
      </p:sp>
      <p:sp>
        <p:nvSpPr>
          <p:cNvPr id="9" name="TextBox 8"/>
          <p:cNvSpPr txBox="1"/>
          <p:nvPr/>
        </p:nvSpPr>
        <p:spPr>
          <a:xfrm>
            <a:off x="1078992" y="2743200"/>
            <a:ext cx="4434840" cy="420624"/>
          </a:xfrm>
          <a:prstGeom prst="rect">
            <a:avLst/>
          </a:prstGeom>
          <a:noFill/>
        </p:spPr>
        <p:txBody>
          <a:bodyPr wrap="square" anchor="t" lIns="36576" rIns="36576" tIns="36576" bIns="36576">
            <a:spAutoFit/>
          </a:bodyPr>
          <a:lstStyle/>
          <a:p>
            <a:pPr algn="l">
              <a:spcAft>
                <a:spcPts val="0"/>
              </a:spcAft>
            </a:pPr>
            <a:r>
              <a:rPr sz="1100" b="0">
                <a:solidFill>
                  <a:srgbClr val="D1FAE5"/>
                </a:solidFill>
                <a:latin typeface="Consolas"/>
              </a:rPr>
              <a:t>app/security.py</a:t>
            </a:r>
          </a:p>
        </p:txBody>
      </p:sp>
      <p:sp>
        <p:nvSpPr>
          <p:cNvPr id="10" name="TextBox 9"/>
          <p:cNvSpPr txBox="1"/>
          <p:nvPr/>
        </p:nvSpPr>
        <p:spPr>
          <a:xfrm>
            <a:off x="1078992" y="3310128"/>
            <a:ext cx="4434840" cy="420624"/>
          </a:xfrm>
          <a:prstGeom prst="rect">
            <a:avLst/>
          </a:prstGeom>
          <a:noFill/>
        </p:spPr>
        <p:txBody>
          <a:bodyPr wrap="square" anchor="t" lIns="36576" rIns="36576" tIns="36576" bIns="36576">
            <a:spAutoFit/>
          </a:bodyPr>
          <a:lstStyle/>
          <a:p>
            <a:pPr algn="l">
              <a:spcAft>
                <a:spcPts val="0"/>
              </a:spcAft>
            </a:pPr>
            <a:r>
              <a:rPr sz="1100" b="0">
                <a:solidFill>
                  <a:srgbClr val="D1FAE5"/>
                </a:solidFill>
                <a:latin typeface="Consolas"/>
              </a:rPr>
              <a:t>app/main.py</a:t>
            </a:r>
          </a:p>
        </p:txBody>
      </p:sp>
      <p:sp>
        <p:nvSpPr>
          <p:cNvPr id="11" name="TextBox 10"/>
          <p:cNvSpPr txBox="1"/>
          <p:nvPr/>
        </p:nvSpPr>
        <p:spPr>
          <a:xfrm>
            <a:off x="1078992" y="3877056"/>
            <a:ext cx="4434840" cy="420624"/>
          </a:xfrm>
          <a:prstGeom prst="rect">
            <a:avLst/>
          </a:prstGeom>
          <a:noFill/>
        </p:spPr>
        <p:txBody>
          <a:bodyPr wrap="square" anchor="t" lIns="36576" rIns="36576" tIns="36576" bIns="36576">
            <a:spAutoFit/>
          </a:bodyPr>
          <a:lstStyle/>
          <a:p>
            <a:pPr algn="l">
              <a:spcAft>
                <a:spcPts val="0"/>
              </a:spcAft>
            </a:pPr>
            <a:r>
              <a:rPr sz="1100" b="0">
                <a:solidFill>
                  <a:srgbClr val="D1FAE5"/>
                </a:solidFill>
                <a:latin typeface="Consolas"/>
              </a:rPr>
              <a:t>tests/test_security.py</a:t>
            </a:r>
          </a:p>
        </p:txBody>
      </p:sp>
      <p:sp>
        <p:nvSpPr>
          <p:cNvPr id="12" name="Rounded Rectangle 11"/>
          <p:cNvSpPr/>
          <p:nvPr/>
        </p:nvSpPr>
        <p:spPr>
          <a:xfrm>
            <a:off x="6144768" y="1847088"/>
            <a:ext cx="5230368" cy="373075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2176272"/>
            <a:ext cx="4526280" cy="237744"/>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ACCEPTANCE</a:t>
            </a:r>
          </a:p>
        </p:txBody>
      </p:sp>
      <p:sp>
        <p:nvSpPr>
          <p:cNvPr id="14" name="TextBox 13"/>
          <p:cNvSpPr txBox="1"/>
          <p:nvPr/>
        </p:nvSpPr>
        <p:spPr>
          <a:xfrm>
            <a:off x="6473952" y="2578608"/>
            <a:ext cx="4526280" cy="1417320"/>
          </a:xfrm>
          <a:prstGeom prst="rect">
            <a:avLst/>
          </a:prstGeom>
          <a:noFill/>
        </p:spPr>
        <p:txBody>
          <a:bodyPr wrap="square" anchor="t" lIns="36576" rIns="36576" tIns="36576" bIns="36576">
            <a:spAutoFit/>
          </a:bodyPr>
          <a:lstStyle/>
          <a:p>
            <a:pPr algn="l">
              <a:spcAft>
                <a:spcPts val="0"/>
              </a:spcAft>
            </a:pPr>
            <a:r>
              <a:rPr sz="1500" b="1">
                <a:solidFill>
                  <a:srgbClr val="172433"/>
                </a:solidFill>
                <a:latin typeface="Arial"/>
              </a:rPr>
              <a:t>Unauthorized writes return 401; a valid key succeeds; only the configured origin receives CORS permission.</a:t>
            </a:r>
          </a:p>
        </p:txBody>
      </p:sp>
      <p:sp>
        <p:nvSpPr>
          <p:cNvPr id="15" name="TextBox 14"/>
          <p:cNvSpPr txBox="1"/>
          <p:nvPr/>
        </p:nvSpPr>
        <p:spPr>
          <a:xfrm>
            <a:off x="6473952" y="4279392"/>
            <a:ext cx="4526280" cy="237744"/>
          </a:xfrm>
          <a:prstGeom prst="rect">
            <a:avLst/>
          </a:prstGeom>
          <a:noFill/>
        </p:spPr>
        <p:txBody>
          <a:bodyPr wrap="square" anchor="t" lIns="36576" rIns="36576" tIns="36576" bIns="36576">
            <a:spAutoFit/>
          </a:bodyPr>
          <a:lstStyle/>
          <a:p>
            <a:pPr algn="l">
              <a:spcAft>
                <a:spcPts val="0"/>
              </a:spcAft>
            </a:pPr>
            <a:r>
              <a:rPr sz="1000" b="1">
                <a:solidFill>
                  <a:srgbClr val="7C3AED"/>
                </a:solidFill>
                <a:latin typeface="Arial"/>
              </a:rPr>
              <a:t>ABILITY TRACE</a:t>
            </a:r>
          </a:p>
        </p:txBody>
      </p:sp>
      <p:sp>
        <p:nvSpPr>
          <p:cNvPr id="16" name="TextBox 15"/>
          <p:cNvSpPr txBox="1"/>
          <p:nvPr/>
        </p:nvSpPr>
        <p:spPr>
          <a:xfrm>
            <a:off x="6473952" y="4645152"/>
            <a:ext cx="4526280" cy="438912"/>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A7, A8</a:t>
            </a:r>
          </a:p>
        </p:txBody>
      </p:sp>
      <p:sp>
        <p:nvSpPr>
          <p:cNvPr id="17" name="TextBox 16"/>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8" name="TextBox 17"/>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9" name="TextBox 18"/>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OpenAPI contract + lab prompt</a:t>
            </a:r>
          </a:p>
        </p:txBody>
      </p:sp>
      <p:sp>
        <p:nvSpPr>
          <p:cNvPr id="20" name="TextBox 19"/>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81</a:t>
            </a:r>
          </a:p>
        </p:txBody>
      </p:sp>
    </p:spTree>
  </p:cSld>
  <p:transition spd="fast">
    <p:fade/>
  </p:transition>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hero-v1.png"/>
          <p:cNvPicPr>
            <a:picLocks noChangeAspect="1"/>
          </p:cNvPicPr>
          <p:nvPr/>
        </p:nvPicPr>
        <p:blipFill>
          <a:blip r:embed="rId2"/>
          <a:stretch>
            <a:fillRect/>
          </a:stretch>
        </p:blipFill>
        <p:spPr>
          <a:xfrm>
            <a:off x="6812280" y="0"/>
            <a:ext cx="5376672" cy="6858000"/>
          </a:xfrm>
          <a:prstGeom prst="rect">
            <a:avLst/>
          </a:prstGeom>
        </p:spPr>
      </p:pic>
      <p:sp>
        <p:nvSpPr>
          <p:cNvPr id="4" name="Rectangle 3"/>
          <p:cNvSpPr/>
          <p:nvPr/>
        </p:nvSpPr>
        <p:spPr>
          <a:xfrm>
            <a:off x="6812280" y="0"/>
            <a:ext cx="5376672"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024128"/>
            <a:ext cx="5212080" cy="274320"/>
          </a:xfrm>
          <a:prstGeom prst="rect">
            <a:avLst/>
          </a:prstGeom>
          <a:noFill/>
        </p:spPr>
        <p:txBody>
          <a:bodyPr wrap="square" anchor="t" lIns="36576" rIns="36576" tIns="36576" bIns="36576">
            <a:spAutoFit/>
          </a:bodyPr>
          <a:lstStyle/>
          <a:p>
            <a:pPr algn="l">
              <a:spcAft>
                <a:spcPts val="0"/>
              </a:spcAft>
            </a:pPr>
            <a:r>
              <a:rPr sz="1200" b="1">
                <a:solidFill>
                  <a:srgbClr val="06B6D4"/>
                </a:solidFill>
                <a:latin typeface="Arial"/>
              </a:rPr>
              <a:t>TOPIC 03</a:t>
            </a:r>
          </a:p>
        </p:txBody>
      </p:sp>
      <p:sp>
        <p:nvSpPr>
          <p:cNvPr id="6" name="TextBox 5"/>
          <p:cNvSpPr txBox="1"/>
          <p:nvPr/>
        </p:nvSpPr>
        <p:spPr>
          <a:xfrm>
            <a:off x="777240" y="1481328"/>
            <a:ext cx="5943600" cy="1874519"/>
          </a:xfrm>
          <a:prstGeom prst="rect">
            <a:avLst/>
          </a:prstGeom>
          <a:noFill/>
        </p:spPr>
        <p:txBody>
          <a:bodyPr wrap="square" anchor="t" lIns="36576" rIns="36576" tIns="36576" bIns="36576">
            <a:spAutoFit/>
          </a:bodyPr>
          <a:lstStyle/>
          <a:p>
            <a:pPr algn="l">
              <a:spcAft>
                <a:spcPts val="0"/>
              </a:spcAft>
            </a:pPr>
            <a:r>
              <a:rPr sz="3000" b="1">
                <a:solidFill>
                  <a:srgbClr val="FFFFFF"/>
                </a:solidFill>
                <a:latin typeface="Arial"/>
              </a:rPr>
              <a:t>Request Handling, Data Validation and JSON Responses</a:t>
            </a:r>
          </a:p>
        </p:txBody>
      </p:sp>
      <p:sp>
        <p:nvSpPr>
          <p:cNvPr id="7" name="TextBox 6"/>
          <p:cNvSpPr txBox="1"/>
          <p:nvPr/>
        </p:nvSpPr>
        <p:spPr>
          <a:xfrm>
            <a:off x="804672" y="3822191"/>
            <a:ext cx="5623560" cy="749808"/>
          </a:xfrm>
          <a:prstGeom prst="rect">
            <a:avLst/>
          </a:prstGeom>
          <a:noFill/>
        </p:spPr>
        <p:txBody>
          <a:bodyPr wrap="square" anchor="t" lIns="36576" rIns="36576" tIns="36576" bIns="36576">
            <a:spAutoFit/>
          </a:bodyPr>
          <a:lstStyle/>
          <a:p>
            <a:pPr algn="l">
              <a:spcAft>
                <a:spcPts val="0"/>
              </a:spcAft>
            </a:pPr>
            <a:r>
              <a:rPr sz="1600" b="0">
                <a:solidFill>
                  <a:srgbClr val="CBD5E1"/>
                </a:solidFill>
                <a:latin typeface="Arial"/>
              </a:rPr>
              <a:t>Path/query/body data · Pydantic models · response filtering · PATCH</a:t>
            </a:r>
          </a:p>
        </p:txBody>
      </p:sp>
      <p:sp>
        <p:nvSpPr>
          <p:cNvPr id="8" name="TextBox 7"/>
          <p:cNvSpPr txBox="1"/>
          <p:nvPr/>
        </p:nvSpPr>
        <p:spPr>
          <a:xfrm>
            <a:off x="731520" y="5074920"/>
            <a:ext cx="2194560" cy="822960"/>
          </a:xfrm>
          <a:prstGeom prst="rect">
            <a:avLst/>
          </a:prstGeom>
          <a:noFill/>
        </p:spPr>
        <p:txBody>
          <a:bodyPr wrap="square" anchor="t" lIns="36576" rIns="36576" tIns="36576" bIns="36576">
            <a:spAutoFit/>
          </a:bodyPr>
          <a:lstStyle/>
          <a:p>
            <a:pPr algn="l">
              <a:spcAft>
                <a:spcPts val="0"/>
              </a:spcAft>
            </a:pPr>
            <a:r>
              <a:rPr sz="6400" b="1">
                <a:solidFill>
                  <a:srgbClr val="06B6D4"/>
                </a:solidFill>
                <a:latin typeface="Arial"/>
              </a:rPr>
              <a:t>03</a:t>
            </a:r>
          </a:p>
        </p:txBody>
      </p:sp>
      <p:sp>
        <p:nvSpPr>
          <p:cNvPr id="9" name="TextBox 8"/>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0" name="TextBox 9"/>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1" name="TextBox 10"/>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82</a:t>
            </a:r>
          </a:p>
        </p:txBody>
      </p:sp>
    </p:spTree>
  </p:cSld>
  <p:transition spd="med">
    <p:push/>
  </p:transition>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TOPIC 03 · MODEL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FastAPI classifies inputs by declaration</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A name in the path is a path parameter; a scalar is query data; a Pydantic model is a JSON body.</a:t>
            </a:r>
          </a:p>
        </p:txBody>
      </p:sp>
      <p:sp>
        <p:nvSpPr>
          <p:cNvPr id="8" name="Rounded Rectangle 7"/>
          <p:cNvSpPr/>
          <p:nvPr/>
        </p:nvSpPr>
        <p:spPr>
          <a:xfrm>
            <a:off x="749808"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50976" y="2596896"/>
            <a:ext cx="502920" cy="50292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1</a:t>
            </a:r>
          </a:p>
        </p:txBody>
      </p:sp>
      <p:sp>
        <p:nvSpPr>
          <p:cNvPr id="11" name="TextBox 10"/>
          <p:cNvSpPr txBox="1"/>
          <p:nvPr/>
        </p:nvSpPr>
        <p:spPr>
          <a:xfrm>
            <a:off x="1682496"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/products/{product_id}</a:t>
            </a:r>
          </a:p>
        </p:txBody>
      </p:sp>
      <p:sp>
        <p:nvSpPr>
          <p:cNvPr id="12" name="Rounded Rectangle 11"/>
          <p:cNvSpPr/>
          <p:nvPr/>
        </p:nvSpPr>
        <p:spPr>
          <a:xfrm>
            <a:off x="6172200"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73368" y="2596896"/>
            <a:ext cx="502920" cy="502920"/>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2</a:t>
            </a:r>
          </a:p>
        </p:txBody>
      </p:sp>
      <p:sp>
        <p:nvSpPr>
          <p:cNvPr id="15" name="TextBox 14"/>
          <p:cNvSpPr txBox="1"/>
          <p:nvPr/>
        </p:nvSpPr>
        <p:spPr>
          <a:xfrm>
            <a:off x="7104888"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?status=open</a:t>
            </a:r>
          </a:p>
        </p:txBody>
      </p:sp>
      <p:sp>
        <p:nvSpPr>
          <p:cNvPr id="16" name="Rounded Rectangle 15"/>
          <p:cNvSpPr/>
          <p:nvPr/>
        </p:nvSpPr>
        <p:spPr>
          <a:xfrm>
            <a:off x="749808" y="3639311"/>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50976" y="3904487"/>
            <a:ext cx="502920" cy="50292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0976" y="4032503"/>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3</a:t>
            </a:r>
          </a:p>
        </p:txBody>
      </p:sp>
      <p:sp>
        <p:nvSpPr>
          <p:cNvPr id="19" name="TextBox 18"/>
          <p:cNvSpPr txBox="1"/>
          <p:nvPr/>
        </p:nvSpPr>
        <p:spPr>
          <a:xfrm>
            <a:off x="1682496" y="3840479"/>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ProductCreate body</a:t>
            </a:r>
          </a:p>
        </p:txBody>
      </p:sp>
      <p:sp>
        <p:nvSpPr>
          <p:cNvPr id="20" name="Rounded Rectangle 19"/>
          <p:cNvSpPr/>
          <p:nvPr/>
        </p:nvSpPr>
        <p:spPr>
          <a:xfrm>
            <a:off x="6172200" y="3639311"/>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73368" y="3904487"/>
            <a:ext cx="502920" cy="50292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3368" y="4032503"/>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4</a:t>
            </a:r>
          </a:p>
        </p:txBody>
      </p:sp>
      <p:sp>
        <p:nvSpPr>
          <p:cNvPr id="23" name="TextBox 22"/>
          <p:cNvSpPr txBox="1"/>
          <p:nvPr/>
        </p:nvSpPr>
        <p:spPr>
          <a:xfrm>
            <a:off x="7104888" y="3840479"/>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Header for cross-cutting metadata</a:t>
            </a:r>
          </a:p>
        </p:txBody>
      </p:sp>
      <p:sp>
        <p:nvSpPr>
          <p:cNvPr id="24" name="Rounded Rectangle 23"/>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26" name="TextBox 25"/>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Input-source map</a:t>
            </a:r>
          </a:p>
        </p:txBody>
      </p:sp>
      <p:sp>
        <p:nvSpPr>
          <p:cNvPr id="27" name="Rounded Rectangle 26"/>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29" name="TextBox 28"/>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Ambiguous or duplicated fields create contradictory contracts.</a:t>
            </a:r>
          </a:p>
        </p:txBody>
      </p:sp>
      <p:sp>
        <p:nvSpPr>
          <p:cNvPr id="30" name="Rounded Rectangle 29"/>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32" name="TextBox 31"/>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OpenAPI shows every input in the intended location.</a:t>
            </a:r>
          </a:p>
        </p:txBody>
      </p:sp>
      <p:sp>
        <p:nvSpPr>
          <p:cNvPr id="33" name="TextBox 3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4" name="TextBox 3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5" name="TextBox 34"/>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Request Body</a:t>
            </a:r>
          </a:p>
        </p:txBody>
      </p:sp>
      <p:sp>
        <p:nvSpPr>
          <p:cNvPr id="36" name="TextBox 35"/>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83</a:t>
            </a:r>
          </a:p>
        </p:txBody>
      </p:sp>
    </p:spTree>
  </p:cSld>
  <p:transition spd="fast">
    <p:fade/>
  </p:transition>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TOPIC 03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FastAPI classifies inputs by declaration</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/products/{product_id}</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A name in the path is a path parameter; a scalar is query data; a Pydantic model is a JSON body.</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Ambiguous or duplicated fields create contradictory contracts.</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OpenAPI shows every input in the intended location.</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Input-source map</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Request Body</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84</a:t>
            </a:r>
          </a:p>
        </p:txBody>
      </p:sp>
    </p:spTree>
  </p:cSld>
  <p:transition spd="fast">
    <p:fade/>
  </p:transition>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TOPIC 03 · CODE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Pydantic validates at the boundary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Field types and constraints reject invalid data before business logic runs.</a:t>
            </a:r>
          </a:p>
        </p:txBody>
      </p:sp>
      <p:sp>
        <p:nvSpPr>
          <p:cNvPr id="8" name="Rounded Rectangle 7"/>
          <p:cNvSpPr/>
          <p:nvPr/>
        </p:nvSpPr>
        <p:spPr>
          <a:xfrm>
            <a:off x="749808" y="2331720"/>
            <a:ext cx="6766560" cy="2697480"/>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2615184"/>
            <a:ext cx="6199632" cy="2057400"/>
          </a:xfrm>
          <a:prstGeom prst="rect">
            <a:avLst/>
          </a:prstGeom>
          <a:noFill/>
        </p:spPr>
        <p:txBody>
          <a:bodyPr wrap="square" anchor="t" lIns="36576" rIns="36576" tIns="36576" bIns="36576">
            <a:spAutoFit/>
          </a:bodyPr>
          <a:lstStyle/>
          <a:p>
            <a:pPr algn="l">
              <a:spcAft>
                <a:spcPts val="0"/>
              </a:spcAft>
            </a:pPr>
            <a:r>
              <a:rPr sz="1500" b="0">
                <a:solidFill>
                  <a:srgbClr val="A7F3D0"/>
                </a:solidFill>
                <a:latin typeface="Consolas"/>
              </a:rPr>
              <a:t>class ProductCreate(BaseModel):
    sku: str = Field(pattern=r"^[A-Z0-9-]+$")
    price: Decimal = Field(ge=0, decimal_places=2)
    stock_quantity: int = Field(ge=0)</a:t>
            </a:r>
          </a:p>
        </p:txBody>
      </p:sp>
      <p:sp>
        <p:nvSpPr>
          <p:cNvPr id="10" name="Rounded Rectangle 9"/>
          <p:cNvSpPr/>
          <p:nvPr/>
        </p:nvSpPr>
        <p:spPr>
          <a:xfrm>
            <a:off x="7799831" y="2331720"/>
            <a:ext cx="3584448" cy="26974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65008" y="2624328"/>
            <a:ext cx="219456" cy="21945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30768" y="2551176"/>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min_length</a:t>
            </a:r>
          </a:p>
        </p:txBody>
      </p:sp>
      <p:sp>
        <p:nvSpPr>
          <p:cNvPr id="13" name="Rounded Rectangle 12"/>
          <p:cNvSpPr/>
          <p:nvPr/>
        </p:nvSpPr>
        <p:spPr>
          <a:xfrm>
            <a:off x="8065008" y="3136392"/>
            <a:ext cx="219456" cy="21945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30768" y="3063240"/>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pattern</a:t>
            </a:r>
          </a:p>
        </p:txBody>
      </p:sp>
      <p:sp>
        <p:nvSpPr>
          <p:cNvPr id="15" name="Rounded Rectangle 14"/>
          <p:cNvSpPr/>
          <p:nvPr/>
        </p:nvSpPr>
        <p:spPr>
          <a:xfrm>
            <a:off x="8065008" y="3648456"/>
            <a:ext cx="219456" cy="21945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30768" y="3575304"/>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ge/le</a:t>
            </a:r>
          </a:p>
        </p:txBody>
      </p:sp>
      <p:sp>
        <p:nvSpPr>
          <p:cNvPr id="17" name="Rounded Rectangle 16"/>
          <p:cNvSpPr/>
          <p:nvPr/>
        </p:nvSpPr>
        <p:spPr>
          <a:xfrm>
            <a:off x="8065008" y="4160520"/>
            <a:ext cx="219456" cy="21945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30768" y="4087368"/>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Literal/Enum</a:t>
            </a:r>
          </a:p>
        </p:txBody>
      </p:sp>
      <p:sp>
        <p:nvSpPr>
          <p:cNvPr id="19" name="Rounded Rectangle 18"/>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21" name="TextBox 20"/>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ProductCreate schema</a:t>
            </a:r>
          </a:p>
        </p:txBody>
      </p:sp>
      <p:sp>
        <p:nvSpPr>
          <p:cNvPr id="22" name="Rounded Rectangle 21"/>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24" name="TextBox 23"/>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Validation after SQL can persist invalid state.</a:t>
            </a:r>
          </a:p>
        </p:txBody>
      </p:sp>
      <p:sp>
        <p:nvSpPr>
          <p:cNvPr id="25" name="Rounded Rectangle 24"/>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27" name="TextBox 26"/>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Boundary tests cover invalid SKU, negative price/stock and unsupported status.</a:t>
            </a:r>
          </a:p>
        </p:txBody>
      </p:sp>
      <p:sp>
        <p:nvSpPr>
          <p:cNvPr id="28" name="TextBox 27"/>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9" name="TextBox 28"/>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0" name="TextBox 29"/>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Request Body</a:t>
            </a:r>
          </a:p>
        </p:txBody>
      </p:sp>
      <p:sp>
        <p:nvSpPr>
          <p:cNvPr id="31" name="TextBox 30"/>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85</a:t>
            </a:r>
          </a:p>
        </p:txBody>
      </p:sp>
    </p:spTree>
  </p:cSld>
  <p:transition spd="fast">
    <p:fade/>
  </p:transition>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TOPIC 03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Pydantic validates at the boundary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min_length</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Field types and constraints reject invalid data before business logic runs.</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Validation after SQL can persist invalid state.</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Boundary tests cover invalid SKU, negative price/stock and unsupported status.</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ProductCreate schema</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Request Body</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86</a:t>
            </a:r>
          </a:p>
        </p:txBody>
      </p:sp>
    </p:spTree>
  </p:cSld>
  <p:transition spd="fast">
    <p:fade/>
  </p:transition>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TOPIC 03 · EVIDENCE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422 errors point to the exact invalid field</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The error payload includes location, message and error type for each failed input.</a:t>
            </a:r>
          </a:p>
        </p:txBody>
      </p:sp>
      <p:sp>
        <p:nvSpPr>
          <p:cNvPr id="8" name="Rounded Rectangle 7"/>
          <p:cNvSpPr/>
          <p:nvPr/>
        </p:nvSpPr>
        <p:spPr>
          <a:xfrm>
            <a:off x="749808"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50976" y="2596896"/>
            <a:ext cx="502920" cy="50292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1</a:t>
            </a:r>
          </a:p>
        </p:txBody>
      </p:sp>
      <p:sp>
        <p:nvSpPr>
          <p:cNvPr id="11" name="TextBox 10"/>
          <p:cNvSpPr txBox="1"/>
          <p:nvPr/>
        </p:nvSpPr>
        <p:spPr>
          <a:xfrm>
            <a:off x="1682496"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loc: body.sku</a:t>
            </a:r>
          </a:p>
        </p:txBody>
      </p:sp>
      <p:sp>
        <p:nvSpPr>
          <p:cNvPr id="12" name="Rounded Rectangle 11"/>
          <p:cNvSpPr/>
          <p:nvPr/>
        </p:nvSpPr>
        <p:spPr>
          <a:xfrm>
            <a:off x="6172200"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73368" y="2596896"/>
            <a:ext cx="502920" cy="502920"/>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2</a:t>
            </a:r>
          </a:p>
        </p:txBody>
      </p:sp>
      <p:sp>
        <p:nvSpPr>
          <p:cNvPr id="15" name="TextBox 14"/>
          <p:cNvSpPr txBox="1"/>
          <p:nvPr/>
        </p:nvSpPr>
        <p:spPr>
          <a:xfrm>
            <a:off x="7104888"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msg: string pattern mismatch</a:t>
            </a:r>
          </a:p>
        </p:txBody>
      </p:sp>
      <p:sp>
        <p:nvSpPr>
          <p:cNvPr id="16" name="Rounded Rectangle 15"/>
          <p:cNvSpPr/>
          <p:nvPr/>
        </p:nvSpPr>
        <p:spPr>
          <a:xfrm>
            <a:off x="749808" y="3639311"/>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50976" y="3904487"/>
            <a:ext cx="502920" cy="50292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0976" y="4032503"/>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3</a:t>
            </a:r>
          </a:p>
        </p:txBody>
      </p:sp>
      <p:sp>
        <p:nvSpPr>
          <p:cNvPr id="19" name="TextBox 18"/>
          <p:cNvSpPr txBox="1"/>
          <p:nvPr/>
        </p:nvSpPr>
        <p:spPr>
          <a:xfrm>
            <a:off x="1682496" y="3840479"/>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type: string_pattern_mismatch</a:t>
            </a:r>
          </a:p>
        </p:txBody>
      </p:sp>
      <p:sp>
        <p:nvSpPr>
          <p:cNvPr id="20" name="Rounded Rectangle 19"/>
          <p:cNvSpPr/>
          <p:nvPr/>
        </p:nvSpPr>
        <p:spPr>
          <a:xfrm>
            <a:off x="6172200" y="3639311"/>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73368" y="3904487"/>
            <a:ext cx="502920" cy="50292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3368" y="4032503"/>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4</a:t>
            </a:r>
          </a:p>
        </p:txBody>
      </p:sp>
      <p:sp>
        <p:nvSpPr>
          <p:cNvPr id="23" name="TextBox 22"/>
          <p:cNvSpPr txBox="1"/>
          <p:nvPr/>
        </p:nvSpPr>
        <p:spPr>
          <a:xfrm>
            <a:off x="7104888" y="3840479"/>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client can map error to UI</a:t>
            </a:r>
          </a:p>
        </p:txBody>
      </p:sp>
      <p:sp>
        <p:nvSpPr>
          <p:cNvPr id="24" name="Rounded Rectangle 23"/>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26" name="TextBox 25"/>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Structured validation error JSON</a:t>
            </a:r>
          </a:p>
        </p:txBody>
      </p:sp>
      <p:sp>
        <p:nvSpPr>
          <p:cNvPr id="27" name="Rounded Rectangle 26"/>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29" name="TextBox 28"/>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Replacing 422 with a generic 400 discards useful machine-readable detail.</a:t>
            </a:r>
          </a:p>
        </p:txBody>
      </p:sp>
      <p:sp>
        <p:nvSpPr>
          <p:cNvPr id="30" name="Rounded Rectangle 29"/>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32" name="TextBox 31"/>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Frontend renders the failing field and keeps the user-entered values.</a:t>
            </a:r>
          </a:p>
        </p:txBody>
      </p:sp>
      <p:sp>
        <p:nvSpPr>
          <p:cNvPr id="33" name="TextBox 3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4" name="TextBox 3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5" name="TextBox 34"/>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Request Body</a:t>
            </a:r>
          </a:p>
        </p:txBody>
      </p:sp>
      <p:sp>
        <p:nvSpPr>
          <p:cNvPr id="36" name="TextBox 35"/>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87</a:t>
            </a:r>
          </a:p>
        </p:txBody>
      </p:sp>
    </p:spTree>
  </p:cSld>
  <p:transition spd="fast">
    <p:fade/>
  </p:transition>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TOPIC 03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422 errors point to the exact invalid field</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loc: body.sku</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The error payload includes location, message and error type for each failed input.</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Replacing 422 with a generic 400 discards useful machine-readable detail.</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Frontend renders the failing field and keeps the user-entered values.</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Structured validation error JSON</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Request Body</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88</a:t>
            </a:r>
          </a:p>
        </p:txBody>
      </p:sp>
    </p:spTree>
  </p:cSld>
  <p:transition spd="fast">
    <p:fade/>
  </p:transition>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TOPIC 03 · FLOW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Response models are an output firewall</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FastAPI validates and filters returned data against the declared output model.</a:t>
            </a:r>
          </a:p>
        </p:txBody>
      </p:sp>
      <p:sp>
        <p:nvSpPr>
          <p:cNvPr id="8" name="Rounded Rectangle 7"/>
          <p:cNvSpPr/>
          <p:nvPr/>
        </p:nvSpPr>
        <p:spPr>
          <a:xfrm>
            <a:off x="749808" y="2487168"/>
            <a:ext cx="2548890"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768221" y="2724912"/>
            <a:ext cx="512064" cy="512064"/>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68221"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1</a:t>
            </a:r>
          </a:p>
        </p:txBody>
      </p:sp>
      <p:sp>
        <p:nvSpPr>
          <p:cNvPr id="11" name="TextBox 10"/>
          <p:cNvSpPr txBox="1"/>
          <p:nvPr/>
        </p:nvSpPr>
        <p:spPr>
          <a:xfrm>
            <a:off x="822960" y="3502152"/>
            <a:ext cx="2402586"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handler returns object</a:t>
            </a:r>
          </a:p>
        </p:txBody>
      </p:sp>
      <p:cxnSp>
        <p:nvCxnSpPr>
          <p:cNvPr id="12" name="Connector 11"/>
          <p:cNvCxnSpPr/>
          <p:nvPr/>
        </p:nvCxnSpPr>
        <p:spPr>
          <a:xfrm>
            <a:off x="3298698" y="3520440"/>
            <a:ext cx="146304" cy="0"/>
          </a:xfrm>
          <a:prstGeom prst="line">
            <a:avLst/>
          </a:prstGeom>
          <a:ln>
            <a:solidFill>
              <a:srgbClr val="10B981"/>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445002" y="2487168"/>
            <a:ext cx="2548890"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463415" y="2724912"/>
            <a:ext cx="512064" cy="512064"/>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63415"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2</a:t>
            </a:r>
          </a:p>
        </p:txBody>
      </p:sp>
      <p:sp>
        <p:nvSpPr>
          <p:cNvPr id="16" name="TextBox 15"/>
          <p:cNvSpPr txBox="1"/>
          <p:nvPr/>
        </p:nvSpPr>
        <p:spPr>
          <a:xfrm>
            <a:off x="3518154" y="3502152"/>
            <a:ext cx="2402586"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response_model validates</a:t>
            </a:r>
          </a:p>
        </p:txBody>
      </p:sp>
      <p:cxnSp>
        <p:nvCxnSpPr>
          <p:cNvPr id="17" name="Connector 16"/>
          <p:cNvCxnSpPr/>
          <p:nvPr/>
        </p:nvCxnSpPr>
        <p:spPr>
          <a:xfrm>
            <a:off x="5993892" y="3520440"/>
            <a:ext cx="146304" cy="0"/>
          </a:xfrm>
          <a:prstGeom prst="line">
            <a:avLst/>
          </a:prstGeom>
          <a:ln>
            <a:solidFill>
              <a:srgbClr val="10B981"/>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140196" y="2487168"/>
            <a:ext cx="2548890"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158609" y="2724912"/>
            <a:ext cx="512064" cy="512064"/>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58609"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3</a:t>
            </a:r>
          </a:p>
        </p:txBody>
      </p:sp>
      <p:sp>
        <p:nvSpPr>
          <p:cNvPr id="21" name="TextBox 20"/>
          <p:cNvSpPr txBox="1"/>
          <p:nvPr/>
        </p:nvSpPr>
        <p:spPr>
          <a:xfrm>
            <a:off x="6213348" y="3502152"/>
            <a:ext cx="2402586"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private fields removed</a:t>
            </a:r>
          </a:p>
        </p:txBody>
      </p:sp>
      <p:cxnSp>
        <p:nvCxnSpPr>
          <p:cNvPr id="22" name="Connector 21"/>
          <p:cNvCxnSpPr/>
          <p:nvPr/>
        </p:nvCxnSpPr>
        <p:spPr>
          <a:xfrm>
            <a:off x="8689086" y="3520440"/>
            <a:ext cx="146304" cy="0"/>
          </a:xfrm>
          <a:prstGeom prst="line">
            <a:avLst/>
          </a:prstGeom>
          <a:ln>
            <a:solidFill>
              <a:srgbClr val="10B981"/>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835390" y="2487168"/>
            <a:ext cx="2548890"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853803" y="2724912"/>
            <a:ext cx="512064" cy="512064"/>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53803"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4</a:t>
            </a:r>
          </a:p>
        </p:txBody>
      </p:sp>
      <p:sp>
        <p:nvSpPr>
          <p:cNvPr id="26" name="TextBox 25"/>
          <p:cNvSpPr txBox="1"/>
          <p:nvPr/>
        </p:nvSpPr>
        <p:spPr>
          <a:xfrm>
            <a:off x="8908542" y="3502152"/>
            <a:ext cx="2402586"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JSON encoded</a:t>
            </a:r>
          </a:p>
        </p:txBody>
      </p:sp>
      <p:sp>
        <p:nvSpPr>
          <p:cNvPr id="27" name="Rounded Rectangle 26"/>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29" name="TextBox 28"/>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ProductRow → ProductRead</a:t>
            </a:r>
          </a:p>
        </p:txBody>
      </p:sp>
      <p:sp>
        <p:nvSpPr>
          <p:cNvPr id="30" name="Rounded Rectangle 29"/>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32" name="TextBox 31"/>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Returning database rows directly can leak internal columns.</a:t>
            </a:r>
          </a:p>
        </p:txBody>
      </p:sp>
      <p:sp>
        <p:nvSpPr>
          <p:cNvPr id="33" name="Rounded Rectangle 32"/>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35" name="TextBox 34"/>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A test asserts secret/internal fields never appear in JSON.</a:t>
            </a:r>
          </a:p>
        </p:txBody>
      </p:sp>
      <p:sp>
        <p:nvSpPr>
          <p:cNvPr id="36" name="TextBox 3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7" name="TextBox 3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8" name="TextBox 37"/>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Response Models</a:t>
            </a:r>
          </a:p>
        </p:txBody>
      </p:sp>
      <p:sp>
        <p:nvSpPr>
          <p:cNvPr id="39" name="TextBox 3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89</a:t>
            </a:r>
          </a:p>
        </p:txBody>
      </p:sp>
    </p:spTree>
  </p:cSld>
  <p:transition spd="fast">
    <p:fade/>
  </p:transition>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TOPIC 03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Response models are an output firewall</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handler returns object</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FastAPI validates and filters returned data against the declared output model.</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Returning database rows directly can leak internal columns.</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A test asserts secret/internal fields never appear in JSON.</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ProductRow → ProductRead</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Response Models</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90</a:t>
            </a:r>
          </a:p>
        </p:txBody>
      </p:sp>
    </p:spTree>
  </p:cSld>
  <p:transition spd="fast">
    <p:fade/>
  </p:transition>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TOPIC 03 · COMPARE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JSON shape is part of compatibility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Clients depend on field names, types, optionality and nesting—not just values.</a:t>
            </a:r>
          </a:p>
        </p:txBody>
      </p:sp>
      <p:sp>
        <p:nvSpPr>
          <p:cNvPr id="8" name="Rounded Rectangle 7"/>
          <p:cNvSpPr/>
          <p:nvPr/>
        </p:nvSpPr>
        <p:spPr>
          <a:xfrm>
            <a:off x="749808"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50976" y="2596896"/>
            <a:ext cx="502920" cy="50292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1</a:t>
            </a:r>
          </a:p>
        </p:txBody>
      </p:sp>
      <p:sp>
        <p:nvSpPr>
          <p:cNvPr id="11" name="TextBox 10"/>
          <p:cNvSpPr txBox="1"/>
          <p:nvPr/>
        </p:nvSpPr>
        <p:spPr>
          <a:xfrm>
            <a:off x="1682496"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Stable: {items,total}</a:t>
            </a:r>
          </a:p>
        </p:txBody>
      </p:sp>
      <p:sp>
        <p:nvSpPr>
          <p:cNvPr id="12" name="Rounded Rectangle 11"/>
          <p:cNvSpPr/>
          <p:nvPr/>
        </p:nvSpPr>
        <p:spPr>
          <a:xfrm>
            <a:off x="6172200"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73368" y="2596896"/>
            <a:ext cx="502920" cy="502920"/>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2</a:t>
            </a:r>
          </a:p>
        </p:txBody>
      </p:sp>
      <p:sp>
        <p:nvSpPr>
          <p:cNvPr id="15" name="TextBox 14"/>
          <p:cNvSpPr txBox="1"/>
          <p:nvPr/>
        </p:nvSpPr>
        <p:spPr>
          <a:xfrm>
            <a:off x="7104888"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Breaking: rename title→name</a:t>
            </a:r>
          </a:p>
        </p:txBody>
      </p:sp>
      <p:sp>
        <p:nvSpPr>
          <p:cNvPr id="16" name="Rounded Rectangle 15"/>
          <p:cNvSpPr/>
          <p:nvPr/>
        </p:nvSpPr>
        <p:spPr>
          <a:xfrm>
            <a:off x="749808" y="3639311"/>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50976" y="3904487"/>
            <a:ext cx="502920" cy="50292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0976" y="4032503"/>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3</a:t>
            </a:r>
          </a:p>
        </p:txBody>
      </p:sp>
      <p:sp>
        <p:nvSpPr>
          <p:cNvPr id="19" name="TextBox 18"/>
          <p:cNvSpPr txBox="1"/>
          <p:nvPr/>
        </p:nvSpPr>
        <p:spPr>
          <a:xfrm>
            <a:off x="1682496" y="3840479"/>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Compatible: add optional field</a:t>
            </a:r>
          </a:p>
        </p:txBody>
      </p:sp>
      <p:sp>
        <p:nvSpPr>
          <p:cNvPr id="20" name="Rounded Rectangle 19"/>
          <p:cNvSpPr/>
          <p:nvPr/>
        </p:nvSpPr>
        <p:spPr>
          <a:xfrm>
            <a:off x="6172200" y="3639311"/>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73368" y="3904487"/>
            <a:ext cx="502920" cy="50292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3368" y="4032503"/>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4</a:t>
            </a:r>
          </a:p>
        </p:txBody>
      </p:sp>
      <p:sp>
        <p:nvSpPr>
          <p:cNvPr id="23" name="TextBox 22"/>
          <p:cNvSpPr txBox="1"/>
          <p:nvPr/>
        </p:nvSpPr>
        <p:spPr>
          <a:xfrm>
            <a:off x="7104888" y="3840479"/>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Version breaking contracts</a:t>
            </a:r>
          </a:p>
        </p:txBody>
      </p:sp>
      <p:sp>
        <p:nvSpPr>
          <p:cNvPr id="24" name="Rounded Rectangle 23"/>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26" name="TextBox 25"/>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Before/after response diff</a:t>
            </a:r>
          </a:p>
        </p:txBody>
      </p:sp>
      <p:sp>
        <p:nvSpPr>
          <p:cNvPr id="27" name="Rounded Rectangle 26"/>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29" name="TextBox 28"/>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Silent schema drift breaks frontend code at runtime.</a:t>
            </a:r>
          </a:p>
        </p:txBody>
      </p:sp>
      <p:sp>
        <p:nvSpPr>
          <p:cNvPr id="30" name="Rounded Rectangle 29"/>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32" name="TextBox 31"/>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Contract tests compare responses to the documented schema.</a:t>
            </a:r>
          </a:p>
        </p:txBody>
      </p:sp>
      <p:sp>
        <p:nvSpPr>
          <p:cNvPr id="33" name="TextBox 3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4" name="TextBox 3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5" name="TextBox 34"/>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Response Models</a:t>
            </a:r>
          </a:p>
        </p:txBody>
      </p:sp>
      <p:sp>
        <p:nvSpPr>
          <p:cNvPr id="36" name="TextBox 35"/>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91</a:t>
            </a:r>
          </a:p>
        </p:txBody>
      </p:sp>
    </p:spTree>
  </p:cSld>
  <p:transition spd="fast">
    <p:fade/>
  </p:transition>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TOPIC 03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JSON shape is part of compatibility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Stable: {items,total}</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Clients depend on field names, types, optionality and nesting—not just values.</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Silent schema drift breaks frontend code at runtime.</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Contract tests compare responses to the documented schema.</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Before/after response diff</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Response Models</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92</a:t>
            </a:r>
          </a:p>
        </p:txBody>
      </p:sp>
    </p:spTree>
  </p:cSld>
  <p:transition spd="fast">
    <p:fade/>
  </p:transition>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TOPIC 03 · CODE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PATCH requires an explicit missing-value rule</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model_dump(exclude_unset=True) distinguishes omitted fields from fields explicitly set to null.</a:t>
            </a:r>
          </a:p>
        </p:txBody>
      </p:sp>
      <p:sp>
        <p:nvSpPr>
          <p:cNvPr id="8" name="Rounded Rectangle 7"/>
          <p:cNvSpPr/>
          <p:nvPr/>
        </p:nvSpPr>
        <p:spPr>
          <a:xfrm>
            <a:off x="749808" y="2331720"/>
            <a:ext cx="6766560" cy="2697480"/>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2615184"/>
            <a:ext cx="6199632" cy="2057400"/>
          </a:xfrm>
          <a:prstGeom prst="rect">
            <a:avLst/>
          </a:prstGeom>
          <a:noFill/>
        </p:spPr>
        <p:txBody>
          <a:bodyPr wrap="square" anchor="t" lIns="36576" rIns="36576" tIns="36576" bIns="36576">
            <a:spAutoFit/>
          </a:bodyPr>
          <a:lstStyle/>
          <a:p>
            <a:pPr algn="l">
              <a:spcAft>
                <a:spcPts val="0"/>
              </a:spcAft>
            </a:pPr>
            <a:r>
              <a:rPr sz="1500" b="0">
                <a:solidFill>
                  <a:srgbClr val="A7F3D0"/>
                </a:solidFill>
                <a:latin typeface="Consolas"/>
              </a:rPr>
              <a:t>changes = patch.model_dump(exclude_unset=True)
updated = service.update(product_id, changes)</a:t>
            </a:r>
          </a:p>
        </p:txBody>
      </p:sp>
      <p:sp>
        <p:nvSpPr>
          <p:cNvPr id="10" name="Rounded Rectangle 9"/>
          <p:cNvSpPr/>
          <p:nvPr/>
        </p:nvSpPr>
        <p:spPr>
          <a:xfrm>
            <a:off x="7799831" y="2331720"/>
            <a:ext cx="3584448" cy="26974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65008" y="2624328"/>
            <a:ext cx="219456" cy="21945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30768" y="2551176"/>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omitted = keep current</a:t>
            </a:r>
          </a:p>
        </p:txBody>
      </p:sp>
      <p:sp>
        <p:nvSpPr>
          <p:cNvPr id="13" name="Rounded Rectangle 12"/>
          <p:cNvSpPr/>
          <p:nvPr/>
        </p:nvSpPr>
        <p:spPr>
          <a:xfrm>
            <a:off x="8065008" y="3136392"/>
            <a:ext cx="219456" cy="21945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30768" y="3063240"/>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present = update</a:t>
            </a:r>
          </a:p>
        </p:txBody>
      </p:sp>
      <p:sp>
        <p:nvSpPr>
          <p:cNvPr id="15" name="Rounded Rectangle 14"/>
          <p:cNvSpPr/>
          <p:nvPr/>
        </p:nvSpPr>
        <p:spPr>
          <a:xfrm>
            <a:off x="8065008" y="3648456"/>
            <a:ext cx="219456" cy="21945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30768" y="3575304"/>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null = allowed only where schema permits</a:t>
            </a:r>
          </a:p>
        </p:txBody>
      </p:sp>
      <p:sp>
        <p:nvSpPr>
          <p:cNvPr id="17" name="Rounded Rectangle 16"/>
          <p:cNvSpPr/>
          <p:nvPr/>
        </p:nvSpPr>
        <p:spPr>
          <a:xfrm>
            <a:off x="8065008" y="4160520"/>
            <a:ext cx="219456" cy="219456"/>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30768" y="4087368"/>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validate merged state</a:t>
            </a:r>
          </a:p>
        </p:txBody>
      </p:sp>
      <p:sp>
        <p:nvSpPr>
          <p:cNvPr id="19" name="Rounded Rectangle 18"/>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21" name="TextBox 20"/>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Partial update dictionary</a:t>
            </a:r>
          </a:p>
        </p:txBody>
      </p:sp>
      <p:sp>
        <p:nvSpPr>
          <p:cNvPr id="22" name="Rounded Rectangle 21"/>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24" name="TextBox 23"/>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Using model defaults overwrites fields the client did not send.</a:t>
            </a:r>
          </a:p>
        </p:txBody>
      </p:sp>
      <p:sp>
        <p:nvSpPr>
          <p:cNvPr id="25" name="Rounded Rectangle 24"/>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27" name="TextBox 26"/>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Updating one field leaves all other stored fields unchanged.</a:t>
            </a:r>
          </a:p>
        </p:txBody>
      </p:sp>
      <p:sp>
        <p:nvSpPr>
          <p:cNvPr id="28" name="TextBox 27"/>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9" name="TextBox 28"/>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0" name="TextBox 29"/>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Response Models</a:t>
            </a:r>
          </a:p>
        </p:txBody>
      </p:sp>
      <p:sp>
        <p:nvSpPr>
          <p:cNvPr id="31" name="TextBox 30"/>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93</a:t>
            </a:r>
          </a:p>
        </p:txBody>
      </p:sp>
    </p:spTree>
  </p:cSld>
  <p:transition spd="fast">
    <p:fade/>
  </p:transition>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TOPIC 03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PATCH requires an explicit missing-value rule</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omitted = keep current</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model_dump(exclude_unset=True) distinguishes omitted fields from fields explicitly set to null.</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Using model defaults overwrites fields the client did not send.</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Updating one field leaves all other stored fields unchanged.</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Partial update dictionary</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Response Models</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94</a:t>
            </a:r>
          </a:p>
        </p:txBody>
      </p:sp>
    </p:spTree>
  </p:cSld>
  <p:transition spd="fast">
    <p:fade/>
  </p:transition>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TOPIC 03 · CHART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Pagination protects service and client</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Limit and offset bound work; response metadata lets the UI navigate predictably.</a:t>
            </a:r>
          </a:p>
        </p:txBody>
      </p:sp>
      <p:graphicFrame>
        <p:nvGraphicFramePr>
          <p:cNvPr id="8" name="Chart 7"/>
          <p:cNvGraphicFramePr>
            <a:graphicFrameLocks noGrp="1"/>
          </p:cNvGraphicFramePr>
          <p:nvPr/>
        </p:nvGraphicFramePr>
        <p:xfrm>
          <a:off x="749808" y="2340864"/>
          <a:ext cx="6492240" cy="2697480"/>
        </p:xfrm>
        <a:graphic>
          <a:graphicData uri="http://schemas.openxmlformats.org/drawingml/2006/chart">
            <c:chart xmlns:c="http://schemas.openxmlformats.org/drawingml/2006/chart" r:id="rId2"/>
          </a:graphicData>
        </a:graphic>
      </p:graphicFrame>
      <p:sp>
        <p:nvSpPr>
          <p:cNvPr id="9" name="Rounded Rectangle 8"/>
          <p:cNvSpPr/>
          <p:nvPr/>
        </p:nvSpPr>
        <p:spPr>
          <a:xfrm>
            <a:off x="7543800" y="2340864"/>
            <a:ext cx="3840480" cy="26974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18120" y="2578608"/>
            <a:ext cx="3246120" cy="365760"/>
          </a:xfrm>
          <a:prstGeom prst="rect">
            <a:avLst/>
          </a:prstGeom>
          <a:noFill/>
        </p:spPr>
        <p:txBody>
          <a:bodyPr wrap="square" anchor="t" lIns="36576" rIns="36576" tIns="36576" bIns="36576">
            <a:spAutoFit/>
          </a:bodyPr>
          <a:lstStyle/>
          <a:p>
            <a:pPr algn="l">
              <a:spcAft>
                <a:spcPts val="0"/>
              </a:spcAft>
            </a:pPr>
            <a:r>
              <a:rPr sz="1150" b="1">
                <a:solidFill>
                  <a:srgbClr val="172433"/>
                </a:solidFill>
                <a:latin typeface="Arial"/>
              </a:rPr>
              <a:t>01  limit default 20</a:t>
            </a:r>
          </a:p>
        </p:txBody>
      </p:sp>
      <p:sp>
        <p:nvSpPr>
          <p:cNvPr id="11" name="TextBox 10"/>
          <p:cNvSpPr txBox="1"/>
          <p:nvPr/>
        </p:nvSpPr>
        <p:spPr>
          <a:xfrm>
            <a:off x="7818120" y="3090672"/>
            <a:ext cx="3246120" cy="365760"/>
          </a:xfrm>
          <a:prstGeom prst="rect">
            <a:avLst/>
          </a:prstGeom>
          <a:noFill/>
        </p:spPr>
        <p:txBody>
          <a:bodyPr wrap="square" anchor="t" lIns="36576" rIns="36576" tIns="36576" bIns="36576">
            <a:spAutoFit/>
          </a:bodyPr>
          <a:lstStyle/>
          <a:p>
            <a:pPr algn="l">
              <a:spcAft>
                <a:spcPts val="0"/>
              </a:spcAft>
            </a:pPr>
            <a:r>
              <a:rPr sz="1150" b="0">
                <a:solidFill>
                  <a:srgbClr val="172433"/>
                </a:solidFill>
                <a:latin typeface="Arial"/>
              </a:rPr>
              <a:t>02  cap limit at 100</a:t>
            </a:r>
          </a:p>
        </p:txBody>
      </p:sp>
      <p:sp>
        <p:nvSpPr>
          <p:cNvPr id="12" name="TextBox 11"/>
          <p:cNvSpPr txBox="1"/>
          <p:nvPr/>
        </p:nvSpPr>
        <p:spPr>
          <a:xfrm>
            <a:off x="7818120" y="3602736"/>
            <a:ext cx="3246120" cy="365760"/>
          </a:xfrm>
          <a:prstGeom prst="rect">
            <a:avLst/>
          </a:prstGeom>
          <a:noFill/>
        </p:spPr>
        <p:txBody>
          <a:bodyPr wrap="square" anchor="t" lIns="36576" rIns="36576" tIns="36576" bIns="36576">
            <a:spAutoFit/>
          </a:bodyPr>
          <a:lstStyle/>
          <a:p>
            <a:pPr algn="l">
              <a:spcAft>
                <a:spcPts val="0"/>
              </a:spcAft>
            </a:pPr>
            <a:r>
              <a:rPr sz="1150" b="0">
                <a:solidFill>
                  <a:srgbClr val="172433"/>
                </a:solidFill>
                <a:latin typeface="Arial"/>
              </a:rPr>
              <a:t>03  offset &gt;= 0</a:t>
            </a:r>
          </a:p>
        </p:txBody>
      </p:sp>
      <p:sp>
        <p:nvSpPr>
          <p:cNvPr id="13" name="TextBox 12"/>
          <p:cNvSpPr txBox="1"/>
          <p:nvPr/>
        </p:nvSpPr>
        <p:spPr>
          <a:xfrm>
            <a:off x="7818120" y="4114800"/>
            <a:ext cx="3246120" cy="365760"/>
          </a:xfrm>
          <a:prstGeom prst="rect">
            <a:avLst/>
          </a:prstGeom>
          <a:noFill/>
        </p:spPr>
        <p:txBody>
          <a:bodyPr wrap="square" anchor="t" lIns="36576" rIns="36576" tIns="36576" bIns="36576">
            <a:spAutoFit/>
          </a:bodyPr>
          <a:lstStyle/>
          <a:p>
            <a:pPr algn="l">
              <a:spcAft>
                <a:spcPts val="0"/>
              </a:spcAft>
            </a:pPr>
            <a:r>
              <a:rPr sz="1150" b="0">
                <a:solidFill>
                  <a:srgbClr val="172433"/>
                </a:solidFill>
                <a:latin typeface="Arial"/>
              </a:rPr>
              <a:t>04  include total count</a:t>
            </a:r>
          </a:p>
        </p:txBody>
      </p:sp>
      <p:sp>
        <p:nvSpPr>
          <p:cNvPr id="14" name="Rounded Rectangle 13"/>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16" name="TextBox 15"/>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Payload size by page limit</a:t>
            </a:r>
          </a:p>
        </p:txBody>
      </p:sp>
      <p:sp>
        <p:nvSpPr>
          <p:cNvPr id="17" name="Rounded Rectangle 16"/>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19" name="TextBox 18"/>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Unbounded collection routes can exhaust memory and freeze browsers.</a:t>
            </a:r>
          </a:p>
        </p:txBody>
      </p:sp>
      <p:sp>
        <p:nvSpPr>
          <p:cNvPr id="20" name="Rounded Rectangle 19"/>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22" name="TextBox 21"/>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A request above the cap is rejected or constrained as documented.</a:t>
            </a:r>
          </a:p>
        </p:txBody>
      </p:sp>
      <p:sp>
        <p:nvSpPr>
          <p:cNvPr id="23" name="TextBox 2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4" name="TextBox 2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5" name="TextBox 24"/>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FastAPI Tutorial</a:t>
            </a:r>
          </a:p>
        </p:txBody>
      </p:sp>
      <p:sp>
        <p:nvSpPr>
          <p:cNvPr id="26" name="TextBox 25"/>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95</a:t>
            </a:r>
          </a:p>
        </p:txBody>
      </p:sp>
    </p:spTree>
  </p:cSld>
  <p:transition spd="fast">
    <p:fade/>
  </p:transition>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TOPIC 03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Pagination protects service and client</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limit default 20</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Limit and offset bound work; response metadata lets the UI navigate predictably.</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Unbounded collection routes can exhaust memory and freeze browsers.</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A request above the cap is rejected or constrained as documented.</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Payload size by page limit</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FastAPI Tutorial</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96</a:t>
            </a:r>
          </a:p>
        </p:txBody>
      </p:sp>
    </p:spTree>
  </p:cSld>
  <p:transition spd="fast">
    <p:fade/>
  </p:transition>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TOPIC 03 · TABLE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Serialize dates and enums deliberately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Use typed datetime and enum fields so JSON encoding and OpenAPI remain consistent.</a:t>
            </a:r>
          </a:p>
        </p:txBody>
      </p:sp>
      <p:sp>
        <p:nvSpPr>
          <p:cNvPr id="8" name="Rounded Rectangle 7"/>
          <p:cNvSpPr/>
          <p:nvPr/>
        </p:nvSpPr>
        <p:spPr>
          <a:xfrm>
            <a:off x="749808"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50976" y="2596896"/>
            <a:ext cx="502920" cy="50292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1</a:t>
            </a:r>
          </a:p>
        </p:txBody>
      </p:sp>
      <p:sp>
        <p:nvSpPr>
          <p:cNvPr id="11" name="TextBox 10"/>
          <p:cNvSpPr txBox="1"/>
          <p:nvPr/>
        </p:nvSpPr>
        <p:spPr>
          <a:xfrm>
            <a:off x="1682496"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datetime → ISO 8601</a:t>
            </a:r>
          </a:p>
        </p:txBody>
      </p:sp>
      <p:sp>
        <p:nvSpPr>
          <p:cNvPr id="12" name="Rounded Rectangle 11"/>
          <p:cNvSpPr/>
          <p:nvPr/>
        </p:nvSpPr>
        <p:spPr>
          <a:xfrm>
            <a:off x="6172200"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73368" y="2596896"/>
            <a:ext cx="502920" cy="502920"/>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2</a:t>
            </a:r>
          </a:p>
        </p:txBody>
      </p:sp>
      <p:sp>
        <p:nvSpPr>
          <p:cNvPr id="15" name="TextBox 14"/>
          <p:cNvSpPr txBox="1"/>
          <p:nvPr/>
        </p:nvSpPr>
        <p:spPr>
          <a:xfrm>
            <a:off x="7104888"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Enum → stable string</a:t>
            </a:r>
          </a:p>
        </p:txBody>
      </p:sp>
      <p:sp>
        <p:nvSpPr>
          <p:cNvPr id="16" name="Rounded Rectangle 15"/>
          <p:cNvSpPr/>
          <p:nvPr/>
        </p:nvSpPr>
        <p:spPr>
          <a:xfrm>
            <a:off x="749808" y="3639311"/>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50976" y="3904487"/>
            <a:ext cx="502920" cy="50292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0976" y="4032503"/>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3</a:t>
            </a:r>
          </a:p>
        </p:txBody>
      </p:sp>
      <p:sp>
        <p:nvSpPr>
          <p:cNvPr id="19" name="TextBox 18"/>
          <p:cNvSpPr txBox="1"/>
          <p:nvPr/>
        </p:nvSpPr>
        <p:spPr>
          <a:xfrm>
            <a:off x="1682496" y="3840479"/>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decimal policy</a:t>
            </a:r>
          </a:p>
        </p:txBody>
      </p:sp>
      <p:sp>
        <p:nvSpPr>
          <p:cNvPr id="20" name="Rounded Rectangle 19"/>
          <p:cNvSpPr/>
          <p:nvPr/>
        </p:nvSpPr>
        <p:spPr>
          <a:xfrm>
            <a:off x="6172200" y="3639311"/>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73368" y="3904487"/>
            <a:ext cx="502920" cy="50292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3368" y="4032503"/>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4</a:t>
            </a:r>
          </a:p>
        </p:txBody>
      </p:sp>
      <p:sp>
        <p:nvSpPr>
          <p:cNvPr id="23" name="TextBox 22"/>
          <p:cNvSpPr txBox="1"/>
          <p:nvPr/>
        </p:nvSpPr>
        <p:spPr>
          <a:xfrm>
            <a:off x="7104888" y="3840479"/>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timezone decision</a:t>
            </a:r>
          </a:p>
        </p:txBody>
      </p:sp>
      <p:sp>
        <p:nvSpPr>
          <p:cNvPr id="24" name="Rounded Rectangle 23"/>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26" name="TextBox 25"/>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Python value ↔ JSON value map</a:t>
            </a:r>
          </a:p>
        </p:txBody>
      </p:sp>
      <p:sp>
        <p:nvSpPr>
          <p:cNvPr id="27" name="Rounded Rectangle 26"/>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29" name="TextBox 28"/>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Naive local timestamps become ambiguous across clients.</a:t>
            </a:r>
          </a:p>
        </p:txBody>
      </p:sp>
      <p:sp>
        <p:nvSpPr>
          <p:cNvPr id="30" name="Rounded Rectangle 29"/>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32" name="TextBox 31"/>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Round-trip tests preserve meaning across encode and decode.</a:t>
            </a:r>
          </a:p>
        </p:txBody>
      </p:sp>
      <p:sp>
        <p:nvSpPr>
          <p:cNvPr id="33" name="TextBox 3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4" name="TextBox 3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5" name="TextBox 34"/>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Request Body</a:t>
            </a:r>
          </a:p>
        </p:txBody>
      </p:sp>
      <p:sp>
        <p:nvSpPr>
          <p:cNvPr id="36" name="TextBox 35"/>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97</a:t>
            </a:r>
          </a:p>
        </p:txBody>
      </p:sp>
    </p:spTree>
  </p:cSld>
  <p:transition spd="fast">
    <p:fade/>
  </p:transition>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TOPIC 03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Serialize dates and enums deliberately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datetime → ISO 8601</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Use typed datetime and enum fields so JSON encoding and OpenAPI remain consistent.</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Naive local timestamps become ambiguous across clients.</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Round-trip tests preserve meaning across encode and decode.</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Python value ↔ JSON value map</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Request Body</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98</a:t>
            </a:r>
          </a:p>
        </p:txBody>
      </p:sp>
    </p:spTree>
  </p:cSld>
  <p:transition spd="fast">
    <p:fade/>
  </p:transition>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05 · SCENARIO</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Validate Product and Customer Data</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74519"/>
            <a:ext cx="6675120" cy="3611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212848"/>
            <a:ext cx="6035040" cy="34747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DESIGN CHALLENGE</a:t>
            </a:r>
          </a:p>
        </p:txBody>
      </p:sp>
      <p:sp>
        <p:nvSpPr>
          <p:cNvPr id="9" name="TextBox 8"/>
          <p:cNvSpPr txBox="1"/>
          <p:nvPr/>
        </p:nvSpPr>
        <p:spPr>
          <a:xfrm>
            <a:off x="1078992" y="2743200"/>
            <a:ext cx="5989320" cy="1097280"/>
          </a:xfrm>
          <a:prstGeom prst="rect">
            <a:avLst/>
          </a:prstGeom>
          <a:noFill/>
        </p:spPr>
        <p:txBody>
          <a:bodyPr wrap="square" anchor="t" lIns="36576" rIns="36576" tIns="36576" bIns="36576">
            <a:spAutoFit/>
          </a:bodyPr>
          <a:lstStyle/>
          <a:p>
            <a:pPr algn="l">
              <a:spcAft>
                <a:spcPts val="0"/>
              </a:spcAft>
            </a:pPr>
            <a:r>
              <a:rPr sz="2200" b="1">
                <a:solidFill>
                  <a:srgbClr val="172433"/>
                </a:solidFill>
                <a:latin typeface="Arial"/>
              </a:rPr>
              <a:t>Define typed product and customer schemas with field-level and cross-field constraints.</a:t>
            </a:r>
          </a:p>
        </p:txBody>
      </p:sp>
      <p:sp>
        <p:nvSpPr>
          <p:cNvPr id="10" name="TextBox 9"/>
          <p:cNvSpPr txBox="1"/>
          <p:nvPr/>
        </p:nvSpPr>
        <p:spPr>
          <a:xfrm>
            <a:off x="1078992" y="4187952"/>
            <a:ext cx="5989320" cy="731520"/>
          </a:xfrm>
          <a:prstGeom prst="rect">
            <a:avLst/>
          </a:prstGeom>
          <a:noFill/>
        </p:spPr>
        <p:txBody>
          <a:bodyPr wrap="square" anchor="t" lIns="36576" rIns="36576" tIns="36576" bIns="36576">
            <a:spAutoFit/>
          </a:bodyPr>
          <a:lstStyle/>
          <a:p>
            <a:pPr algn="l">
              <a:spcAft>
                <a:spcPts val="0"/>
              </a:spcAft>
            </a:pPr>
            <a:r>
              <a:rPr sz="1400" b="0">
                <a:solidFill>
                  <a:srgbClr val="475569"/>
                </a:solidFill>
                <a:latin typeface="Arial"/>
              </a:rPr>
              <a:t>Build: schemas.py with ProductCreate, ProductPatch and ProductRead</a:t>
            </a:r>
          </a:p>
        </p:txBody>
      </p:sp>
      <p:sp>
        <p:nvSpPr>
          <p:cNvPr id="11" name="Rounded Rectangle 10"/>
          <p:cNvSpPr/>
          <p:nvPr/>
        </p:nvSpPr>
        <p:spPr>
          <a:xfrm>
            <a:off x="7754112" y="1874519"/>
            <a:ext cx="3611880" cy="3611880"/>
          </a:xfrm>
          <a:prstGeom prst="roundRect">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19872" y="2249424"/>
            <a:ext cx="2880360" cy="274320"/>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TOOLS</a:t>
            </a:r>
          </a:p>
        </p:txBody>
      </p:sp>
      <p:sp>
        <p:nvSpPr>
          <p:cNvPr id="13" name="TextBox 12"/>
          <p:cNvSpPr txBox="1"/>
          <p:nvPr/>
        </p:nvSpPr>
        <p:spPr>
          <a:xfrm>
            <a:off x="8119872" y="2724912"/>
            <a:ext cx="2834640" cy="914400"/>
          </a:xfrm>
          <a:prstGeom prst="rect">
            <a:avLst/>
          </a:prstGeom>
          <a:noFill/>
        </p:spPr>
        <p:txBody>
          <a:bodyPr wrap="square" anchor="t" lIns="36576" rIns="36576" tIns="36576" bIns="36576">
            <a:spAutoFit/>
          </a:bodyPr>
          <a:lstStyle/>
          <a:p>
            <a:pPr algn="l">
              <a:spcAft>
                <a:spcPts val="0"/>
              </a:spcAft>
            </a:pPr>
            <a:r>
              <a:rPr sz="1600" b="1">
                <a:solidFill>
                  <a:srgbClr val="172433"/>
                </a:solidFill>
                <a:latin typeface="Arial"/>
              </a:rPr>
              <a:t>Pydantic v2, Swagger UI, OpenAI Python SDK</a:t>
            </a:r>
          </a:p>
        </p:txBody>
      </p:sp>
      <p:sp>
        <p:nvSpPr>
          <p:cNvPr id="14" name="TextBox 13"/>
          <p:cNvSpPr txBox="1"/>
          <p:nvPr/>
        </p:nvSpPr>
        <p:spPr>
          <a:xfrm>
            <a:off x="8119872" y="3886200"/>
            <a:ext cx="2834640" cy="786384"/>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Detailed procedure: Learner Guide + lab README</a:t>
            </a:r>
          </a:p>
        </p:txBody>
      </p:sp>
      <p:sp>
        <p:nvSpPr>
          <p:cNvPr id="15" name="TextBox 14"/>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6" name="TextBox 15"/>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7" name="TextBox 16"/>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99</a:t>
            </a:r>
          </a:p>
        </p:txBody>
      </p:sp>
    </p:spTree>
  </p:cSld>
  <p:transition spd="fast">
    <p:fade/>
  </p:transition>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LAB 05 · PROMPT ARTIFACT</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Prompt submitted by ai_vibe.py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7452360" cy="4005072"/>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121408"/>
            <a:ext cx="6858000" cy="274320"/>
          </a:xfrm>
          <a:prstGeom prst="rect">
            <a:avLst/>
          </a:prstGeom>
          <a:noFill/>
        </p:spPr>
        <p:txBody>
          <a:bodyPr wrap="square" anchor="t" lIns="36576" rIns="36576" tIns="36576" bIns="36576">
            <a:spAutoFit/>
          </a:bodyPr>
          <a:lstStyle/>
          <a:p>
            <a:pPr algn="l">
              <a:spcAft>
                <a:spcPts val="0"/>
              </a:spcAft>
            </a:pPr>
            <a:r>
              <a:rPr sz="1000" b="1">
                <a:solidFill>
                  <a:srgbClr val="06B6D4"/>
                </a:solidFill>
                <a:latin typeface="Arial"/>
              </a:rPr>
              <a:t>LEARNER PROMPT</a:t>
            </a:r>
          </a:p>
        </p:txBody>
      </p:sp>
      <p:sp>
        <p:nvSpPr>
          <p:cNvPr id="9" name="TextBox 8"/>
          <p:cNvSpPr txBox="1"/>
          <p:nvPr/>
        </p:nvSpPr>
        <p:spPr>
          <a:xfrm>
            <a:off x="1051560" y="2596896"/>
            <a:ext cx="6821424" cy="2880360"/>
          </a:xfrm>
          <a:prstGeom prst="rect">
            <a:avLst/>
          </a:prstGeom>
          <a:noFill/>
        </p:spPr>
        <p:txBody>
          <a:bodyPr wrap="square" anchor="t" lIns="36576" rIns="36576" tIns="36576" bIns="36576">
            <a:spAutoFit/>
          </a:bodyPr>
          <a:lstStyle/>
          <a:p>
            <a:pPr algn="l">
              <a:spcAft>
                <a:spcPts val="0"/>
              </a:spcAft>
            </a:pPr>
            <a:r>
              <a:rPr sz="1320" b="0">
                <a:solidFill>
                  <a:srgbClr val="D1FAE5"/>
                </a:solidFill>
                <a:latin typeface="Consolas"/>
              </a:rPr>
              <a:t>You are working on Lab 05 of a Northstar Commerce API. Create Pydantic v2 Product, Customer, Order and OrderItem input/output models. Constrain SKU, email, Decimal price, stock quantity and status; distinguish required, optional and omitted values. Add schema examples and boundary tests that assert the exact 422 error locations for invalid mock requests.</a:t>
            </a:r>
          </a:p>
        </p:txBody>
      </p:sp>
      <p:sp>
        <p:nvSpPr>
          <p:cNvPr id="10" name="Rounded Rectangle 9"/>
          <p:cNvSpPr/>
          <p:nvPr/>
        </p:nvSpPr>
        <p:spPr>
          <a:xfrm>
            <a:off x="8439912" y="1847088"/>
            <a:ext cx="2944368" cy="400507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14232" y="2130552"/>
            <a:ext cx="2377440" cy="256032"/>
          </a:xfrm>
          <a:prstGeom prst="rect">
            <a:avLst/>
          </a:prstGeom>
          <a:noFill/>
        </p:spPr>
        <p:txBody>
          <a:bodyPr wrap="square" anchor="t" lIns="36576" rIns="36576" tIns="36576" bIns="36576">
            <a:spAutoFit/>
          </a:bodyPr>
          <a:lstStyle/>
          <a:p>
            <a:pPr algn="l">
              <a:spcAft>
                <a:spcPts val="0"/>
              </a:spcAft>
            </a:pPr>
            <a:r>
              <a:rPr sz="950" b="1">
                <a:solidFill>
                  <a:srgbClr val="7C3AED"/>
                </a:solidFill>
                <a:latin typeface="Arial"/>
              </a:rPr>
              <a:t>PYTHON SDK ENVELOPE</a:t>
            </a:r>
          </a:p>
        </p:txBody>
      </p:sp>
      <p:sp>
        <p:nvSpPr>
          <p:cNvPr id="12" name="Rounded Rectangle 11"/>
          <p:cNvSpPr/>
          <p:nvPr/>
        </p:nvSpPr>
        <p:spPr>
          <a:xfrm>
            <a:off x="8714232" y="2615184"/>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07424" y="2578608"/>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Prompts.pdf</a:t>
            </a:r>
          </a:p>
        </p:txBody>
      </p:sp>
      <p:sp>
        <p:nvSpPr>
          <p:cNvPr id="14" name="Rounded Rectangle 13"/>
          <p:cNvSpPr/>
          <p:nvPr/>
        </p:nvSpPr>
        <p:spPr>
          <a:xfrm>
            <a:off x="8714232" y="3081528"/>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07424" y="3044952"/>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mock-data.json</a:t>
            </a:r>
          </a:p>
        </p:txBody>
      </p:sp>
      <p:sp>
        <p:nvSpPr>
          <p:cNvPr id="16" name="Rounded Rectangle 15"/>
          <p:cNvSpPr/>
          <p:nvPr/>
        </p:nvSpPr>
        <p:spPr>
          <a:xfrm>
            <a:off x="8714232" y="3547872"/>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07424" y="3511296"/>
            <a:ext cx="1874519" cy="274320"/>
          </a:xfrm>
          <a:prstGeom prst="rect">
            <a:avLst/>
          </a:prstGeom>
          <a:noFill/>
        </p:spPr>
        <p:txBody>
          <a:bodyPr wrap="square" anchor="t" lIns="36576" rIns="36576" tIns="36576" bIns="36576">
            <a:spAutoFit/>
          </a:bodyPr>
          <a:lstStyle/>
          <a:p>
            <a:pPr algn="l">
              <a:spcAft>
                <a:spcPts val="0"/>
              </a:spcAft>
            </a:pPr>
            <a:r>
              <a:rPr sz="1050" b="1">
                <a:solidFill>
                  <a:srgbClr val="172433"/>
                </a:solidFill>
                <a:latin typeface="Arial"/>
              </a:rPr>
              <a:t>responses.parse</a:t>
            </a:r>
          </a:p>
        </p:txBody>
      </p:sp>
      <p:sp>
        <p:nvSpPr>
          <p:cNvPr id="18" name="Rounded Rectangle 17"/>
          <p:cNvSpPr/>
          <p:nvPr/>
        </p:nvSpPr>
        <p:spPr>
          <a:xfrm>
            <a:off x="8714232" y="4014215"/>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07424" y="3977639"/>
            <a:ext cx="1874519" cy="274320"/>
          </a:xfrm>
          <a:prstGeom prst="rect">
            <a:avLst/>
          </a:prstGeom>
          <a:noFill/>
        </p:spPr>
        <p:txBody>
          <a:bodyPr wrap="square" anchor="t" lIns="36576" rIns="36576" tIns="36576" bIns="36576">
            <a:spAutoFit/>
          </a:bodyPr>
          <a:lstStyle/>
          <a:p>
            <a:pPr algn="l">
              <a:spcAft>
                <a:spcPts val="0"/>
              </a:spcAft>
            </a:pPr>
            <a:r>
              <a:rPr sz="1050" b="1">
                <a:solidFill>
                  <a:srgbClr val="172433"/>
                </a:solidFill>
                <a:latin typeface="Arial"/>
              </a:rPr>
              <a:t>CodeBundle</a:t>
            </a:r>
          </a:p>
        </p:txBody>
      </p:sp>
      <p:sp>
        <p:nvSpPr>
          <p:cNvPr id="20" name="Rounded Rectangle 19"/>
          <p:cNvSpPr/>
          <p:nvPr/>
        </p:nvSpPr>
        <p:spPr>
          <a:xfrm>
            <a:off x="8714232" y="4480560"/>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07424" y="4443984"/>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generated/</a:t>
            </a:r>
          </a:p>
        </p:txBody>
      </p:sp>
      <p:sp>
        <p:nvSpPr>
          <p:cNvPr id="22" name="Rounded Rectangle 21"/>
          <p:cNvSpPr/>
          <p:nvPr/>
        </p:nvSpPr>
        <p:spPr>
          <a:xfrm>
            <a:off x="8714232" y="4946904"/>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07424" y="4910328"/>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pytest + review</a:t>
            </a:r>
          </a:p>
        </p:txBody>
      </p:sp>
      <p:sp>
        <p:nvSpPr>
          <p:cNvPr id="24" name="TextBox 23"/>
          <p:cNvSpPr txBox="1"/>
          <p:nvPr/>
        </p:nvSpPr>
        <p:spPr>
          <a:xfrm>
            <a:off x="8714232" y="5468112"/>
            <a:ext cx="2148840" cy="219456"/>
          </a:xfrm>
          <a:prstGeom prst="rect">
            <a:avLst/>
          </a:prstGeom>
          <a:noFill/>
        </p:spPr>
        <p:txBody>
          <a:bodyPr wrap="square" anchor="t" lIns="36576" rIns="36576" tIns="36576" bIns="36576">
            <a:spAutoFit/>
          </a:bodyPr>
          <a:lstStyle/>
          <a:p>
            <a:pPr algn="l">
              <a:spcAft>
                <a:spcPts val="0"/>
              </a:spcAft>
            </a:pPr>
            <a:r>
              <a:rPr sz="950" b="1">
                <a:solidFill>
                  <a:srgbClr val="10B981"/>
                </a:solidFill>
                <a:latin typeface="Arial"/>
              </a:rPr>
              <a:t>Full prompt + refinement</a:t>
            </a:r>
          </a:p>
        </p:txBody>
      </p:sp>
      <p:sp>
        <p:nvSpPr>
          <p:cNvPr id="25" name="TextBox 24"/>
          <p:cNvSpPr txBox="1"/>
          <p:nvPr/>
        </p:nvSpPr>
        <p:spPr>
          <a:xfrm>
            <a:off x="8714232" y="5650992"/>
            <a:ext cx="2148840" cy="219456"/>
          </a:xfrm>
          <a:prstGeom prst="rect">
            <a:avLst/>
          </a:prstGeom>
          <a:noFill/>
        </p:spPr>
        <p:txBody>
          <a:bodyPr wrap="square" anchor="t" lIns="36576" rIns="36576" tIns="36576" bIns="36576">
            <a:spAutoFit/>
          </a:bodyPr>
          <a:lstStyle/>
          <a:p>
            <a:pPr algn="l">
              <a:spcAft>
                <a:spcPts val="0"/>
              </a:spcAft>
            </a:pPr>
            <a:r>
              <a:rPr sz="950" b="0">
                <a:solidFill>
                  <a:srgbClr val="475569"/>
                </a:solidFill>
                <a:latin typeface="Arial"/>
              </a:rPr>
              <a:t>in the lab Prompts.pdf</a:t>
            </a:r>
          </a:p>
        </p:txBody>
      </p:sp>
      <p:sp>
        <p:nvSpPr>
          <p:cNvPr id="26" name="TextBox 2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7" name="TextBox 2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8" name="TextBox 27"/>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OpenAI Python SDK</a:t>
            </a:r>
          </a:p>
        </p:txBody>
      </p:sp>
      <p:sp>
        <p:nvSpPr>
          <p:cNvPr id="29" name="TextBox 2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100</a:t>
            </a:r>
          </a:p>
        </p:txBody>
      </p:sp>
    </p:spTree>
  </p:cSld>
  <p:transition spd="fast">
    <p:fade/>
  </p:transition>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05 · MECHANISM</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How Validate Product and Customer Data works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665351"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5351"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1</a:t>
            </a:r>
          </a:p>
        </p:txBody>
      </p:sp>
      <p:sp>
        <p:nvSpPr>
          <p:cNvPr id="10" name="TextBox 9"/>
          <p:cNvSpPr txBox="1"/>
          <p:nvPr/>
        </p:nvSpPr>
        <p:spPr>
          <a:xfrm>
            <a:off x="859536"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Input contract</a:t>
            </a:r>
          </a:p>
        </p:txBody>
      </p:sp>
      <p:sp>
        <p:nvSpPr>
          <p:cNvPr id="11" name="TextBox 10"/>
          <p:cNvSpPr txBox="1"/>
          <p:nvPr/>
        </p:nvSpPr>
        <p:spPr>
          <a:xfrm>
            <a:off x="886968"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Define typed product and customer schemas with field-level and cross-field constraints.</a:t>
            </a:r>
          </a:p>
        </p:txBody>
      </p:sp>
      <p:sp>
        <p:nvSpPr>
          <p:cNvPr id="12" name="Rounded Rectangle 11"/>
          <p:cNvSpPr/>
          <p:nvPr/>
        </p:nvSpPr>
        <p:spPr>
          <a:xfrm>
            <a:off x="3477006"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92549"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92549"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2</a:t>
            </a:r>
          </a:p>
        </p:txBody>
      </p:sp>
      <p:sp>
        <p:nvSpPr>
          <p:cNvPr id="15" name="TextBox 14"/>
          <p:cNvSpPr txBox="1"/>
          <p:nvPr/>
        </p:nvSpPr>
        <p:spPr>
          <a:xfrm>
            <a:off x="3586734"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Boundary validation</a:t>
            </a:r>
          </a:p>
        </p:txBody>
      </p:sp>
      <p:sp>
        <p:nvSpPr>
          <p:cNvPr id="16" name="TextBox 15"/>
          <p:cNvSpPr txBox="1"/>
          <p:nvPr/>
        </p:nvSpPr>
        <p:spPr>
          <a:xfrm>
            <a:off x="3614166"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Reject invalid or unauthorised input</a:t>
            </a:r>
          </a:p>
        </p:txBody>
      </p:sp>
      <p:sp>
        <p:nvSpPr>
          <p:cNvPr id="17" name="Rounded Rectangle 16"/>
          <p:cNvSpPr/>
          <p:nvPr/>
        </p:nvSpPr>
        <p:spPr>
          <a:xfrm>
            <a:off x="6204204"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119747"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9747"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3</a:t>
            </a:r>
          </a:p>
        </p:txBody>
      </p:sp>
      <p:sp>
        <p:nvSpPr>
          <p:cNvPr id="20" name="TextBox 19"/>
          <p:cNvSpPr txBox="1"/>
          <p:nvPr/>
        </p:nvSpPr>
        <p:spPr>
          <a:xfrm>
            <a:off x="6313932"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Business decision</a:t>
            </a:r>
          </a:p>
        </p:txBody>
      </p:sp>
      <p:sp>
        <p:nvSpPr>
          <p:cNvPr id="21" name="TextBox 20"/>
          <p:cNvSpPr txBox="1"/>
          <p:nvPr/>
        </p:nvSpPr>
        <p:spPr>
          <a:xfrm>
            <a:off x="6341364"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Apply one explicit rule</a:t>
            </a:r>
          </a:p>
        </p:txBody>
      </p:sp>
      <p:sp>
        <p:nvSpPr>
          <p:cNvPr id="22" name="Rounded Rectangle 21"/>
          <p:cNvSpPr/>
          <p:nvPr/>
        </p:nvSpPr>
        <p:spPr>
          <a:xfrm>
            <a:off x="8931402"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46945"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46945"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4</a:t>
            </a:r>
          </a:p>
        </p:txBody>
      </p:sp>
      <p:sp>
        <p:nvSpPr>
          <p:cNvPr id="25" name="TextBox 24"/>
          <p:cNvSpPr txBox="1"/>
          <p:nvPr/>
        </p:nvSpPr>
        <p:spPr>
          <a:xfrm>
            <a:off x="9041130"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State/evidence</a:t>
            </a:r>
          </a:p>
        </p:txBody>
      </p:sp>
      <p:sp>
        <p:nvSpPr>
          <p:cNvPr id="26" name="TextBox 25"/>
          <p:cNvSpPr txBox="1"/>
          <p:nvPr/>
        </p:nvSpPr>
        <p:spPr>
          <a:xfrm>
            <a:off x="9068562"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Invalid SKU, price, stock, email and status values are rejected before repository code; valid JSON becomes a typed model.</a:t>
            </a:r>
          </a:p>
        </p:txBody>
      </p:sp>
      <p:sp>
        <p:nvSpPr>
          <p:cNvPr id="27" name="TextBox 26"/>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8" name="TextBox 27"/>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9" name="TextBox 2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101</a:t>
            </a:r>
          </a:p>
        </p:txBody>
      </p:sp>
    </p:spTree>
  </p:cSld>
  <p:transition spd="fast">
    <p:fade/>
  </p:transition>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05 ·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schemas.py with ProductCreate, ProductPatch and ProductRead</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01952"/>
            <a:ext cx="6812280" cy="3611880"/>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194560"/>
            <a:ext cx="6144768" cy="3063240"/>
          </a:xfrm>
          <a:prstGeom prst="rect">
            <a:avLst/>
          </a:prstGeom>
          <a:noFill/>
        </p:spPr>
        <p:txBody>
          <a:bodyPr wrap="square" anchor="t" lIns="36576" rIns="36576" tIns="36576" bIns="36576">
            <a:spAutoFit/>
          </a:bodyPr>
          <a:lstStyle/>
          <a:p>
            <a:pPr algn="l">
              <a:spcAft>
                <a:spcPts val="0"/>
              </a:spcAft>
            </a:pPr>
            <a:r>
              <a:rPr sz="1250" b="0">
                <a:solidFill>
                  <a:srgbClr val="A7F3D0"/>
                </a:solidFill>
                <a:latin typeface="Consolas"/>
              </a:rPr>
              <a:t>REQUEST
  lab: 05
  objective: Define typed product and customer schemas with field-
             level and cross-field constraints.
EXPECTED EVIDENCE
  artifact: schemas.py with ProductCreate, ProductPatch and ProductRead
  codes: A3, A5
  status: verified</a:t>
            </a:r>
          </a:p>
        </p:txBody>
      </p:sp>
      <p:sp>
        <p:nvSpPr>
          <p:cNvPr id="9" name="Rounded Rectangle 8"/>
          <p:cNvSpPr/>
          <p:nvPr/>
        </p:nvSpPr>
        <p:spPr>
          <a:xfrm>
            <a:off x="7882127" y="1901952"/>
            <a:ext cx="3493008" cy="3611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2212848"/>
            <a:ext cx="2880360" cy="310896"/>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ASSESSMENT BRIDGE</a:t>
            </a:r>
          </a:p>
        </p:txBody>
      </p:sp>
      <p:sp>
        <p:nvSpPr>
          <p:cNvPr id="11" name="TextBox 10"/>
          <p:cNvSpPr txBox="1"/>
          <p:nvPr/>
        </p:nvSpPr>
        <p:spPr>
          <a:xfrm>
            <a:off x="8193024" y="2761488"/>
            <a:ext cx="2834640" cy="1051560"/>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Ability codes
A3, A5</a:t>
            </a:r>
          </a:p>
        </p:txBody>
      </p:sp>
      <p:sp>
        <p:nvSpPr>
          <p:cNvPr id="12" name="TextBox 11"/>
          <p:cNvSpPr txBox="1"/>
          <p:nvPr/>
        </p:nvSpPr>
        <p:spPr>
          <a:xfrm>
            <a:off x="8193024" y="4160520"/>
            <a:ext cx="2788920" cy="685800"/>
          </a:xfrm>
          <a:prstGeom prst="rect">
            <a:avLst/>
          </a:prstGeom>
          <a:noFill/>
        </p:spPr>
        <p:txBody>
          <a:bodyPr wrap="square" anchor="t" lIns="36576" rIns="36576" tIns="36576" bIns="36576">
            <a:spAutoFit/>
          </a:bodyPr>
          <a:lstStyle/>
          <a:p>
            <a:pPr algn="l">
              <a:spcAft>
                <a:spcPts val="0"/>
              </a:spcAft>
            </a:pPr>
            <a:r>
              <a:rPr sz="1100" b="0">
                <a:solidFill>
                  <a:srgbClr val="475569"/>
                </a:solidFill>
                <a:latin typeface="Arial"/>
              </a:rPr>
              <a:t>Capture a screenshot, terminal output or test result that proves the acceptance criterion.</a:t>
            </a:r>
          </a:p>
        </p:txBody>
      </p:sp>
      <p:sp>
        <p:nvSpPr>
          <p:cNvPr id="13" name="TextBox 1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4" name="TextBox 1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5" name="TextBox 14"/>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102</a:t>
            </a:r>
          </a:p>
        </p:txBody>
      </p:sp>
    </p:spTree>
  </p:cSld>
  <p:transition spd="fast">
    <p:fade/>
  </p:transition>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05 · VERIFY</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Acceptance and diagnosis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74519"/>
            <a:ext cx="5166360" cy="3611880"/>
          </a:xfrm>
          <a:prstGeom prst="roundRect">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240280"/>
            <a:ext cx="4526280" cy="310896"/>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PASS WHEN</a:t>
            </a:r>
          </a:p>
        </p:txBody>
      </p:sp>
      <p:sp>
        <p:nvSpPr>
          <p:cNvPr id="9" name="TextBox 8"/>
          <p:cNvSpPr txBox="1"/>
          <p:nvPr/>
        </p:nvSpPr>
        <p:spPr>
          <a:xfrm>
            <a:off x="1078992" y="2798064"/>
            <a:ext cx="4498848" cy="1600200"/>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Invalid SKU, price, stock, email and status values are rejected before repository code; valid JSON becomes a typed model.</a:t>
            </a:r>
          </a:p>
        </p:txBody>
      </p:sp>
      <p:sp>
        <p:nvSpPr>
          <p:cNvPr id="10" name="Rounded Rectangle 9"/>
          <p:cNvSpPr/>
          <p:nvPr/>
        </p:nvSpPr>
        <p:spPr>
          <a:xfrm>
            <a:off x="6217920" y="1874519"/>
            <a:ext cx="5148072" cy="3611880"/>
          </a:xfrm>
          <a:prstGeom prst="roundRect">
            <a:avLst/>
          </a:prstGeom>
          <a:solidFill>
            <a:srgbClr val="FEF2F2"/>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56248" y="2240280"/>
            <a:ext cx="4480560" cy="310896"/>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DIAGNOSE</a:t>
            </a:r>
          </a:p>
        </p:txBody>
      </p:sp>
      <p:sp>
        <p:nvSpPr>
          <p:cNvPr id="12" name="TextBox 11"/>
          <p:cNvSpPr txBox="1"/>
          <p:nvPr/>
        </p:nvSpPr>
        <p:spPr>
          <a:xfrm>
            <a:off x="6556248" y="277063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1. Inspect HTTP status and response body</a:t>
            </a:r>
          </a:p>
        </p:txBody>
      </p:sp>
      <p:sp>
        <p:nvSpPr>
          <p:cNvPr id="13" name="TextBox 12"/>
          <p:cNvSpPr txBox="1"/>
          <p:nvPr/>
        </p:nvSpPr>
        <p:spPr>
          <a:xfrm>
            <a:off x="6556248" y="327355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2. Check request fields and headers</a:t>
            </a:r>
          </a:p>
        </p:txBody>
      </p:sp>
      <p:sp>
        <p:nvSpPr>
          <p:cNvPr id="14" name="TextBox 13"/>
          <p:cNvSpPr txBox="1"/>
          <p:nvPr/>
        </p:nvSpPr>
        <p:spPr>
          <a:xfrm>
            <a:off x="6556248" y="377647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3. Follow request ID into logs</a:t>
            </a:r>
          </a:p>
        </p:txBody>
      </p:sp>
      <p:sp>
        <p:nvSpPr>
          <p:cNvPr id="15" name="TextBox 14"/>
          <p:cNvSpPr txBox="1"/>
          <p:nvPr/>
        </p:nvSpPr>
        <p:spPr>
          <a:xfrm>
            <a:off x="6556248" y="427939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4. Re-run the smallest failing test</a:t>
            </a:r>
          </a:p>
        </p:txBody>
      </p:sp>
      <p:sp>
        <p:nvSpPr>
          <p:cNvPr id="16" name="TextBox 1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7" name="TextBox 1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8" name="TextBox 17"/>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103</a:t>
            </a:r>
          </a:p>
        </p:txBody>
      </p:sp>
    </p:spTree>
  </p:cSld>
  <p:transition spd="fast">
    <p:fade/>
  </p:transition>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LAB 05 · CONTRACT REVIEW</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Prompt output must preserve the API boundary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02352" cy="3730752"/>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176272"/>
            <a:ext cx="4434840" cy="420624"/>
          </a:xfrm>
          <a:prstGeom prst="rect">
            <a:avLst/>
          </a:prstGeom>
          <a:noFill/>
        </p:spPr>
        <p:txBody>
          <a:bodyPr wrap="square" anchor="t" lIns="36576" rIns="36576" tIns="36576" bIns="36576">
            <a:spAutoFit/>
          </a:bodyPr>
          <a:lstStyle/>
          <a:p>
            <a:pPr algn="l">
              <a:spcAft>
                <a:spcPts val="0"/>
              </a:spcAft>
            </a:pPr>
            <a:r>
              <a:rPr sz="1000" b="1">
                <a:solidFill>
                  <a:srgbClr val="D1FAE5"/>
                </a:solidFill>
                <a:latin typeface="Arial"/>
              </a:rPr>
              <a:t>TARGET FILES</a:t>
            </a:r>
          </a:p>
        </p:txBody>
      </p:sp>
      <p:sp>
        <p:nvSpPr>
          <p:cNvPr id="9" name="TextBox 8"/>
          <p:cNvSpPr txBox="1"/>
          <p:nvPr/>
        </p:nvSpPr>
        <p:spPr>
          <a:xfrm>
            <a:off x="1078992" y="2743200"/>
            <a:ext cx="4434840" cy="420624"/>
          </a:xfrm>
          <a:prstGeom prst="rect">
            <a:avLst/>
          </a:prstGeom>
          <a:noFill/>
        </p:spPr>
        <p:txBody>
          <a:bodyPr wrap="square" anchor="t" lIns="36576" rIns="36576" tIns="36576" bIns="36576">
            <a:spAutoFit/>
          </a:bodyPr>
          <a:lstStyle/>
          <a:p>
            <a:pPr algn="l">
              <a:spcAft>
                <a:spcPts val="0"/>
              </a:spcAft>
            </a:pPr>
            <a:r>
              <a:rPr sz="1100" b="0">
                <a:solidFill>
                  <a:srgbClr val="D1FAE5"/>
                </a:solidFill>
                <a:latin typeface="Consolas"/>
              </a:rPr>
              <a:t>app/schemas.py</a:t>
            </a:r>
          </a:p>
        </p:txBody>
      </p:sp>
      <p:sp>
        <p:nvSpPr>
          <p:cNvPr id="10" name="TextBox 9"/>
          <p:cNvSpPr txBox="1"/>
          <p:nvPr/>
        </p:nvSpPr>
        <p:spPr>
          <a:xfrm>
            <a:off x="1078992" y="3310128"/>
            <a:ext cx="4434840" cy="420624"/>
          </a:xfrm>
          <a:prstGeom prst="rect">
            <a:avLst/>
          </a:prstGeom>
          <a:noFill/>
        </p:spPr>
        <p:txBody>
          <a:bodyPr wrap="square" anchor="t" lIns="36576" rIns="36576" tIns="36576" bIns="36576">
            <a:spAutoFit/>
          </a:bodyPr>
          <a:lstStyle/>
          <a:p>
            <a:pPr algn="l">
              <a:spcAft>
                <a:spcPts val="0"/>
              </a:spcAft>
            </a:pPr>
            <a:r>
              <a:rPr sz="1100" b="0">
                <a:solidFill>
                  <a:srgbClr val="D1FAE5"/>
                </a:solidFill>
                <a:latin typeface="Consolas"/>
              </a:rPr>
              <a:t>tests/test_validation.py</a:t>
            </a:r>
          </a:p>
        </p:txBody>
      </p:sp>
      <p:sp>
        <p:nvSpPr>
          <p:cNvPr id="11" name="Rounded Rectangle 10"/>
          <p:cNvSpPr/>
          <p:nvPr/>
        </p:nvSpPr>
        <p:spPr>
          <a:xfrm>
            <a:off x="6144768" y="1847088"/>
            <a:ext cx="5230368" cy="373075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2176272"/>
            <a:ext cx="4526280" cy="237744"/>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ACCEPTANCE</a:t>
            </a:r>
          </a:p>
        </p:txBody>
      </p:sp>
      <p:sp>
        <p:nvSpPr>
          <p:cNvPr id="13" name="TextBox 12"/>
          <p:cNvSpPr txBox="1"/>
          <p:nvPr/>
        </p:nvSpPr>
        <p:spPr>
          <a:xfrm>
            <a:off x="6473952" y="2578608"/>
            <a:ext cx="4526280" cy="1417320"/>
          </a:xfrm>
          <a:prstGeom prst="rect">
            <a:avLst/>
          </a:prstGeom>
          <a:noFill/>
        </p:spPr>
        <p:txBody>
          <a:bodyPr wrap="square" anchor="t" lIns="36576" rIns="36576" tIns="36576" bIns="36576">
            <a:spAutoFit/>
          </a:bodyPr>
          <a:lstStyle/>
          <a:p>
            <a:pPr algn="l">
              <a:spcAft>
                <a:spcPts val="0"/>
              </a:spcAft>
            </a:pPr>
            <a:r>
              <a:rPr sz="1500" b="1">
                <a:solidFill>
                  <a:srgbClr val="172433"/>
                </a:solidFill>
                <a:latin typeface="Arial"/>
              </a:rPr>
              <a:t>Invalid SKU, price, stock, email and status values are rejected before repository code; valid JSON becomes a typed model.</a:t>
            </a:r>
          </a:p>
        </p:txBody>
      </p:sp>
      <p:sp>
        <p:nvSpPr>
          <p:cNvPr id="14" name="TextBox 13"/>
          <p:cNvSpPr txBox="1"/>
          <p:nvPr/>
        </p:nvSpPr>
        <p:spPr>
          <a:xfrm>
            <a:off x="6473952" y="4279392"/>
            <a:ext cx="4526280" cy="237744"/>
          </a:xfrm>
          <a:prstGeom prst="rect">
            <a:avLst/>
          </a:prstGeom>
          <a:noFill/>
        </p:spPr>
        <p:txBody>
          <a:bodyPr wrap="square" anchor="t" lIns="36576" rIns="36576" tIns="36576" bIns="36576">
            <a:spAutoFit/>
          </a:bodyPr>
          <a:lstStyle/>
          <a:p>
            <a:pPr algn="l">
              <a:spcAft>
                <a:spcPts val="0"/>
              </a:spcAft>
            </a:pPr>
            <a:r>
              <a:rPr sz="1000" b="1">
                <a:solidFill>
                  <a:srgbClr val="7C3AED"/>
                </a:solidFill>
                <a:latin typeface="Arial"/>
              </a:rPr>
              <a:t>ABILITY TRACE</a:t>
            </a:r>
          </a:p>
        </p:txBody>
      </p:sp>
      <p:sp>
        <p:nvSpPr>
          <p:cNvPr id="15" name="TextBox 14"/>
          <p:cNvSpPr txBox="1"/>
          <p:nvPr/>
        </p:nvSpPr>
        <p:spPr>
          <a:xfrm>
            <a:off x="6473952" y="4645152"/>
            <a:ext cx="4526280" cy="438912"/>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A3, A5</a:t>
            </a:r>
          </a:p>
        </p:txBody>
      </p:sp>
      <p:sp>
        <p:nvSpPr>
          <p:cNvPr id="16" name="TextBox 1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7" name="TextBox 1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8" name="TextBox 17"/>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OpenAPI contract + lab prompt</a:t>
            </a:r>
          </a:p>
        </p:txBody>
      </p:sp>
      <p:sp>
        <p:nvSpPr>
          <p:cNvPr id="19" name="TextBox 1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104</a:t>
            </a:r>
          </a:p>
        </p:txBody>
      </p:sp>
    </p:spTree>
  </p:cSld>
  <p:transition spd="fast">
    <p:fade/>
  </p:transition>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06 · SCENARIO</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Filter Responses and Implement PATCH</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74519"/>
            <a:ext cx="6675120" cy="3611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212848"/>
            <a:ext cx="6035040" cy="34747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DESIGN CHALLENGE</a:t>
            </a:r>
          </a:p>
        </p:txBody>
      </p:sp>
      <p:sp>
        <p:nvSpPr>
          <p:cNvPr id="9" name="TextBox 8"/>
          <p:cNvSpPr txBox="1"/>
          <p:nvPr/>
        </p:nvSpPr>
        <p:spPr>
          <a:xfrm>
            <a:off x="1078992" y="2743200"/>
            <a:ext cx="5989320" cy="1097280"/>
          </a:xfrm>
          <a:prstGeom prst="rect">
            <a:avLst/>
          </a:prstGeom>
          <a:noFill/>
        </p:spPr>
        <p:txBody>
          <a:bodyPr wrap="square" anchor="t" lIns="36576" rIns="36576" tIns="36576" bIns="36576">
            <a:spAutoFit/>
          </a:bodyPr>
          <a:lstStyle/>
          <a:p>
            <a:pPr algn="l">
              <a:spcAft>
                <a:spcPts val="0"/>
              </a:spcAft>
            </a:pPr>
            <a:r>
              <a:rPr sz="2200" b="1">
                <a:solidFill>
                  <a:srgbClr val="172433"/>
                </a:solidFill>
                <a:latin typeface="Arial"/>
              </a:rPr>
              <a:t>Use response models and exclude_unset semantics for safe partial updates.</a:t>
            </a:r>
          </a:p>
        </p:txBody>
      </p:sp>
      <p:sp>
        <p:nvSpPr>
          <p:cNvPr id="10" name="TextBox 9"/>
          <p:cNvSpPr txBox="1"/>
          <p:nvPr/>
        </p:nvSpPr>
        <p:spPr>
          <a:xfrm>
            <a:off x="1078992" y="4187952"/>
            <a:ext cx="5989320" cy="731520"/>
          </a:xfrm>
          <a:prstGeom prst="rect">
            <a:avLst/>
          </a:prstGeom>
          <a:noFill/>
        </p:spPr>
        <p:txBody>
          <a:bodyPr wrap="square" anchor="t" lIns="36576" rIns="36576" tIns="36576" bIns="36576">
            <a:spAutoFit/>
          </a:bodyPr>
          <a:lstStyle/>
          <a:p>
            <a:pPr algn="l">
              <a:spcAft>
                <a:spcPts val="0"/>
              </a:spcAft>
            </a:pPr>
            <a:r>
              <a:rPr sz="1400" b="0">
                <a:solidFill>
                  <a:srgbClr val="475569"/>
                </a:solidFill>
                <a:latin typeface="Arial"/>
              </a:rPr>
              <a:t>Build: PATCH /api/v1/products/{id} with stable ProductRead output</a:t>
            </a:r>
          </a:p>
        </p:txBody>
      </p:sp>
      <p:sp>
        <p:nvSpPr>
          <p:cNvPr id="11" name="Rounded Rectangle 10"/>
          <p:cNvSpPr/>
          <p:nvPr/>
        </p:nvSpPr>
        <p:spPr>
          <a:xfrm>
            <a:off x="7754112" y="1874519"/>
            <a:ext cx="3611880" cy="3611880"/>
          </a:xfrm>
          <a:prstGeom prst="roundRect">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19872" y="2249424"/>
            <a:ext cx="2880360" cy="274320"/>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TOOLS</a:t>
            </a:r>
          </a:p>
        </p:txBody>
      </p:sp>
      <p:sp>
        <p:nvSpPr>
          <p:cNvPr id="13" name="TextBox 12"/>
          <p:cNvSpPr txBox="1"/>
          <p:nvPr/>
        </p:nvSpPr>
        <p:spPr>
          <a:xfrm>
            <a:off x="8119872" y="2724912"/>
            <a:ext cx="2834640" cy="914400"/>
          </a:xfrm>
          <a:prstGeom prst="rect">
            <a:avLst/>
          </a:prstGeom>
          <a:noFill/>
        </p:spPr>
        <p:txBody>
          <a:bodyPr wrap="square" anchor="t" lIns="36576" rIns="36576" tIns="36576" bIns="36576">
            <a:spAutoFit/>
          </a:bodyPr>
          <a:lstStyle/>
          <a:p>
            <a:pPr algn="l">
              <a:spcAft>
                <a:spcPts val="0"/>
              </a:spcAft>
            </a:pPr>
            <a:r>
              <a:rPr sz="1600" b="1">
                <a:solidFill>
                  <a:srgbClr val="172433"/>
                </a:solidFill>
                <a:latin typeface="Arial"/>
              </a:rPr>
              <a:t>FastAPI response_model, Pydantic, OpenAI Python SDK</a:t>
            </a:r>
          </a:p>
        </p:txBody>
      </p:sp>
      <p:sp>
        <p:nvSpPr>
          <p:cNvPr id="14" name="TextBox 13"/>
          <p:cNvSpPr txBox="1"/>
          <p:nvPr/>
        </p:nvSpPr>
        <p:spPr>
          <a:xfrm>
            <a:off x="8119872" y="3886200"/>
            <a:ext cx="2834640" cy="786384"/>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Detailed procedure: Learner Guide + lab README</a:t>
            </a:r>
          </a:p>
        </p:txBody>
      </p:sp>
      <p:sp>
        <p:nvSpPr>
          <p:cNvPr id="15" name="TextBox 14"/>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6" name="TextBox 15"/>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7" name="TextBox 16"/>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105</a:t>
            </a:r>
          </a:p>
        </p:txBody>
      </p:sp>
    </p:spTree>
  </p:cSld>
  <p:transition spd="fast">
    <p:fade/>
  </p:transition>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LAB 06 · PROMPT ARTIFACT</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Prompt submitted by ai_vibe.py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7452360" cy="4005072"/>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121408"/>
            <a:ext cx="6858000" cy="274320"/>
          </a:xfrm>
          <a:prstGeom prst="rect">
            <a:avLst/>
          </a:prstGeom>
          <a:noFill/>
        </p:spPr>
        <p:txBody>
          <a:bodyPr wrap="square" anchor="t" lIns="36576" rIns="36576" tIns="36576" bIns="36576">
            <a:spAutoFit/>
          </a:bodyPr>
          <a:lstStyle/>
          <a:p>
            <a:pPr algn="l">
              <a:spcAft>
                <a:spcPts val="0"/>
              </a:spcAft>
            </a:pPr>
            <a:r>
              <a:rPr sz="1000" b="1">
                <a:solidFill>
                  <a:srgbClr val="06B6D4"/>
                </a:solidFill>
                <a:latin typeface="Arial"/>
              </a:rPr>
              <a:t>LEARNER PROMPT</a:t>
            </a:r>
          </a:p>
        </p:txBody>
      </p:sp>
      <p:sp>
        <p:nvSpPr>
          <p:cNvPr id="9" name="TextBox 8"/>
          <p:cNvSpPr txBox="1"/>
          <p:nvPr/>
        </p:nvSpPr>
        <p:spPr>
          <a:xfrm>
            <a:off x="1051560" y="2596896"/>
            <a:ext cx="6821424" cy="2880360"/>
          </a:xfrm>
          <a:prstGeom prst="rect">
            <a:avLst/>
          </a:prstGeom>
          <a:noFill/>
        </p:spPr>
        <p:txBody>
          <a:bodyPr wrap="square" anchor="t" lIns="36576" rIns="36576" tIns="36576" bIns="36576">
            <a:spAutoFit/>
          </a:bodyPr>
          <a:lstStyle/>
          <a:p>
            <a:pPr algn="l">
              <a:spcAft>
                <a:spcPts val="0"/>
              </a:spcAft>
            </a:pPr>
            <a:r>
              <a:rPr sz="1320" b="0">
                <a:solidFill>
                  <a:srgbClr val="D1FAE5"/>
                </a:solidFill>
                <a:latin typeface="Consolas"/>
              </a:rPr>
              <a:t>You are working on Lab 06 of a Northstar Commerce API. Revise the FastAPI product routes so response models exclude internal fields and PATCH uses model_dump(exclude_unset=True). Preserve unspecified fields, define the empty-patch rule and add tests for one-field updates, response filtering, missing products and stable JSON shapes.</a:t>
            </a:r>
          </a:p>
        </p:txBody>
      </p:sp>
      <p:sp>
        <p:nvSpPr>
          <p:cNvPr id="10" name="Rounded Rectangle 9"/>
          <p:cNvSpPr/>
          <p:nvPr/>
        </p:nvSpPr>
        <p:spPr>
          <a:xfrm>
            <a:off x="8439912" y="1847088"/>
            <a:ext cx="2944368" cy="400507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14232" y="2130552"/>
            <a:ext cx="2377440" cy="256032"/>
          </a:xfrm>
          <a:prstGeom prst="rect">
            <a:avLst/>
          </a:prstGeom>
          <a:noFill/>
        </p:spPr>
        <p:txBody>
          <a:bodyPr wrap="square" anchor="t" lIns="36576" rIns="36576" tIns="36576" bIns="36576">
            <a:spAutoFit/>
          </a:bodyPr>
          <a:lstStyle/>
          <a:p>
            <a:pPr algn="l">
              <a:spcAft>
                <a:spcPts val="0"/>
              </a:spcAft>
            </a:pPr>
            <a:r>
              <a:rPr sz="950" b="1">
                <a:solidFill>
                  <a:srgbClr val="7C3AED"/>
                </a:solidFill>
                <a:latin typeface="Arial"/>
              </a:rPr>
              <a:t>PYTHON SDK ENVELOPE</a:t>
            </a:r>
          </a:p>
        </p:txBody>
      </p:sp>
      <p:sp>
        <p:nvSpPr>
          <p:cNvPr id="12" name="Rounded Rectangle 11"/>
          <p:cNvSpPr/>
          <p:nvPr/>
        </p:nvSpPr>
        <p:spPr>
          <a:xfrm>
            <a:off x="8714232" y="2615184"/>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07424" y="2578608"/>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Prompts.pdf</a:t>
            </a:r>
          </a:p>
        </p:txBody>
      </p:sp>
      <p:sp>
        <p:nvSpPr>
          <p:cNvPr id="14" name="Rounded Rectangle 13"/>
          <p:cNvSpPr/>
          <p:nvPr/>
        </p:nvSpPr>
        <p:spPr>
          <a:xfrm>
            <a:off x="8714232" y="3081528"/>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07424" y="3044952"/>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mock-data.json</a:t>
            </a:r>
          </a:p>
        </p:txBody>
      </p:sp>
      <p:sp>
        <p:nvSpPr>
          <p:cNvPr id="16" name="Rounded Rectangle 15"/>
          <p:cNvSpPr/>
          <p:nvPr/>
        </p:nvSpPr>
        <p:spPr>
          <a:xfrm>
            <a:off x="8714232" y="3547872"/>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07424" y="3511296"/>
            <a:ext cx="1874519" cy="274320"/>
          </a:xfrm>
          <a:prstGeom prst="rect">
            <a:avLst/>
          </a:prstGeom>
          <a:noFill/>
        </p:spPr>
        <p:txBody>
          <a:bodyPr wrap="square" anchor="t" lIns="36576" rIns="36576" tIns="36576" bIns="36576">
            <a:spAutoFit/>
          </a:bodyPr>
          <a:lstStyle/>
          <a:p>
            <a:pPr algn="l">
              <a:spcAft>
                <a:spcPts val="0"/>
              </a:spcAft>
            </a:pPr>
            <a:r>
              <a:rPr sz="1050" b="1">
                <a:solidFill>
                  <a:srgbClr val="172433"/>
                </a:solidFill>
                <a:latin typeface="Arial"/>
              </a:rPr>
              <a:t>responses.parse</a:t>
            </a:r>
          </a:p>
        </p:txBody>
      </p:sp>
      <p:sp>
        <p:nvSpPr>
          <p:cNvPr id="18" name="Rounded Rectangle 17"/>
          <p:cNvSpPr/>
          <p:nvPr/>
        </p:nvSpPr>
        <p:spPr>
          <a:xfrm>
            <a:off x="8714232" y="4014215"/>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07424" y="3977639"/>
            <a:ext cx="1874519" cy="274320"/>
          </a:xfrm>
          <a:prstGeom prst="rect">
            <a:avLst/>
          </a:prstGeom>
          <a:noFill/>
        </p:spPr>
        <p:txBody>
          <a:bodyPr wrap="square" anchor="t" lIns="36576" rIns="36576" tIns="36576" bIns="36576">
            <a:spAutoFit/>
          </a:bodyPr>
          <a:lstStyle/>
          <a:p>
            <a:pPr algn="l">
              <a:spcAft>
                <a:spcPts val="0"/>
              </a:spcAft>
            </a:pPr>
            <a:r>
              <a:rPr sz="1050" b="1">
                <a:solidFill>
                  <a:srgbClr val="172433"/>
                </a:solidFill>
                <a:latin typeface="Arial"/>
              </a:rPr>
              <a:t>CodeBundle</a:t>
            </a:r>
          </a:p>
        </p:txBody>
      </p:sp>
      <p:sp>
        <p:nvSpPr>
          <p:cNvPr id="20" name="Rounded Rectangle 19"/>
          <p:cNvSpPr/>
          <p:nvPr/>
        </p:nvSpPr>
        <p:spPr>
          <a:xfrm>
            <a:off x="8714232" y="4480560"/>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07424" y="4443984"/>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generated/</a:t>
            </a:r>
          </a:p>
        </p:txBody>
      </p:sp>
      <p:sp>
        <p:nvSpPr>
          <p:cNvPr id="22" name="Rounded Rectangle 21"/>
          <p:cNvSpPr/>
          <p:nvPr/>
        </p:nvSpPr>
        <p:spPr>
          <a:xfrm>
            <a:off x="8714232" y="4946904"/>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07424" y="4910328"/>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pytest + review</a:t>
            </a:r>
          </a:p>
        </p:txBody>
      </p:sp>
      <p:sp>
        <p:nvSpPr>
          <p:cNvPr id="24" name="TextBox 23"/>
          <p:cNvSpPr txBox="1"/>
          <p:nvPr/>
        </p:nvSpPr>
        <p:spPr>
          <a:xfrm>
            <a:off x="8714232" y="5468112"/>
            <a:ext cx="2148840" cy="219456"/>
          </a:xfrm>
          <a:prstGeom prst="rect">
            <a:avLst/>
          </a:prstGeom>
          <a:noFill/>
        </p:spPr>
        <p:txBody>
          <a:bodyPr wrap="square" anchor="t" lIns="36576" rIns="36576" tIns="36576" bIns="36576">
            <a:spAutoFit/>
          </a:bodyPr>
          <a:lstStyle/>
          <a:p>
            <a:pPr algn="l">
              <a:spcAft>
                <a:spcPts val="0"/>
              </a:spcAft>
            </a:pPr>
            <a:r>
              <a:rPr sz="950" b="1">
                <a:solidFill>
                  <a:srgbClr val="10B981"/>
                </a:solidFill>
                <a:latin typeface="Arial"/>
              </a:rPr>
              <a:t>Full prompt + refinement</a:t>
            </a:r>
          </a:p>
        </p:txBody>
      </p:sp>
      <p:sp>
        <p:nvSpPr>
          <p:cNvPr id="25" name="TextBox 24"/>
          <p:cNvSpPr txBox="1"/>
          <p:nvPr/>
        </p:nvSpPr>
        <p:spPr>
          <a:xfrm>
            <a:off x="8714232" y="5650992"/>
            <a:ext cx="2148840" cy="219456"/>
          </a:xfrm>
          <a:prstGeom prst="rect">
            <a:avLst/>
          </a:prstGeom>
          <a:noFill/>
        </p:spPr>
        <p:txBody>
          <a:bodyPr wrap="square" anchor="t" lIns="36576" rIns="36576" tIns="36576" bIns="36576">
            <a:spAutoFit/>
          </a:bodyPr>
          <a:lstStyle/>
          <a:p>
            <a:pPr algn="l">
              <a:spcAft>
                <a:spcPts val="0"/>
              </a:spcAft>
            </a:pPr>
            <a:r>
              <a:rPr sz="950" b="0">
                <a:solidFill>
                  <a:srgbClr val="475569"/>
                </a:solidFill>
                <a:latin typeface="Arial"/>
              </a:rPr>
              <a:t>in the lab Prompts.pdf</a:t>
            </a:r>
          </a:p>
        </p:txBody>
      </p:sp>
      <p:sp>
        <p:nvSpPr>
          <p:cNvPr id="26" name="TextBox 2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7" name="TextBox 2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8" name="TextBox 27"/>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OpenAI Python SDK</a:t>
            </a:r>
          </a:p>
        </p:txBody>
      </p:sp>
      <p:sp>
        <p:nvSpPr>
          <p:cNvPr id="29" name="TextBox 2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106</a:t>
            </a:r>
          </a:p>
        </p:txBody>
      </p:sp>
    </p:spTree>
  </p:cSld>
  <p:transition spd="fast">
    <p:fade/>
  </p:transition>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06 · MECHANISM</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How Filter Responses and Implement PATCH works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665351"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5351"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1</a:t>
            </a:r>
          </a:p>
        </p:txBody>
      </p:sp>
      <p:sp>
        <p:nvSpPr>
          <p:cNvPr id="10" name="TextBox 9"/>
          <p:cNvSpPr txBox="1"/>
          <p:nvPr/>
        </p:nvSpPr>
        <p:spPr>
          <a:xfrm>
            <a:off x="859536"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Input contract</a:t>
            </a:r>
          </a:p>
        </p:txBody>
      </p:sp>
      <p:sp>
        <p:nvSpPr>
          <p:cNvPr id="11" name="TextBox 10"/>
          <p:cNvSpPr txBox="1"/>
          <p:nvPr/>
        </p:nvSpPr>
        <p:spPr>
          <a:xfrm>
            <a:off x="886968"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Use response models and exclude_unset semantics for safe partial updates.</a:t>
            </a:r>
          </a:p>
        </p:txBody>
      </p:sp>
      <p:sp>
        <p:nvSpPr>
          <p:cNvPr id="12" name="Rounded Rectangle 11"/>
          <p:cNvSpPr/>
          <p:nvPr/>
        </p:nvSpPr>
        <p:spPr>
          <a:xfrm>
            <a:off x="3477006"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92549"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92549"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2</a:t>
            </a:r>
          </a:p>
        </p:txBody>
      </p:sp>
      <p:sp>
        <p:nvSpPr>
          <p:cNvPr id="15" name="TextBox 14"/>
          <p:cNvSpPr txBox="1"/>
          <p:nvPr/>
        </p:nvSpPr>
        <p:spPr>
          <a:xfrm>
            <a:off x="3586734"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Boundary validation</a:t>
            </a:r>
          </a:p>
        </p:txBody>
      </p:sp>
      <p:sp>
        <p:nvSpPr>
          <p:cNvPr id="16" name="TextBox 15"/>
          <p:cNvSpPr txBox="1"/>
          <p:nvPr/>
        </p:nvSpPr>
        <p:spPr>
          <a:xfrm>
            <a:off x="3614166"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Reject invalid or unauthorised input</a:t>
            </a:r>
          </a:p>
        </p:txBody>
      </p:sp>
      <p:sp>
        <p:nvSpPr>
          <p:cNvPr id="17" name="Rounded Rectangle 16"/>
          <p:cNvSpPr/>
          <p:nvPr/>
        </p:nvSpPr>
        <p:spPr>
          <a:xfrm>
            <a:off x="6204204"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119747"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9747"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3</a:t>
            </a:r>
          </a:p>
        </p:txBody>
      </p:sp>
      <p:sp>
        <p:nvSpPr>
          <p:cNvPr id="20" name="TextBox 19"/>
          <p:cNvSpPr txBox="1"/>
          <p:nvPr/>
        </p:nvSpPr>
        <p:spPr>
          <a:xfrm>
            <a:off x="6313932"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Business decision</a:t>
            </a:r>
          </a:p>
        </p:txBody>
      </p:sp>
      <p:sp>
        <p:nvSpPr>
          <p:cNvPr id="21" name="TextBox 20"/>
          <p:cNvSpPr txBox="1"/>
          <p:nvPr/>
        </p:nvSpPr>
        <p:spPr>
          <a:xfrm>
            <a:off x="6341364"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Apply one explicit rule</a:t>
            </a:r>
          </a:p>
        </p:txBody>
      </p:sp>
      <p:sp>
        <p:nvSpPr>
          <p:cNvPr id="22" name="Rounded Rectangle 21"/>
          <p:cNvSpPr/>
          <p:nvPr/>
        </p:nvSpPr>
        <p:spPr>
          <a:xfrm>
            <a:off x="8931402"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46945"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46945"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4</a:t>
            </a:r>
          </a:p>
        </p:txBody>
      </p:sp>
      <p:sp>
        <p:nvSpPr>
          <p:cNvPr id="25" name="TextBox 24"/>
          <p:cNvSpPr txBox="1"/>
          <p:nvPr/>
        </p:nvSpPr>
        <p:spPr>
          <a:xfrm>
            <a:off x="9041130"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State/evidence</a:t>
            </a:r>
          </a:p>
        </p:txBody>
      </p:sp>
      <p:sp>
        <p:nvSpPr>
          <p:cNvPr id="26" name="TextBox 25"/>
          <p:cNvSpPr txBox="1"/>
          <p:nvPr/>
        </p:nvSpPr>
        <p:spPr>
          <a:xfrm>
            <a:off x="9068562"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PATCH changes only supplied fields and no internal database field appears in the JSON response.</a:t>
            </a:r>
          </a:p>
        </p:txBody>
      </p:sp>
      <p:sp>
        <p:nvSpPr>
          <p:cNvPr id="27" name="TextBox 26"/>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8" name="TextBox 27"/>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9" name="TextBox 2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107</a:t>
            </a:r>
          </a:p>
        </p:txBody>
      </p:sp>
    </p:spTree>
  </p:cSld>
  <p:transition spd="fast">
    <p:fade/>
  </p:transition>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06 ·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PATCH /api/v1/products/{id} with stable ProductRead output</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01952"/>
            <a:ext cx="6812280" cy="3611880"/>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194560"/>
            <a:ext cx="6144768" cy="3063240"/>
          </a:xfrm>
          <a:prstGeom prst="rect">
            <a:avLst/>
          </a:prstGeom>
          <a:noFill/>
        </p:spPr>
        <p:txBody>
          <a:bodyPr wrap="square" anchor="t" lIns="36576" rIns="36576" tIns="36576" bIns="36576">
            <a:spAutoFit/>
          </a:bodyPr>
          <a:lstStyle/>
          <a:p>
            <a:pPr algn="l">
              <a:spcAft>
                <a:spcPts val="0"/>
              </a:spcAft>
            </a:pPr>
            <a:r>
              <a:rPr sz="1250" b="0">
                <a:solidFill>
                  <a:srgbClr val="A7F3D0"/>
                </a:solidFill>
                <a:latin typeface="Consolas"/>
              </a:rPr>
              <a:t>REQUEST
  lab: 06
  objective: Use response models and exclude_unset semantics for
             safe partial updates.
EXPECTED EVIDENCE
  artifact: PATCH /api/v1/products/{id} with stable ProductRead output
  codes: A4, A8
  status: verified</a:t>
            </a:r>
          </a:p>
        </p:txBody>
      </p:sp>
      <p:sp>
        <p:nvSpPr>
          <p:cNvPr id="9" name="Rounded Rectangle 8"/>
          <p:cNvSpPr/>
          <p:nvPr/>
        </p:nvSpPr>
        <p:spPr>
          <a:xfrm>
            <a:off x="7882127" y="1901952"/>
            <a:ext cx="3493008" cy="3611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2212848"/>
            <a:ext cx="2880360" cy="310896"/>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ASSESSMENT BRIDGE</a:t>
            </a:r>
          </a:p>
        </p:txBody>
      </p:sp>
      <p:sp>
        <p:nvSpPr>
          <p:cNvPr id="11" name="TextBox 10"/>
          <p:cNvSpPr txBox="1"/>
          <p:nvPr/>
        </p:nvSpPr>
        <p:spPr>
          <a:xfrm>
            <a:off x="8193024" y="2761488"/>
            <a:ext cx="2834640" cy="1051560"/>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Ability codes
A4, A8</a:t>
            </a:r>
          </a:p>
        </p:txBody>
      </p:sp>
      <p:sp>
        <p:nvSpPr>
          <p:cNvPr id="12" name="TextBox 11"/>
          <p:cNvSpPr txBox="1"/>
          <p:nvPr/>
        </p:nvSpPr>
        <p:spPr>
          <a:xfrm>
            <a:off x="8193024" y="4160520"/>
            <a:ext cx="2788920" cy="685800"/>
          </a:xfrm>
          <a:prstGeom prst="rect">
            <a:avLst/>
          </a:prstGeom>
          <a:noFill/>
        </p:spPr>
        <p:txBody>
          <a:bodyPr wrap="square" anchor="t" lIns="36576" rIns="36576" tIns="36576" bIns="36576">
            <a:spAutoFit/>
          </a:bodyPr>
          <a:lstStyle/>
          <a:p>
            <a:pPr algn="l">
              <a:spcAft>
                <a:spcPts val="0"/>
              </a:spcAft>
            </a:pPr>
            <a:r>
              <a:rPr sz="1100" b="0">
                <a:solidFill>
                  <a:srgbClr val="475569"/>
                </a:solidFill>
                <a:latin typeface="Arial"/>
              </a:rPr>
              <a:t>Capture a screenshot, terminal output or test result that proves the acceptance criterion.</a:t>
            </a:r>
          </a:p>
        </p:txBody>
      </p:sp>
      <p:sp>
        <p:nvSpPr>
          <p:cNvPr id="13" name="TextBox 1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4" name="TextBox 1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5" name="TextBox 14"/>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108</a:t>
            </a:r>
          </a:p>
        </p:txBody>
      </p:sp>
    </p:spTree>
  </p:cSld>
  <p:transition spd="fast">
    <p:fade/>
  </p:transition>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06 · VERIFY</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Acceptance and diagnosis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74519"/>
            <a:ext cx="5166360" cy="3611880"/>
          </a:xfrm>
          <a:prstGeom prst="roundRect">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240280"/>
            <a:ext cx="4526280" cy="310896"/>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PASS WHEN</a:t>
            </a:r>
          </a:p>
        </p:txBody>
      </p:sp>
      <p:sp>
        <p:nvSpPr>
          <p:cNvPr id="9" name="TextBox 8"/>
          <p:cNvSpPr txBox="1"/>
          <p:nvPr/>
        </p:nvSpPr>
        <p:spPr>
          <a:xfrm>
            <a:off x="1078992" y="2798064"/>
            <a:ext cx="4498848" cy="1600200"/>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PATCH changes only supplied fields and no internal database field appears in the JSON response.</a:t>
            </a:r>
          </a:p>
        </p:txBody>
      </p:sp>
      <p:sp>
        <p:nvSpPr>
          <p:cNvPr id="10" name="Rounded Rectangle 9"/>
          <p:cNvSpPr/>
          <p:nvPr/>
        </p:nvSpPr>
        <p:spPr>
          <a:xfrm>
            <a:off x="6217920" y="1874519"/>
            <a:ext cx="5148072" cy="3611880"/>
          </a:xfrm>
          <a:prstGeom prst="roundRect">
            <a:avLst/>
          </a:prstGeom>
          <a:solidFill>
            <a:srgbClr val="FEF2F2"/>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56248" y="2240280"/>
            <a:ext cx="4480560" cy="310896"/>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DIAGNOSE</a:t>
            </a:r>
          </a:p>
        </p:txBody>
      </p:sp>
      <p:sp>
        <p:nvSpPr>
          <p:cNvPr id="12" name="TextBox 11"/>
          <p:cNvSpPr txBox="1"/>
          <p:nvPr/>
        </p:nvSpPr>
        <p:spPr>
          <a:xfrm>
            <a:off x="6556248" y="277063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1. Inspect HTTP status and response body</a:t>
            </a:r>
          </a:p>
        </p:txBody>
      </p:sp>
      <p:sp>
        <p:nvSpPr>
          <p:cNvPr id="13" name="TextBox 12"/>
          <p:cNvSpPr txBox="1"/>
          <p:nvPr/>
        </p:nvSpPr>
        <p:spPr>
          <a:xfrm>
            <a:off x="6556248" y="327355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2. Check request fields and headers</a:t>
            </a:r>
          </a:p>
        </p:txBody>
      </p:sp>
      <p:sp>
        <p:nvSpPr>
          <p:cNvPr id="14" name="TextBox 13"/>
          <p:cNvSpPr txBox="1"/>
          <p:nvPr/>
        </p:nvSpPr>
        <p:spPr>
          <a:xfrm>
            <a:off x="6556248" y="377647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3. Follow request ID into logs</a:t>
            </a:r>
          </a:p>
        </p:txBody>
      </p:sp>
      <p:sp>
        <p:nvSpPr>
          <p:cNvPr id="15" name="TextBox 14"/>
          <p:cNvSpPr txBox="1"/>
          <p:nvPr/>
        </p:nvSpPr>
        <p:spPr>
          <a:xfrm>
            <a:off x="6556248" y="427939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4. Re-run the smallest failing test</a:t>
            </a:r>
          </a:p>
        </p:txBody>
      </p:sp>
      <p:sp>
        <p:nvSpPr>
          <p:cNvPr id="16" name="TextBox 1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7" name="TextBox 1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8" name="TextBox 17"/>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109</a:t>
            </a:r>
          </a:p>
        </p:txBody>
      </p:sp>
    </p:spTree>
  </p:cSld>
  <p:transition spd="fast">
    <p:fade/>
  </p:transition>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LAB 06 · CONTRACT REVIEW</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Prompt output must preserve the API boundary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02352" cy="3730752"/>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176272"/>
            <a:ext cx="4434840" cy="420624"/>
          </a:xfrm>
          <a:prstGeom prst="rect">
            <a:avLst/>
          </a:prstGeom>
          <a:noFill/>
        </p:spPr>
        <p:txBody>
          <a:bodyPr wrap="square" anchor="t" lIns="36576" rIns="36576" tIns="36576" bIns="36576">
            <a:spAutoFit/>
          </a:bodyPr>
          <a:lstStyle/>
          <a:p>
            <a:pPr algn="l">
              <a:spcAft>
                <a:spcPts val="0"/>
              </a:spcAft>
            </a:pPr>
            <a:r>
              <a:rPr sz="1000" b="1">
                <a:solidFill>
                  <a:srgbClr val="D1FAE5"/>
                </a:solidFill>
                <a:latin typeface="Arial"/>
              </a:rPr>
              <a:t>TARGET FILES</a:t>
            </a:r>
          </a:p>
        </p:txBody>
      </p:sp>
      <p:sp>
        <p:nvSpPr>
          <p:cNvPr id="9" name="TextBox 8"/>
          <p:cNvSpPr txBox="1"/>
          <p:nvPr/>
        </p:nvSpPr>
        <p:spPr>
          <a:xfrm>
            <a:off x="1078992" y="2743200"/>
            <a:ext cx="4434840" cy="420624"/>
          </a:xfrm>
          <a:prstGeom prst="rect">
            <a:avLst/>
          </a:prstGeom>
          <a:noFill/>
        </p:spPr>
        <p:txBody>
          <a:bodyPr wrap="square" anchor="t" lIns="36576" rIns="36576" tIns="36576" bIns="36576">
            <a:spAutoFit/>
          </a:bodyPr>
          <a:lstStyle/>
          <a:p>
            <a:pPr algn="l">
              <a:spcAft>
                <a:spcPts val="0"/>
              </a:spcAft>
            </a:pPr>
            <a:r>
              <a:rPr sz="1100" b="0">
                <a:solidFill>
                  <a:srgbClr val="D1FAE5"/>
                </a:solidFill>
                <a:latin typeface="Consolas"/>
              </a:rPr>
              <a:t>app/main.py</a:t>
            </a:r>
          </a:p>
        </p:txBody>
      </p:sp>
      <p:sp>
        <p:nvSpPr>
          <p:cNvPr id="10" name="TextBox 9"/>
          <p:cNvSpPr txBox="1"/>
          <p:nvPr/>
        </p:nvSpPr>
        <p:spPr>
          <a:xfrm>
            <a:off x="1078992" y="3310128"/>
            <a:ext cx="4434840" cy="420624"/>
          </a:xfrm>
          <a:prstGeom prst="rect">
            <a:avLst/>
          </a:prstGeom>
          <a:noFill/>
        </p:spPr>
        <p:txBody>
          <a:bodyPr wrap="square" anchor="t" lIns="36576" rIns="36576" tIns="36576" bIns="36576">
            <a:spAutoFit/>
          </a:bodyPr>
          <a:lstStyle/>
          <a:p>
            <a:pPr algn="l">
              <a:spcAft>
                <a:spcPts val="0"/>
              </a:spcAft>
            </a:pPr>
            <a:r>
              <a:rPr sz="1100" b="0">
                <a:solidFill>
                  <a:srgbClr val="D1FAE5"/>
                </a:solidFill>
                <a:latin typeface="Consolas"/>
              </a:rPr>
              <a:t>app/schemas.py</a:t>
            </a:r>
          </a:p>
        </p:txBody>
      </p:sp>
      <p:sp>
        <p:nvSpPr>
          <p:cNvPr id="11" name="TextBox 10"/>
          <p:cNvSpPr txBox="1"/>
          <p:nvPr/>
        </p:nvSpPr>
        <p:spPr>
          <a:xfrm>
            <a:off x="1078992" y="3877056"/>
            <a:ext cx="4434840" cy="420624"/>
          </a:xfrm>
          <a:prstGeom prst="rect">
            <a:avLst/>
          </a:prstGeom>
          <a:noFill/>
        </p:spPr>
        <p:txBody>
          <a:bodyPr wrap="square" anchor="t" lIns="36576" rIns="36576" tIns="36576" bIns="36576">
            <a:spAutoFit/>
          </a:bodyPr>
          <a:lstStyle/>
          <a:p>
            <a:pPr algn="l">
              <a:spcAft>
                <a:spcPts val="0"/>
              </a:spcAft>
            </a:pPr>
            <a:r>
              <a:rPr sz="1100" b="0">
                <a:solidFill>
                  <a:srgbClr val="D1FAE5"/>
                </a:solidFill>
                <a:latin typeface="Consolas"/>
              </a:rPr>
              <a:t>tests/test_patch.py</a:t>
            </a:r>
          </a:p>
        </p:txBody>
      </p:sp>
      <p:sp>
        <p:nvSpPr>
          <p:cNvPr id="12" name="Rounded Rectangle 11"/>
          <p:cNvSpPr/>
          <p:nvPr/>
        </p:nvSpPr>
        <p:spPr>
          <a:xfrm>
            <a:off x="6144768" y="1847088"/>
            <a:ext cx="5230368" cy="373075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2176272"/>
            <a:ext cx="4526280" cy="237744"/>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ACCEPTANCE</a:t>
            </a:r>
          </a:p>
        </p:txBody>
      </p:sp>
      <p:sp>
        <p:nvSpPr>
          <p:cNvPr id="14" name="TextBox 13"/>
          <p:cNvSpPr txBox="1"/>
          <p:nvPr/>
        </p:nvSpPr>
        <p:spPr>
          <a:xfrm>
            <a:off x="6473952" y="2578608"/>
            <a:ext cx="4526280" cy="1417320"/>
          </a:xfrm>
          <a:prstGeom prst="rect">
            <a:avLst/>
          </a:prstGeom>
          <a:noFill/>
        </p:spPr>
        <p:txBody>
          <a:bodyPr wrap="square" anchor="t" lIns="36576" rIns="36576" tIns="36576" bIns="36576">
            <a:spAutoFit/>
          </a:bodyPr>
          <a:lstStyle/>
          <a:p>
            <a:pPr algn="l">
              <a:spcAft>
                <a:spcPts val="0"/>
              </a:spcAft>
            </a:pPr>
            <a:r>
              <a:rPr sz="1500" b="1">
                <a:solidFill>
                  <a:srgbClr val="172433"/>
                </a:solidFill>
                <a:latin typeface="Arial"/>
              </a:rPr>
              <a:t>PATCH changes only supplied fields and no internal database field appears in the JSON response.</a:t>
            </a:r>
          </a:p>
        </p:txBody>
      </p:sp>
      <p:sp>
        <p:nvSpPr>
          <p:cNvPr id="15" name="TextBox 14"/>
          <p:cNvSpPr txBox="1"/>
          <p:nvPr/>
        </p:nvSpPr>
        <p:spPr>
          <a:xfrm>
            <a:off x="6473952" y="4279392"/>
            <a:ext cx="4526280" cy="237744"/>
          </a:xfrm>
          <a:prstGeom prst="rect">
            <a:avLst/>
          </a:prstGeom>
          <a:noFill/>
        </p:spPr>
        <p:txBody>
          <a:bodyPr wrap="square" anchor="t" lIns="36576" rIns="36576" tIns="36576" bIns="36576">
            <a:spAutoFit/>
          </a:bodyPr>
          <a:lstStyle/>
          <a:p>
            <a:pPr algn="l">
              <a:spcAft>
                <a:spcPts val="0"/>
              </a:spcAft>
            </a:pPr>
            <a:r>
              <a:rPr sz="1000" b="1">
                <a:solidFill>
                  <a:srgbClr val="7C3AED"/>
                </a:solidFill>
                <a:latin typeface="Arial"/>
              </a:rPr>
              <a:t>ABILITY TRACE</a:t>
            </a:r>
          </a:p>
        </p:txBody>
      </p:sp>
      <p:sp>
        <p:nvSpPr>
          <p:cNvPr id="16" name="TextBox 15"/>
          <p:cNvSpPr txBox="1"/>
          <p:nvPr/>
        </p:nvSpPr>
        <p:spPr>
          <a:xfrm>
            <a:off x="6473952" y="4645152"/>
            <a:ext cx="4526280" cy="438912"/>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A4, A8</a:t>
            </a:r>
          </a:p>
        </p:txBody>
      </p:sp>
      <p:sp>
        <p:nvSpPr>
          <p:cNvPr id="17" name="TextBox 16"/>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8" name="TextBox 17"/>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9" name="TextBox 18"/>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OpenAPI contract + lab prompt</a:t>
            </a:r>
          </a:p>
        </p:txBody>
      </p:sp>
      <p:sp>
        <p:nvSpPr>
          <p:cNvPr id="20" name="TextBox 19"/>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110</a:t>
            </a:r>
          </a:p>
        </p:txBody>
      </p:sp>
    </p:spTree>
  </p:cSld>
  <p:transition spd="fast">
    <p:fade/>
  </p:transition>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hero-v1.png"/>
          <p:cNvPicPr>
            <a:picLocks noChangeAspect="1"/>
          </p:cNvPicPr>
          <p:nvPr/>
        </p:nvPicPr>
        <p:blipFill>
          <a:blip r:embed="rId2"/>
          <a:stretch>
            <a:fillRect/>
          </a:stretch>
        </p:blipFill>
        <p:spPr>
          <a:xfrm>
            <a:off x="6812280" y="0"/>
            <a:ext cx="5376672" cy="6858000"/>
          </a:xfrm>
          <a:prstGeom prst="rect">
            <a:avLst/>
          </a:prstGeom>
        </p:spPr>
      </p:pic>
      <p:sp>
        <p:nvSpPr>
          <p:cNvPr id="4" name="Rectangle 3"/>
          <p:cNvSpPr/>
          <p:nvPr/>
        </p:nvSpPr>
        <p:spPr>
          <a:xfrm>
            <a:off x="6812280" y="0"/>
            <a:ext cx="5376672"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024128"/>
            <a:ext cx="5212080" cy="274320"/>
          </a:xfrm>
          <a:prstGeom prst="rect">
            <a:avLst/>
          </a:prstGeom>
          <a:noFill/>
        </p:spPr>
        <p:txBody>
          <a:bodyPr wrap="square" anchor="t" lIns="36576" rIns="36576" tIns="36576" bIns="36576">
            <a:spAutoFit/>
          </a:bodyPr>
          <a:lstStyle/>
          <a:p>
            <a:pPr algn="l">
              <a:spcAft>
                <a:spcPts val="0"/>
              </a:spcAft>
            </a:pPr>
            <a:r>
              <a:rPr sz="1200" b="1">
                <a:solidFill>
                  <a:srgbClr val="06B6D4"/>
                </a:solidFill>
                <a:latin typeface="Arial"/>
              </a:rPr>
              <a:t>TOPIC 04</a:t>
            </a:r>
          </a:p>
        </p:txBody>
      </p:sp>
      <p:sp>
        <p:nvSpPr>
          <p:cNvPr id="6" name="TextBox 5"/>
          <p:cNvSpPr txBox="1"/>
          <p:nvPr/>
        </p:nvSpPr>
        <p:spPr>
          <a:xfrm>
            <a:off x="777240" y="1481328"/>
            <a:ext cx="5943600" cy="1874519"/>
          </a:xfrm>
          <a:prstGeom prst="rect">
            <a:avLst/>
          </a:prstGeom>
          <a:noFill/>
        </p:spPr>
        <p:txBody>
          <a:bodyPr wrap="square" anchor="t" lIns="36576" rIns="36576" tIns="36576" bIns="36576">
            <a:spAutoFit/>
          </a:bodyPr>
          <a:lstStyle/>
          <a:p>
            <a:pPr algn="l">
              <a:spcAft>
                <a:spcPts val="0"/>
              </a:spcAft>
            </a:pPr>
            <a:r>
              <a:rPr sz="3400" b="1">
                <a:solidFill>
                  <a:srgbClr val="FFFFFF"/>
                </a:solidFill>
                <a:latin typeface="Arial"/>
              </a:rPr>
              <a:t>API Error Handling, Testing and Debugging</a:t>
            </a:r>
          </a:p>
        </p:txBody>
      </p:sp>
      <p:sp>
        <p:nvSpPr>
          <p:cNvPr id="7" name="TextBox 6"/>
          <p:cNvSpPr txBox="1"/>
          <p:nvPr/>
        </p:nvSpPr>
        <p:spPr>
          <a:xfrm>
            <a:off x="804672" y="3822191"/>
            <a:ext cx="5623560" cy="749808"/>
          </a:xfrm>
          <a:prstGeom prst="rect">
            <a:avLst/>
          </a:prstGeom>
          <a:noFill/>
        </p:spPr>
        <p:txBody>
          <a:bodyPr wrap="square" anchor="t" lIns="36576" rIns="36576" tIns="36576" bIns="36576">
            <a:spAutoFit/>
          </a:bodyPr>
          <a:lstStyle/>
          <a:p>
            <a:pPr algn="l">
              <a:spcAft>
                <a:spcPts val="0"/>
              </a:spcAft>
            </a:pPr>
            <a:r>
              <a:rPr sz="1600" b="0">
                <a:solidFill>
                  <a:srgbClr val="CBD5E1"/>
                </a:solidFill>
                <a:latin typeface="Arial"/>
              </a:rPr>
              <a:t>HTTPException · logs · TestClient · isolation · failure diagnosis</a:t>
            </a:r>
          </a:p>
        </p:txBody>
      </p:sp>
      <p:sp>
        <p:nvSpPr>
          <p:cNvPr id="8" name="TextBox 7"/>
          <p:cNvSpPr txBox="1"/>
          <p:nvPr/>
        </p:nvSpPr>
        <p:spPr>
          <a:xfrm>
            <a:off x="731520" y="5074920"/>
            <a:ext cx="2194560" cy="822960"/>
          </a:xfrm>
          <a:prstGeom prst="rect">
            <a:avLst/>
          </a:prstGeom>
          <a:noFill/>
        </p:spPr>
        <p:txBody>
          <a:bodyPr wrap="square" anchor="t" lIns="36576" rIns="36576" tIns="36576" bIns="36576">
            <a:spAutoFit/>
          </a:bodyPr>
          <a:lstStyle/>
          <a:p>
            <a:pPr algn="l">
              <a:spcAft>
                <a:spcPts val="0"/>
              </a:spcAft>
            </a:pPr>
            <a:r>
              <a:rPr sz="6400" b="1">
                <a:solidFill>
                  <a:srgbClr val="06B6D4"/>
                </a:solidFill>
                <a:latin typeface="Arial"/>
              </a:rPr>
              <a:t>04</a:t>
            </a:r>
          </a:p>
        </p:txBody>
      </p:sp>
      <p:sp>
        <p:nvSpPr>
          <p:cNvPr id="9" name="TextBox 8"/>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0" name="TextBox 9"/>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1" name="TextBox 10"/>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111</a:t>
            </a:r>
          </a:p>
        </p:txBody>
      </p:sp>
    </p:spTree>
  </p:cSld>
  <p:transition spd="med">
    <p:push/>
  </p:transition>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TOPIC 04 · MODEL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Errors are designed outcomes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Expected client failures use HTTPException; unexpected failures are logged and mapped without leaking internals.</a:t>
            </a:r>
          </a:p>
        </p:txBody>
      </p:sp>
      <p:sp>
        <p:nvSpPr>
          <p:cNvPr id="8" name="Rounded Rectangle 7"/>
          <p:cNvSpPr/>
          <p:nvPr/>
        </p:nvSpPr>
        <p:spPr>
          <a:xfrm>
            <a:off x="749808"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50976" y="2596896"/>
            <a:ext cx="502920" cy="50292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1</a:t>
            </a:r>
          </a:p>
        </p:txBody>
      </p:sp>
      <p:sp>
        <p:nvSpPr>
          <p:cNvPr id="11" name="TextBox 10"/>
          <p:cNvSpPr txBox="1"/>
          <p:nvPr/>
        </p:nvSpPr>
        <p:spPr>
          <a:xfrm>
            <a:off x="1682496"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404 missing</a:t>
            </a:r>
          </a:p>
        </p:txBody>
      </p:sp>
      <p:sp>
        <p:nvSpPr>
          <p:cNvPr id="12" name="Rounded Rectangle 11"/>
          <p:cNvSpPr/>
          <p:nvPr/>
        </p:nvSpPr>
        <p:spPr>
          <a:xfrm>
            <a:off x="6172200"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73368" y="2596896"/>
            <a:ext cx="502920" cy="502920"/>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2</a:t>
            </a:r>
          </a:p>
        </p:txBody>
      </p:sp>
      <p:sp>
        <p:nvSpPr>
          <p:cNvPr id="15" name="TextBox 14"/>
          <p:cNvSpPr txBox="1"/>
          <p:nvPr/>
        </p:nvSpPr>
        <p:spPr>
          <a:xfrm>
            <a:off x="7104888"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409 state conflict</a:t>
            </a:r>
          </a:p>
        </p:txBody>
      </p:sp>
      <p:sp>
        <p:nvSpPr>
          <p:cNvPr id="16" name="Rounded Rectangle 15"/>
          <p:cNvSpPr/>
          <p:nvPr/>
        </p:nvSpPr>
        <p:spPr>
          <a:xfrm>
            <a:off x="749808" y="3639311"/>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50976" y="3904487"/>
            <a:ext cx="502920" cy="50292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0976" y="4032503"/>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3</a:t>
            </a:r>
          </a:p>
        </p:txBody>
      </p:sp>
      <p:sp>
        <p:nvSpPr>
          <p:cNvPr id="19" name="TextBox 18"/>
          <p:cNvSpPr txBox="1"/>
          <p:nvPr/>
        </p:nvSpPr>
        <p:spPr>
          <a:xfrm>
            <a:off x="1682496" y="3840479"/>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422 validation</a:t>
            </a:r>
          </a:p>
        </p:txBody>
      </p:sp>
      <p:sp>
        <p:nvSpPr>
          <p:cNvPr id="20" name="Rounded Rectangle 19"/>
          <p:cNvSpPr/>
          <p:nvPr/>
        </p:nvSpPr>
        <p:spPr>
          <a:xfrm>
            <a:off x="6172200" y="3639311"/>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73368" y="3904487"/>
            <a:ext cx="502920" cy="50292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3368" y="4032503"/>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4</a:t>
            </a:r>
          </a:p>
        </p:txBody>
      </p:sp>
      <p:sp>
        <p:nvSpPr>
          <p:cNvPr id="23" name="TextBox 22"/>
          <p:cNvSpPr txBox="1"/>
          <p:nvPr/>
        </p:nvSpPr>
        <p:spPr>
          <a:xfrm>
            <a:off x="7104888" y="3840479"/>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500 unexpected</a:t>
            </a:r>
          </a:p>
        </p:txBody>
      </p:sp>
      <p:sp>
        <p:nvSpPr>
          <p:cNvPr id="24" name="Rounded Rectangle 23"/>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26" name="TextBox 25"/>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Failure taxonomy</a:t>
            </a:r>
          </a:p>
        </p:txBody>
      </p:sp>
      <p:sp>
        <p:nvSpPr>
          <p:cNvPr id="27" name="Rounded Rectangle 26"/>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29" name="TextBox 28"/>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Catching every Exception and returning 200 hides defects.</a:t>
            </a:r>
          </a:p>
        </p:txBody>
      </p:sp>
      <p:sp>
        <p:nvSpPr>
          <p:cNvPr id="30" name="Rounded Rectangle 29"/>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32" name="TextBox 31"/>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Each documented failure has a deterministic status and response body.</a:t>
            </a:r>
          </a:p>
        </p:txBody>
      </p:sp>
      <p:sp>
        <p:nvSpPr>
          <p:cNvPr id="33" name="TextBox 3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4" name="TextBox 3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5" name="TextBox 34"/>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Handling Errors</a:t>
            </a:r>
          </a:p>
        </p:txBody>
      </p:sp>
      <p:sp>
        <p:nvSpPr>
          <p:cNvPr id="36" name="TextBox 35"/>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112</a:t>
            </a:r>
          </a:p>
        </p:txBody>
      </p:sp>
    </p:spTree>
  </p:cSld>
  <p:transition spd="fast">
    <p:fade/>
  </p:transition>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TOPIC 04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Errors are designed outcomes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7C3AED"/>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404 missing</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7C3AED"/>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Expected client failures use HTTPException; unexpected failures are logged and mapped without leaking internals.</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Catching every Exception and returning 200 hides defects.</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Each documented failure has a deterministic status and response body.</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Failure taxonomy</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Handling Errors</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113</a:t>
            </a:r>
          </a:p>
        </p:txBody>
      </p:sp>
    </p:spTree>
  </p:cSld>
  <p:transition spd="fast">
    <p:fade/>
  </p:transition>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TOPIC 04 · CODE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Raise HTTPException at the decision point</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Stop processing when a resource or rule fails and return a meaningful detail.</a:t>
            </a:r>
          </a:p>
        </p:txBody>
      </p:sp>
      <p:sp>
        <p:nvSpPr>
          <p:cNvPr id="8" name="Rounded Rectangle 7"/>
          <p:cNvSpPr/>
          <p:nvPr/>
        </p:nvSpPr>
        <p:spPr>
          <a:xfrm>
            <a:off x="749808" y="2331720"/>
            <a:ext cx="6766560" cy="2697480"/>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2615184"/>
            <a:ext cx="6199632" cy="2057400"/>
          </a:xfrm>
          <a:prstGeom prst="rect">
            <a:avLst/>
          </a:prstGeom>
          <a:noFill/>
        </p:spPr>
        <p:txBody>
          <a:bodyPr wrap="square" anchor="t" lIns="36576" rIns="36576" tIns="36576" bIns="36576">
            <a:spAutoFit/>
          </a:bodyPr>
          <a:lstStyle/>
          <a:p>
            <a:pPr algn="l">
              <a:spcAft>
                <a:spcPts val="0"/>
              </a:spcAft>
            </a:pPr>
            <a:r>
              <a:rPr sz="1500" b="0">
                <a:solidFill>
                  <a:srgbClr val="A7F3D0"/>
                </a:solidFill>
                <a:latin typeface="Consolas"/>
              </a:rPr>
              <a:t>product = repo.get(product_id)
if product is None:
    raise HTTPException(404, "Product not found")</a:t>
            </a:r>
          </a:p>
        </p:txBody>
      </p:sp>
      <p:sp>
        <p:nvSpPr>
          <p:cNvPr id="10" name="Rounded Rectangle 9"/>
          <p:cNvSpPr/>
          <p:nvPr/>
        </p:nvSpPr>
        <p:spPr>
          <a:xfrm>
            <a:off x="7799831" y="2331720"/>
            <a:ext cx="3584448" cy="26974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65008" y="2624328"/>
            <a:ext cx="219456" cy="21945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30768" y="2551176"/>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lookup</a:t>
            </a:r>
          </a:p>
        </p:txBody>
      </p:sp>
      <p:sp>
        <p:nvSpPr>
          <p:cNvPr id="13" name="Rounded Rectangle 12"/>
          <p:cNvSpPr/>
          <p:nvPr/>
        </p:nvSpPr>
        <p:spPr>
          <a:xfrm>
            <a:off x="8065008" y="3136392"/>
            <a:ext cx="219456" cy="21945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30768" y="3063240"/>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decide</a:t>
            </a:r>
          </a:p>
        </p:txBody>
      </p:sp>
      <p:sp>
        <p:nvSpPr>
          <p:cNvPr id="15" name="Rounded Rectangle 14"/>
          <p:cNvSpPr/>
          <p:nvPr/>
        </p:nvSpPr>
        <p:spPr>
          <a:xfrm>
            <a:off x="8065008" y="3648456"/>
            <a:ext cx="219456" cy="21945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30768" y="3575304"/>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raise</a:t>
            </a:r>
          </a:p>
        </p:txBody>
      </p:sp>
      <p:sp>
        <p:nvSpPr>
          <p:cNvPr id="17" name="Rounded Rectangle 16"/>
          <p:cNvSpPr/>
          <p:nvPr/>
        </p:nvSpPr>
        <p:spPr>
          <a:xfrm>
            <a:off x="8065008" y="4160520"/>
            <a:ext cx="219456" cy="21945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30768" y="4087368"/>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framework serializes</a:t>
            </a:r>
          </a:p>
        </p:txBody>
      </p:sp>
      <p:sp>
        <p:nvSpPr>
          <p:cNvPr id="19" name="Rounded Rectangle 18"/>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21" name="TextBox 20"/>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404 response path</a:t>
            </a:r>
          </a:p>
        </p:txBody>
      </p:sp>
      <p:sp>
        <p:nvSpPr>
          <p:cNvPr id="22" name="Rounded Rectangle 21"/>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24" name="TextBox 23"/>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Returning None may later cause a confusing serialization or attribute error.</a:t>
            </a:r>
          </a:p>
        </p:txBody>
      </p:sp>
      <p:sp>
        <p:nvSpPr>
          <p:cNvPr id="25" name="Rounded Rectangle 24"/>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27" name="TextBox 26"/>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Missing ID returns 404 and performs no write.</a:t>
            </a:r>
          </a:p>
        </p:txBody>
      </p:sp>
      <p:sp>
        <p:nvSpPr>
          <p:cNvPr id="28" name="TextBox 27"/>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9" name="TextBox 28"/>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0" name="TextBox 29"/>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Handling Errors</a:t>
            </a:r>
          </a:p>
        </p:txBody>
      </p:sp>
      <p:sp>
        <p:nvSpPr>
          <p:cNvPr id="31" name="TextBox 30"/>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114</a:t>
            </a:r>
          </a:p>
        </p:txBody>
      </p:sp>
    </p:spTree>
  </p:cSld>
  <p:transition spd="fast">
    <p:fade/>
  </p:transition>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TOPIC 04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Raise HTTPException at the decision point</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7C3AED"/>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lookup</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7C3AED"/>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Stop processing when a resource or rule fails and return a meaningful detail.</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Returning None may later cause a confusing serialization or attribute error.</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Missing ID returns 404 and performs no write.</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404 response path</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Handling Errors</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115</a:t>
            </a:r>
          </a:p>
        </p:txBody>
      </p:sp>
    </p:spTree>
  </p:cSld>
  <p:transition spd="fast">
    <p:fade/>
  </p:transition>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TOPIC 04 · FLOW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Custom handlers standardise error shape</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An exception handler converts different internal failures into a consistent public envelope.</a:t>
            </a:r>
          </a:p>
        </p:txBody>
      </p:sp>
      <p:sp>
        <p:nvSpPr>
          <p:cNvPr id="8" name="Rounded Rectangle 7"/>
          <p:cNvSpPr/>
          <p:nvPr/>
        </p:nvSpPr>
        <p:spPr>
          <a:xfrm>
            <a:off x="749808"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498701" y="2724912"/>
            <a:ext cx="512064" cy="51206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98701"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1</a:t>
            </a:r>
          </a:p>
        </p:txBody>
      </p:sp>
      <p:sp>
        <p:nvSpPr>
          <p:cNvPr id="11" name="TextBox 10"/>
          <p:cNvSpPr txBox="1"/>
          <p:nvPr/>
        </p:nvSpPr>
        <p:spPr>
          <a:xfrm>
            <a:off x="822960"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exception</a:t>
            </a:r>
          </a:p>
        </p:txBody>
      </p:sp>
      <p:cxnSp>
        <p:nvCxnSpPr>
          <p:cNvPr id="12" name="Connector 11"/>
          <p:cNvCxnSpPr/>
          <p:nvPr/>
        </p:nvCxnSpPr>
        <p:spPr>
          <a:xfrm>
            <a:off x="2759659" y="3520440"/>
            <a:ext cx="146304" cy="0"/>
          </a:xfrm>
          <a:prstGeom prst="line">
            <a:avLst/>
          </a:prstGeom>
          <a:ln>
            <a:solidFill>
              <a:srgbClr val="7C3AED"/>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05963"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654856" y="2724912"/>
            <a:ext cx="512064" cy="51206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4856"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2</a:t>
            </a:r>
          </a:p>
        </p:txBody>
      </p:sp>
      <p:sp>
        <p:nvSpPr>
          <p:cNvPr id="16" name="TextBox 15"/>
          <p:cNvSpPr txBox="1"/>
          <p:nvPr/>
        </p:nvSpPr>
        <p:spPr>
          <a:xfrm>
            <a:off x="2979115"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handler</a:t>
            </a:r>
          </a:p>
        </p:txBody>
      </p:sp>
      <p:cxnSp>
        <p:nvCxnSpPr>
          <p:cNvPr id="17" name="Connector 16"/>
          <p:cNvCxnSpPr/>
          <p:nvPr/>
        </p:nvCxnSpPr>
        <p:spPr>
          <a:xfrm>
            <a:off x="4915814" y="3520440"/>
            <a:ext cx="146304" cy="0"/>
          </a:xfrm>
          <a:prstGeom prst="line">
            <a:avLst/>
          </a:prstGeom>
          <a:ln>
            <a:solidFill>
              <a:srgbClr val="7C3AED"/>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062118"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811012" y="2724912"/>
            <a:ext cx="512064" cy="51206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11012"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3</a:t>
            </a:r>
          </a:p>
        </p:txBody>
      </p:sp>
      <p:sp>
        <p:nvSpPr>
          <p:cNvPr id="21" name="TextBox 20"/>
          <p:cNvSpPr txBox="1"/>
          <p:nvPr/>
        </p:nvSpPr>
        <p:spPr>
          <a:xfrm>
            <a:off x="5135270"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request_id</a:t>
            </a:r>
          </a:p>
        </p:txBody>
      </p:sp>
      <p:cxnSp>
        <p:nvCxnSpPr>
          <p:cNvPr id="22" name="Connector 21"/>
          <p:cNvCxnSpPr/>
          <p:nvPr/>
        </p:nvCxnSpPr>
        <p:spPr>
          <a:xfrm>
            <a:off x="7071969" y="3520440"/>
            <a:ext cx="146304" cy="0"/>
          </a:xfrm>
          <a:prstGeom prst="line">
            <a:avLst/>
          </a:prstGeom>
          <a:ln>
            <a:solidFill>
              <a:srgbClr val="7C3AED"/>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218273"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967167" y="2724912"/>
            <a:ext cx="512064" cy="51206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67167"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4</a:t>
            </a:r>
          </a:p>
        </p:txBody>
      </p:sp>
      <p:sp>
        <p:nvSpPr>
          <p:cNvPr id="26" name="TextBox 25"/>
          <p:cNvSpPr txBox="1"/>
          <p:nvPr/>
        </p:nvSpPr>
        <p:spPr>
          <a:xfrm>
            <a:off x="7291425"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public code</a:t>
            </a:r>
          </a:p>
        </p:txBody>
      </p:sp>
      <p:cxnSp>
        <p:nvCxnSpPr>
          <p:cNvPr id="27" name="Connector 26"/>
          <p:cNvCxnSpPr/>
          <p:nvPr/>
        </p:nvCxnSpPr>
        <p:spPr>
          <a:xfrm>
            <a:off x="9228124" y="3520440"/>
            <a:ext cx="146304" cy="0"/>
          </a:xfrm>
          <a:prstGeom prst="line">
            <a:avLst/>
          </a:prstGeom>
          <a:ln>
            <a:solidFill>
              <a:srgbClr val="7C3AED"/>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74428"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0123322" y="2724912"/>
            <a:ext cx="512064" cy="51206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23322"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5</a:t>
            </a:r>
          </a:p>
        </p:txBody>
      </p:sp>
      <p:sp>
        <p:nvSpPr>
          <p:cNvPr id="31" name="TextBox 30"/>
          <p:cNvSpPr txBox="1"/>
          <p:nvPr/>
        </p:nvSpPr>
        <p:spPr>
          <a:xfrm>
            <a:off x="9447580"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log full detail</a:t>
            </a:r>
          </a:p>
        </p:txBody>
      </p:sp>
      <p:sp>
        <p:nvSpPr>
          <p:cNvPr id="32" name="Rounded Rectangle 31"/>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34" name="TextBox 33"/>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{error:{code,message,request_id}}</a:t>
            </a:r>
          </a:p>
        </p:txBody>
      </p:sp>
      <p:sp>
        <p:nvSpPr>
          <p:cNvPr id="35" name="Rounded Rectangle 34"/>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37" name="TextBox 36"/>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Leaking stack traces exposes file paths and implementation details.</a:t>
            </a:r>
          </a:p>
        </p:txBody>
      </p:sp>
      <p:sp>
        <p:nvSpPr>
          <p:cNvPr id="38" name="Rounded Rectangle 37"/>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40" name="TextBox 39"/>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Clients parse one stable error envelope while logs retain diagnostic context.</a:t>
            </a:r>
          </a:p>
        </p:txBody>
      </p:sp>
      <p:sp>
        <p:nvSpPr>
          <p:cNvPr id="41" name="TextBox 40"/>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42" name="TextBox 41"/>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43" name="TextBox 42"/>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Handling Errors</a:t>
            </a:r>
          </a:p>
        </p:txBody>
      </p:sp>
      <p:sp>
        <p:nvSpPr>
          <p:cNvPr id="44" name="TextBox 43"/>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116</a:t>
            </a:r>
          </a:p>
        </p:txBody>
      </p:sp>
    </p:spTree>
  </p:cSld>
  <p:transition spd="fast">
    <p:fade/>
  </p:transition>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TOPIC 04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Custom handlers standardise error shape</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7C3AED"/>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exception</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7C3AED"/>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An exception handler converts different internal failures into a consistent public envelope.</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Leaking stack traces exposes file paths and implementation details.</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Clients parse one stable error envelope while logs retain diagnostic context.</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{error:{code,message,request_id}}</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Handling Errors</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117</a:t>
            </a:r>
          </a:p>
        </p:txBody>
      </p:sp>
    </p:spTree>
  </p:cSld>
  <p:transition spd="fast">
    <p:fade/>
  </p:transition>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TOPIC 04 · PROCESS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Tests follow Arrange–Act–Assert</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Arrange state, perform one HTTP interaction, then assert transport and business evidence.</a:t>
            </a:r>
          </a:p>
        </p:txBody>
      </p:sp>
      <p:sp>
        <p:nvSpPr>
          <p:cNvPr id="8" name="Rounded Rectangle 7"/>
          <p:cNvSpPr/>
          <p:nvPr/>
        </p:nvSpPr>
        <p:spPr>
          <a:xfrm>
            <a:off x="749808"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498701" y="2724912"/>
            <a:ext cx="512064" cy="51206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98701"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1</a:t>
            </a:r>
          </a:p>
        </p:txBody>
      </p:sp>
      <p:sp>
        <p:nvSpPr>
          <p:cNvPr id="11" name="TextBox 10"/>
          <p:cNvSpPr txBox="1"/>
          <p:nvPr/>
        </p:nvSpPr>
        <p:spPr>
          <a:xfrm>
            <a:off x="822960"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Arrange test DB</a:t>
            </a:r>
          </a:p>
        </p:txBody>
      </p:sp>
      <p:cxnSp>
        <p:nvCxnSpPr>
          <p:cNvPr id="12" name="Connector 11"/>
          <p:cNvCxnSpPr/>
          <p:nvPr/>
        </p:nvCxnSpPr>
        <p:spPr>
          <a:xfrm>
            <a:off x="2759659" y="3520440"/>
            <a:ext cx="146304" cy="0"/>
          </a:xfrm>
          <a:prstGeom prst="line">
            <a:avLst/>
          </a:prstGeom>
          <a:ln>
            <a:solidFill>
              <a:srgbClr val="7C3AED"/>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05963"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654856" y="2724912"/>
            <a:ext cx="512064" cy="51206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4856"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2</a:t>
            </a:r>
          </a:p>
        </p:txBody>
      </p:sp>
      <p:sp>
        <p:nvSpPr>
          <p:cNvPr id="16" name="TextBox 15"/>
          <p:cNvSpPr txBox="1"/>
          <p:nvPr/>
        </p:nvSpPr>
        <p:spPr>
          <a:xfrm>
            <a:off x="2979115"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Act with TestClient</a:t>
            </a:r>
          </a:p>
        </p:txBody>
      </p:sp>
      <p:cxnSp>
        <p:nvCxnSpPr>
          <p:cNvPr id="17" name="Connector 16"/>
          <p:cNvCxnSpPr/>
          <p:nvPr/>
        </p:nvCxnSpPr>
        <p:spPr>
          <a:xfrm>
            <a:off x="4915814" y="3520440"/>
            <a:ext cx="146304" cy="0"/>
          </a:xfrm>
          <a:prstGeom prst="line">
            <a:avLst/>
          </a:prstGeom>
          <a:ln>
            <a:solidFill>
              <a:srgbClr val="7C3AED"/>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062118"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811012" y="2724912"/>
            <a:ext cx="512064" cy="51206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11012"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3</a:t>
            </a:r>
          </a:p>
        </p:txBody>
      </p:sp>
      <p:sp>
        <p:nvSpPr>
          <p:cNvPr id="21" name="TextBox 20"/>
          <p:cNvSpPr txBox="1"/>
          <p:nvPr/>
        </p:nvSpPr>
        <p:spPr>
          <a:xfrm>
            <a:off x="5135270"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Assert status</a:t>
            </a:r>
          </a:p>
        </p:txBody>
      </p:sp>
      <p:cxnSp>
        <p:nvCxnSpPr>
          <p:cNvPr id="22" name="Connector 21"/>
          <p:cNvCxnSpPr/>
          <p:nvPr/>
        </p:nvCxnSpPr>
        <p:spPr>
          <a:xfrm>
            <a:off x="7071969" y="3520440"/>
            <a:ext cx="146304" cy="0"/>
          </a:xfrm>
          <a:prstGeom prst="line">
            <a:avLst/>
          </a:prstGeom>
          <a:ln>
            <a:solidFill>
              <a:srgbClr val="7C3AED"/>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218273"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967167" y="2724912"/>
            <a:ext cx="512064" cy="51206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67167"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4</a:t>
            </a:r>
          </a:p>
        </p:txBody>
      </p:sp>
      <p:sp>
        <p:nvSpPr>
          <p:cNvPr id="26" name="TextBox 25"/>
          <p:cNvSpPr txBox="1"/>
          <p:nvPr/>
        </p:nvSpPr>
        <p:spPr>
          <a:xfrm>
            <a:off x="7291425"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Assert JSON</a:t>
            </a:r>
          </a:p>
        </p:txBody>
      </p:sp>
      <p:cxnSp>
        <p:nvCxnSpPr>
          <p:cNvPr id="27" name="Connector 26"/>
          <p:cNvCxnSpPr/>
          <p:nvPr/>
        </p:nvCxnSpPr>
        <p:spPr>
          <a:xfrm>
            <a:off x="9228124" y="3520440"/>
            <a:ext cx="146304" cy="0"/>
          </a:xfrm>
          <a:prstGeom prst="line">
            <a:avLst/>
          </a:prstGeom>
          <a:ln>
            <a:solidFill>
              <a:srgbClr val="7C3AED"/>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74428"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0123322" y="2724912"/>
            <a:ext cx="512064" cy="51206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23322"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5</a:t>
            </a:r>
          </a:p>
        </p:txBody>
      </p:sp>
      <p:sp>
        <p:nvSpPr>
          <p:cNvPr id="31" name="TextBox 30"/>
          <p:cNvSpPr txBox="1"/>
          <p:nvPr/>
        </p:nvSpPr>
        <p:spPr>
          <a:xfrm>
            <a:off x="9447580"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Assert persisted state</a:t>
            </a:r>
          </a:p>
        </p:txBody>
      </p:sp>
      <p:sp>
        <p:nvSpPr>
          <p:cNvPr id="32" name="Rounded Rectangle 31"/>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34" name="TextBox 33"/>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pytest test case</a:t>
            </a:r>
          </a:p>
        </p:txBody>
      </p:sp>
      <p:sp>
        <p:nvSpPr>
          <p:cNvPr id="35" name="Rounded Rectangle 34"/>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37" name="TextBox 36"/>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A test that asserts only status may miss corrupt data.</a:t>
            </a:r>
          </a:p>
        </p:txBody>
      </p:sp>
      <p:sp>
        <p:nvSpPr>
          <p:cNvPr id="38" name="Rounded Rectangle 37"/>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40" name="TextBox 39"/>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Each write test checks response and database state.</a:t>
            </a:r>
          </a:p>
        </p:txBody>
      </p:sp>
      <p:sp>
        <p:nvSpPr>
          <p:cNvPr id="41" name="TextBox 40"/>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42" name="TextBox 41"/>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43" name="TextBox 42"/>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Testing</a:t>
            </a:r>
          </a:p>
        </p:txBody>
      </p:sp>
      <p:sp>
        <p:nvSpPr>
          <p:cNvPr id="44" name="TextBox 43"/>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118</a:t>
            </a:r>
          </a:p>
        </p:txBody>
      </p:sp>
    </p:spTree>
  </p:cSld>
  <p:transition spd="fast">
    <p:fade/>
  </p:transition>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TOPIC 04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Tests follow Arrange–Act–Assert</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7C3AED"/>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Arrange test DB</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7C3AED"/>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Arrange state, perform one HTTP interaction, then assert transport and business evidence.</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A test that asserts only status may miss corrupt data.</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Each write test checks response and database state.</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pytest test case</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Testing</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119</a:t>
            </a:r>
          </a:p>
        </p:txBody>
      </p:sp>
    </p:spTree>
  </p:cSld>
  <p:transition spd="fast">
    <p:fade/>
  </p:transition>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TOPIC 04 · CODE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TestClient exercises the ASGI application</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FastAPI's TestClient sends requests without a live network server.</a:t>
            </a:r>
          </a:p>
        </p:txBody>
      </p:sp>
      <p:sp>
        <p:nvSpPr>
          <p:cNvPr id="8" name="Rounded Rectangle 7"/>
          <p:cNvSpPr/>
          <p:nvPr/>
        </p:nvSpPr>
        <p:spPr>
          <a:xfrm>
            <a:off x="749808" y="2331720"/>
            <a:ext cx="6766560" cy="2697480"/>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2615184"/>
            <a:ext cx="6199632" cy="2057400"/>
          </a:xfrm>
          <a:prstGeom prst="rect">
            <a:avLst/>
          </a:prstGeom>
          <a:noFill/>
        </p:spPr>
        <p:txBody>
          <a:bodyPr wrap="square" anchor="t" lIns="36576" rIns="36576" tIns="36576" bIns="36576">
            <a:spAutoFit/>
          </a:bodyPr>
          <a:lstStyle/>
          <a:p>
            <a:pPr algn="l">
              <a:spcAft>
                <a:spcPts val="0"/>
              </a:spcAft>
            </a:pPr>
            <a:r>
              <a:rPr sz="1500" b="0">
                <a:solidFill>
                  <a:srgbClr val="A7F3D0"/>
                </a:solidFill>
                <a:latin typeface="Consolas"/>
              </a:rPr>
              <a:t>client = TestClient(app)
r = client.post("/api/v1/products", json={"sku":"NS-MUG-02","name":"Field Notes Mug","price":"26.00"})
assert r.status_code == 201</a:t>
            </a:r>
          </a:p>
        </p:txBody>
      </p:sp>
      <p:sp>
        <p:nvSpPr>
          <p:cNvPr id="10" name="Rounded Rectangle 9"/>
          <p:cNvSpPr/>
          <p:nvPr/>
        </p:nvSpPr>
        <p:spPr>
          <a:xfrm>
            <a:off x="7799831" y="2331720"/>
            <a:ext cx="3584448" cy="26974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65008" y="2624328"/>
            <a:ext cx="219456" cy="21945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30768" y="2551176"/>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same routes</a:t>
            </a:r>
          </a:p>
        </p:txBody>
      </p:sp>
      <p:sp>
        <p:nvSpPr>
          <p:cNvPr id="13" name="Rounded Rectangle 12"/>
          <p:cNvSpPr/>
          <p:nvPr/>
        </p:nvSpPr>
        <p:spPr>
          <a:xfrm>
            <a:off x="8065008" y="3136392"/>
            <a:ext cx="219456" cy="21945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30768" y="3063240"/>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same validation</a:t>
            </a:r>
          </a:p>
        </p:txBody>
      </p:sp>
      <p:sp>
        <p:nvSpPr>
          <p:cNvPr id="15" name="Rounded Rectangle 14"/>
          <p:cNvSpPr/>
          <p:nvPr/>
        </p:nvSpPr>
        <p:spPr>
          <a:xfrm>
            <a:off x="8065008" y="3648456"/>
            <a:ext cx="219456" cy="21945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30768" y="3575304"/>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fast deterministic loop</a:t>
            </a:r>
          </a:p>
        </p:txBody>
      </p:sp>
      <p:sp>
        <p:nvSpPr>
          <p:cNvPr id="17" name="Rounded Rectangle 16"/>
          <p:cNvSpPr/>
          <p:nvPr/>
        </p:nvSpPr>
        <p:spPr>
          <a:xfrm>
            <a:off x="8065008" y="4160520"/>
            <a:ext cx="219456" cy="21945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30768" y="4087368"/>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pytest-friendly</a:t>
            </a:r>
          </a:p>
        </p:txBody>
      </p:sp>
      <p:sp>
        <p:nvSpPr>
          <p:cNvPr id="19" name="Rounded Rectangle 18"/>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21" name="TextBox 20"/>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client.post('/api/v1/products', json=...)</a:t>
            </a:r>
          </a:p>
        </p:txBody>
      </p:sp>
      <p:sp>
        <p:nvSpPr>
          <p:cNvPr id="22" name="Rounded Rectangle 21"/>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24" name="TextBox 23"/>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Manual Swagger checks are useful exploration but not regression protection.</a:t>
            </a:r>
          </a:p>
        </p:txBody>
      </p:sp>
      <p:sp>
        <p:nvSpPr>
          <p:cNvPr id="25" name="Rounded Rectangle 24"/>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27" name="TextBox 26"/>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The suite runs unattended and reports repeatable pass/fail evidence.</a:t>
            </a:r>
          </a:p>
        </p:txBody>
      </p:sp>
      <p:sp>
        <p:nvSpPr>
          <p:cNvPr id="28" name="TextBox 27"/>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9" name="TextBox 28"/>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0" name="TextBox 29"/>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Testing</a:t>
            </a:r>
          </a:p>
        </p:txBody>
      </p:sp>
      <p:sp>
        <p:nvSpPr>
          <p:cNvPr id="31" name="TextBox 30"/>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120</a:t>
            </a:r>
          </a:p>
        </p:txBody>
      </p:sp>
    </p:spTree>
  </p:cSld>
  <p:transition spd="fast">
    <p:fade/>
  </p:transition>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TOPIC 04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TestClient exercises the ASGI application</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7C3AED"/>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same routes</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7C3AED"/>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FastAPI's TestClient sends requests without a live network server.</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Manual Swagger checks are useful exploration but not regression protection.</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The suite runs unattended and reports repeatable pass/fail evidence.</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client.post('/api/v1/products', json=...)</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Testing</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121</a:t>
            </a:r>
          </a:p>
        </p:txBody>
      </p:sp>
    </p:spTree>
  </p:cSld>
  <p:transition spd="fast">
    <p:fade/>
  </p:transition>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TOPIC 04 · ARCH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Isolate test data</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Tests need a temporary SQLite database and dependency override so runs cannot alter demo data.</a:t>
            </a:r>
          </a:p>
        </p:txBody>
      </p:sp>
      <p:sp>
        <p:nvSpPr>
          <p:cNvPr id="8" name="Rounded Rectangle 7"/>
          <p:cNvSpPr/>
          <p:nvPr/>
        </p:nvSpPr>
        <p:spPr>
          <a:xfrm>
            <a:off x="749808"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498701" y="2724912"/>
            <a:ext cx="512064" cy="51206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98701"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1</a:t>
            </a:r>
          </a:p>
        </p:txBody>
      </p:sp>
      <p:sp>
        <p:nvSpPr>
          <p:cNvPr id="11" name="TextBox 10"/>
          <p:cNvSpPr txBox="1"/>
          <p:nvPr/>
        </p:nvSpPr>
        <p:spPr>
          <a:xfrm>
            <a:off x="822960"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temporary path</a:t>
            </a:r>
          </a:p>
        </p:txBody>
      </p:sp>
      <p:cxnSp>
        <p:nvCxnSpPr>
          <p:cNvPr id="12" name="Connector 11"/>
          <p:cNvCxnSpPr/>
          <p:nvPr/>
        </p:nvCxnSpPr>
        <p:spPr>
          <a:xfrm>
            <a:off x="2759659" y="3520440"/>
            <a:ext cx="146304" cy="0"/>
          </a:xfrm>
          <a:prstGeom prst="line">
            <a:avLst/>
          </a:prstGeom>
          <a:ln>
            <a:solidFill>
              <a:srgbClr val="7C3AED"/>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05963"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654856" y="2724912"/>
            <a:ext cx="512064" cy="51206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4856"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2</a:t>
            </a:r>
          </a:p>
        </p:txBody>
      </p:sp>
      <p:sp>
        <p:nvSpPr>
          <p:cNvPr id="16" name="TextBox 15"/>
          <p:cNvSpPr txBox="1"/>
          <p:nvPr/>
        </p:nvSpPr>
        <p:spPr>
          <a:xfrm>
            <a:off x="2979115"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create schema</a:t>
            </a:r>
          </a:p>
        </p:txBody>
      </p:sp>
      <p:cxnSp>
        <p:nvCxnSpPr>
          <p:cNvPr id="17" name="Connector 16"/>
          <p:cNvCxnSpPr/>
          <p:nvPr/>
        </p:nvCxnSpPr>
        <p:spPr>
          <a:xfrm>
            <a:off x="4915814" y="3520440"/>
            <a:ext cx="146304" cy="0"/>
          </a:xfrm>
          <a:prstGeom prst="line">
            <a:avLst/>
          </a:prstGeom>
          <a:ln>
            <a:solidFill>
              <a:srgbClr val="7C3AED"/>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062118"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811012" y="2724912"/>
            <a:ext cx="512064" cy="51206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11012"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3</a:t>
            </a:r>
          </a:p>
        </p:txBody>
      </p:sp>
      <p:sp>
        <p:nvSpPr>
          <p:cNvPr id="21" name="TextBox 20"/>
          <p:cNvSpPr txBox="1"/>
          <p:nvPr/>
        </p:nvSpPr>
        <p:spPr>
          <a:xfrm>
            <a:off x="5135270"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override dependency</a:t>
            </a:r>
          </a:p>
        </p:txBody>
      </p:sp>
      <p:cxnSp>
        <p:nvCxnSpPr>
          <p:cNvPr id="22" name="Connector 21"/>
          <p:cNvCxnSpPr/>
          <p:nvPr/>
        </p:nvCxnSpPr>
        <p:spPr>
          <a:xfrm>
            <a:off x="7071969" y="3520440"/>
            <a:ext cx="146304" cy="0"/>
          </a:xfrm>
          <a:prstGeom prst="line">
            <a:avLst/>
          </a:prstGeom>
          <a:ln>
            <a:solidFill>
              <a:srgbClr val="7C3AED"/>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218273"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967167" y="2724912"/>
            <a:ext cx="512064" cy="51206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67167"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4</a:t>
            </a:r>
          </a:p>
        </p:txBody>
      </p:sp>
      <p:sp>
        <p:nvSpPr>
          <p:cNvPr id="26" name="TextBox 25"/>
          <p:cNvSpPr txBox="1"/>
          <p:nvPr/>
        </p:nvSpPr>
        <p:spPr>
          <a:xfrm>
            <a:off x="7291425"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run test</a:t>
            </a:r>
          </a:p>
        </p:txBody>
      </p:sp>
      <p:cxnSp>
        <p:nvCxnSpPr>
          <p:cNvPr id="27" name="Connector 26"/>
          <p:cNvCxnSpPr/>
          <p:nvPr/>
        </p:nvCxnSpPr>
        <p:spPr>
          <a:xfrm>
            <a:off x="9228124" y="3520440"/>
            <a:ext cx="146304" cy="0"/>
          </a:xfrm>
          <a:prstGeom prst="line">
            <a:avLst/>
          </a:prstGeom>
          <a:ln>
            <a:solidFill>
              <a:srgbClr val="7C3AED"/>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74428"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0123322" y="2724912"/>
            <a:ext cx="512064" cy="51206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23322"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5</a:t>
            </a:r>
          </a:p>
        </p:txBody>
      </p:sp>
      <p:sp>
        <p:nvSpPr>
          <p:cNvPr id="31" name="TextBox 30"/>
          <p:cNvSpPr txBox="1"/>
          <p:nvPr/>
        </p:nvSpPr>
        <p:spPr>
          <a:xfrm>
            <a:off x="9447580"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remove file</a:t>
            </a:r>
          </a:p>
        </p:txBody>
      </p:sp>
      <p:sp>
        <p:nvSpPr>
          <p:cNvPr id="32" name="Rounded Rectangle 31"/>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34" name="TextBox 33"/>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production DB dependency ↔ test override</a:t>
            </a:r>
          </a:p>
        </p:txBody>
      </p:sp>
      <p:sp>
        <p:nvSpPr>
          <p:cNvPr id="35" name="Rounded Rectangle 34"/>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37" name="TextBox 36"/>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Tests against the real database are destructive and order-dependent.</a:t>
            </a:r>
          </a:p>
        </p:txBody>
      </p:sp>
      <p:sp>
        <p:nvSpPr>
          <p:cNvPr id="38" name="Rounded Rectangle 37"/>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40" name="TextBox 39"/>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A test run leaves the demo database checksum unchanged.</a:t>
            </a:r>
          </a:p>
        </p:txBody>
      </p:sp>
      <p:sp>
        <p:nvSpPr>
          <p:cNvPr id="41" name="TextBox 40"/>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42" name="TextBox 41"/>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43" name="TextBox 42"/>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Testing</a:t>
            </a:r>
          </a:p>
        </p:txBody>
      </p:sp>
      <p:sp>
        <p:nvSpPr>
          <p:cNvPr id="44" name="TextBox 43"/>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122</a:t>
            </a:r>
          </a:p>
        </p:txBody>
      </p:sp>
    </p:spTree>
  </p:cSld>
  <p:transition spd="fast">
    <p:fade/>
  </p:transition>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TOPIC 04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Isolate test data</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7C3AED"/>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temporary path</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7C3AED"/>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Tests need a temporary SQLite database and dependency override so runs cannot alter demo data.</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Tests against the real database are destructive and order-dependent.</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A test run leaves the demo database checksum unchanged.</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production DB dependency ↔ test override</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Testing</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123</a:t>
            </a:r>
          </a:p>
        </p:txBody>
      </p:sp>
    </p:spTree>
  </p:cSld>
  <p:transition spd="fast">
    <p:fade/>
  </p:transition>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TOPIC 04 · FLOW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Debug from evidence, not guesses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Follow request ID, status, log event, stack location, input and database state in order.</a:t>
            </a:r>
          </a:p>
        </p:txBody>
      </p:sp>
      <p:sp>
        <p:nvSpPr>
          <p:cNvPr id="8" name="Rounded Rectangle 7"/>
          <p:cNvSpPr/>
          <p:nvPr/>
        </p:nvSpPr>
        <p:spPr>
          <a:xfrm>
            <a:off x="749808" y="2487168"/>
            <a:ext cx="1650492"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319022" y="2724912"/>
            <a:ext cx="512064" cy="51206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19022"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1</a:t>
            </a:r>
          </a:p>
        </p:txBody>
      </p:sp>
      <p:sp>
        <p:nvSpPr>
          <p:cNvPr id="11" name="TextBox 10"/>
          <p:cNvSpPr txBox="1"/>
          <p:nvPr/>
        </p:nvSpPr>
        <p:spPr>
          <a:xfrm>
            <a:off x="822960" y="3502152"/>
            <a:ext cx="1504188"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reproduce</a:t>
            </a:r>
          </a:p>
        </p:txBody>
      </p:sp>
      <p:cxnSp>
        <p:nvCxnSpPr>
          <p:cNvPr id="12" name="Connector 11"/>
          <p:cNvCxnSpPr/>
          <p:nvPr/>
        </p:nvCxnSpPr>
        <p:spPr>
          <a:xfrm>
            <a:off x="2400300" y="3520440"/>
            <a:ext cx="146304" cy="0"/>
          </a:xfrm>
          <a:prstGeom prst="line">
            <a:avLst/>
          </a:prstGeom>
          <a:ln>
            <a:solidFill>
              <a:srgbClr val="7C3AED"/>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46604" y="2487168"/>
            <a:ext cx="1650492"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115818" y="2724912"/>
            <a:ext cx="512064" cy="51206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15818"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2</a:t>
            </a:r>
          </a:p>
        </p:txBody>
      </p:sp>
      <p:sp>
        <p:nvSpPr>
          <p:cNvPr id="16" name="TextBox 15"/>
          <p:cNvSpPr txBox="1"/>
          <p:nvPr/>
        </p:nvSpPr>
        <p:spPr>
          <a:xfrm>
            <a:off x="2619756" y="3502152"/>
            <a:ext cx="1504188"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minimise</a:t>
            </a:r>
          </a:p>
        </p:txBody>
      </p:sp>
      <p:cxnSp>
        <p:nvCxnSpPr>
          <p:cNvPr id="17" name="Connector 16"/>
          <p:cNvCxnSpPr/>
          <p:nvPr/>
        </p:nvCxnSpPr>
        <p:spPr>
          <a:xfrm>
            <a:off x="4197096" y="3520440"/>
            <a:ext cx="146304" cy="0"/>
          </a:xfrm>
          <a:prstGeom prst="line">
            <a:avLst/>
          </a:prstGeom>
          <a:ln>
            <a:solidFill>
              <a:srgbClr val="7C3AED"/>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343400" y="2487168"/>
            <a:ext cx="1650492"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12614" y="2724912"/>
            <a:ext cx="512064" cy="51206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12614"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3</a:t>
            </a:r>
          </a:p>
        </p:txBody>
      </p:sp>
      <p:sp>
        <p:nvSpPr>
          <p:cNvPr id="21" name="TextBox 20"/>
          <p:cNvSpPr txBox="1"/>
          <p:nvPr/>
        </p:nvSpPr>
        <p:spPr>
          <a:xfrm>
            <a:off x="4416552" y="3502152"/>
            <a:ext cx="1504188"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inspect logs</a:t>
            </a:r>
          </a:p>
        </p:txBody>
      </p:sp>
      <p:cxnSp>
        <p:nvCxnSpPr>
          <p:cNvPr id="22" name="Connector 21"/>
          <p:cNvCxnSpPr/>
          <p:nvPr/>
        </p:nvCxnSpPr>
        <p:spPr>
          <a:xfrm>
            <a:off x="5993892" y="3520440"/>
            <a:ext cx="146304" cy="0"/>
          </a:xfrm>
          <a:prstGeom prst="line">
            <a:avLst/>
          </a:prstGeom>
          <a:ln>
            <a:solidFill>
              <a:srgbClr val="7C3AED"/>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140196" y="2487168"/>
            <a:ext cx="1650492"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709410" y="2724912"/>
            <a:ext cx="512064" cy="51206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09410"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4</a:t>
            </a:r>
          </a:p>
        </p:txBody>
      </p:sp>
      <p:sp>
        <p:nvSpPr>
          <p:cNvPr id="26" name="TextBox 25"/>
          <p:cNvSpPr txBox="1"/>
          <p:nvPr/>
        </p:nvSpPr>
        <p:spPr>
          <a:xfrm>
            <a:off x="6213348" y="3502152"/>
            <a:ext cx="1504188"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set breakpoint</a:t>
            </a:r>
          </a:p>
        </p:txBody>
      </p:sp>
      <p:cxnSp>
        <p:nvCxnSpPr>
          <p:cNvPr id="27" name="Connector 26"/>
          <p:cNvCxnSpPr/>
          <p:nvPr/>
        </p:nvCxnSpPr>
        <p:spPr>
          <a:xfrm>
            <a:off x="7790688" y="3520440"/>
            <a:ext cx="146304" cy="0"/>
          </a:xfrm>
          <a:prstGeom prst="line">
            <a:avLst/>
          </a:prstGeom>
          <a:ln>
            <a:solidFill>
              <a:srgbClr val="7C3AED"/>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936992" y="2487168"/>
            <a:ext cx="1650492"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506206" y="2724912"/>
            <a:ext cx="512064" cy="51206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6206"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5</a:t>
            </a:r>
          </a:p>
        </p:txBody>
      </p:sp>
      <p:sp>
        <p:nvSpPr>
          <p:cNvPr id="31" name="TextBox 30"/>
          <p:cNvSpPr txBox="1"/>
          <p:nvPr/>
        </p:nvSpPr>
        <p:spPr>
          <a:xfrm>
            <a:off x="8010144" y="3502152"/>
            <a:ext cx="1504188"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fix</a:t>
            </a:r>
          </a:p>
        </p:txBody>
      </p:sp>
      <p:cxnSp>
        <p:nvCxnSpPr>
          <p:cNvPr id="32" name="Connector 31"/>
          <p:cNvCxnSpPr/>
          <p:nvPr/>
        </p:nvCxnSpPr>
        <p:spPr>
          <a:xfrm>
            <a:off x="9587484" y="3520440"/>
            <a:ext cx="146304" cy="0"/>
          </a:xfrm>
          <a:prstGeom prst="line">
            <a:avLst/>
          </a:prstGeom>
          <a:ln>
            <a:solidFill>
              <a:srgbClr val="7C3AED"/>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9733788" y="2487168"/>
            <a:ext cx="1650492"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0303002" y="2724912"/>
            <a:ext cx="512064" cy="51206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03002"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6</a:t>
            </a:r>
          </a:p>
        </p:txBody>
      </p:sp>
      <p:sp>
        <p:nvSpPr>
          <p:cNvPr id="36" name="TextBox 35"/>
          <p:cNvSpPr txBox="1"/>
          <p:nvPr/>
        </p:nvSpPr>
        <p:spPr>
          <a:xfrm>
            <a:off x="9806940" y="3502152"/>
            <a:ext cx="1504188"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add regression test</a:t>
            </a:r>
          </a:p>
        </p:txBody>
      </p:sp>
      <p:sp>
        <p:nvSpPr>
          <p:cNvPr id="37" name="Rounded Rectangle 36"/>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39" name="TextBox 38"/>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Failure-to-fix trace</a:t>
            </a:r>
          </a:p>
        </p:txBody>
      </p:sp>
      <p:sp>
        <p:nvSpPr>
          <p:cNvPr id="40" name="Rounded Rectangle 39"/>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42" name="TextBox 41"/>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Changing multiple things at once destroys causal evidence.</a:t>
            </a:r>
          </a:p>
        </p:txBody>
      </p:sp>
      <p:sp>
        <p:nvSpPr>
          <p:cNvPr id="43" name="Rounded Rectangle 42"/>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45" name="TextBox 44"/>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The regression test fails before the fix and passes after it.</a:t>
            </a:r>
          </a:p>
        </p:txBody>
      </p:sp>
      <p:sp>
        <p:nvSpPr>
          <p:cNvPr id="46" name="TextBox 4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47" name="TextBox 4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48" name="TextBox 47"/>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VS Code FastAPI Tutorial</a:t>
            </a:r>
          </a:p>
        </p:txBody>
      </p:sp>
      <p:sp>
        <p:nvSpPr>
          <p:cNvPr id="49" name="TextBox 4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124</a:t>
            </a:r>
          </a:p>
        </p:txBody>
      </p:sp>
    </p:spTree>
  </p:cSld>
  <p:transition spd="fast">
    <p:fade/>
  </p:transition>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TOPIC 04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Debug from evidence, not guesses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7C3AED"/>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reproduce</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7C3AED"/>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Follow request ID, status, log event, stack location, input and database state in order.</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Changing multiple things at once destroys causal evidence.</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The regression test fails before the fix and passes after it.</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Failure-to-fix trace</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VS Code FastAPI Tutorial</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125</a:t>
            </a:r>
          </a:p>
        </p:txBody>
      </p:sp>
    </p:spTree>
  </p:cSld>
  <p:transition spd="fast">
    <p:fade/>
  </p:transition>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TOPIC 04 · CHART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A test portfolio covers multiple risks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Balance happy paths, validation, not-found, conflict and authorization tests.</a:t>
            </a:r>
          </a:p>
        </p:txBody>
      </p:sp>
      <p:graphicFrame>
        <p:nvGraphicFramePr>
          <p:cNvPr id="8" name="Chart 7"/>
          <p:cNvGraphicFramePr>
            <a:graphicFrameLocks noGrp="1"/>
          </p:cNvGraphicFramePr>
          <p:nvPr/>
        </p:nvGraphicFramePr>
        <p:xfrm>
          <a:off x="749808" y="2340864"/>
          <a:ext cx="6492240" cy="2697480"/>
        </p:xfrm>
        <a:graphic>
          <a:graphicData uri="http://schemas.openxmlformats.org/drawingml/2006/chart">
            <c:chart xmlns:c="http://schemas.openxmlformats.org/drawingml/2006/chart" r:id="rId2"/>
          </a:graphicData>
        </a:graphic>
      </p:graphicFrame>
      <p:sp>
        <p:nvSpPr>
          <p:cNvPr id="9" name="Rounded Rectangle 8"/>
          <p:cNvSpPr/>
          <p:nvPr/>
        </p:nvSpPr>
        <p:spPr>
          <a:xfrm>
            <a:off x="7543800" y="2340864"/>
            <a:ext cx="3840480" cy="26974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18120" y="2578608"/>
            <a:ext cx="3246120" cy="365760"/>
          </a:xfrm>
          <a:prstGeom prst="rect">
            <a:avLst/>
          </a:prstGeom>
          <a:noFill/>
        </p:spPr>
        <p:txBody>
          <a:bodyPr wrap="square" anchor="t" lIns="36576" rIns="36576" tIns="36576" bIns="36576">
            <a:spAutoFit/>
          </a:bodyPr>
          <a:lstStyle/>
          <a:p>
            <a:pPr algn="l">
              <a:spcAft>
                <a:spcPts val="0"/>
              </a:spcAft>
            </a:pPr>
            <a:r>
              <a:rPr sz="1150" b="1">
                <a:solidFill>
                  <a:srgbClr val="172433"/>
                </a:solidFill>
                <a:latin typeface="Arial"/>
              </a:rPr>
              <a:t>01  functional</a:t>
            </a:r>
          </a:p>
        </p:txBody>
      </p:sp>
      <p:sp>
        <p:nvSpPr>
          <p:cNvPr id="11" name="TextBox 10"/>
          <p:cNvSpPr txBox="1"/>
          <p:nvPr/>
        </p:nvSpPr>
        <p:spPr>
          <a:xfrm>
            <a:off x="7818120" y="3090672"/>
            <a:ext cx="3246120" cy="365760"/>
          </a:xfrm>
          <a:prstGeom prst="rect">
            <a:avLst/>
          </a:prstGeom>
          <a:noFill/>
        </p:spPr>
        <p:txBody>
          <a:bodyPr wrap="square" anchor="t" lIns="36576" rIns="36576" tIns="36576" bIns="36576">
            <a:spAutoFit/>
          </a:bodyPr>
          <a:lstStyle/>
          <a:p>
            <a:pPr algn="l">
              <a:spcAft>
                <a:spcPts val="0"/>
              </a:spcAft>
            </a:pPr>
            <a:r>
              <a:rPr sz="1150" b="0">
                <a:solidFill>
                  <a:srgbClr val="172433"/>
                </a:solidFill>
                <a:latin typeface="Arial"/>
              </a:rPr>
              <a:t>02  boundary</a:t>
            </a:r>
          </a:p>
        </p:txBody>
      </p:sp>
      <p:sp>
        <p:nvSpPr>
          <p:cNvPr id="12" name="TextBox 11"/>
          <p:cNvSpPr txBox="1"/>
          <p:nvPr/>
        </p:nvSpPr>
        <p:spPr>
          <a:xfrm>
            <a:off x="7818120" y="3602736"/>
            <a:ext cx="3246120" cy="365760"/>
          </a:xfrm>
          <a:prstGeom prst="rect">
            <a:avLst/>
          </a:prstGeom>
          <a:noFill/>
        </p:spPr>
        <p:txBody>
          <a:bodyPr wrap="square" anchor="t" lIns="36576" rIns="36576" tIns="36576" bIns="36576">
            <a:spAutoFit/>
          </a:bodyPr>
          <a:lstStyle/>
          <a:p>
            <a:pPr algn="l">
              <a:spcAft>
                <a:spcPts val="0"/>
              </a:spcAft>
            </a:pPr>
            <a:r>
              <a:rPr sz="1150" b="0">
                <a:solidFill>
                  <a:srgbClr val="172433"/>
                </a:solidFill>
                <a:latin typeface="Arial"/>
              </a:rPr>
              <a:t>03  negative</a:t>
            </a:r>
          </a:p>
        </p:txBody>
      </p:sp>
      <p:sp>
        <p:nvSpPr>
          <p:cNvPr id="13" name="TextBox 12"/>
          <p:cNvSpPr txBox="1"/>
          <p:nvPr/>
        </p:nvSpPr>
        <p:spPr>
          <a:xfrm>
            <a:off x="7818120" y="4114800"/>
            <a:ext cx="3246120" cy="365760"/>
          </a:xfrm>
          <a:prstGeom prst="rect">
            <a:avLst/>
          </a:prstGeom>
          <a:noFill/>
        </p:spPr>
        <p:txBody>
          <a:bodyPr wrap="square" anchor="t" lIns="36576" rIns="36576" tIns="36576" bIns="36576">
            <a:spAutoFit/>
          </a:bodyPr>
          <a:lstStyle/>
          <a:p>
            <a:pPr algn="l">
              <a:spcAft>
                <a:spcPts val="0"/>
              </a:spcAft>
            </a:pPr>
            <a:r>
              <a:rPr sz="1150" b="0">
                <a:solidFill>
                  <a:srgbClr val="172433"/>
                </a:solidFill>
                <a:latin typeface="Arial"/>
              </a:rPr>
              <a:t>04  security</a:t>
            </a:r>
          </a:p>
        </p:txBody>
      </p:sp>
      <p:sp>
        <p:nvSpPr>
          <p:cNvPr id="14" name="Rounded Rectangle 13"/>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16" name="TextBox 15"/>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Test distribution by risk</a:t>
            </a:r>
          </a:p>
        </p:txBody>
      </p:sp>
      <p:sp>
        <p:nvSpPr>
          <p:cNvPr id="17" name="Rounded Rectangle 16"/>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19" name="TextBox 18"/>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A suite dominated by happy paths creates false confidence.</a:t>
            </a:r>
          </a:p>
        </p:txBody>
      </p:sp>
      <p:sp>
        <p:nvSpPr>
          <p:cNvPr id="20" name="Rounded Rectangle 19"/>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22" name="TextBox 21"/>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Every route has at least one success and one failure assertion.</a:t>
            </a:r>
          </a:p>
        </p:txBody>
      </p:sp>
      <p:sp>
        <p:nvSpPr>
          <p:cNvPr id="23" name="TextBox 2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4" name="TextBox 2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5" name="TextBox 24"/>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Testing</a:t>
            </a:r>
          </a:p>
        </p:txBody>
      </p:sp>
      <p:sp>
        <p:nvSpPr>
          <p:cNvPr id="26" name="TextBox 25"/>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126</a:t>
            </a:r>
          </a:p>
        </p:txBody>
      </p:sp>
    </p:spTree>
  </p:cSld>
  <p:transition spd="fast">
    <p:fade/>
  </p:transition>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TOPIC 04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A test portfolio covers multiple risks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7C3AED"/>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functional</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7C3AED"/>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Balance happy paths, validation, not-found, conflict and authorization tests.</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A suite dominated by happy paths creates false confidence.</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Every route has at least one success and one failure assertion.</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Test distribution by risk</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Testing</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127</a:t>
            </a:r>
          </a:p>
        </p:txBody>
      </p:sp>
    </p:spTree>
  </p:cSld>
  <p:transition spd="fast">
    <p:fade/>
  </p:transition>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07 · SCENARIO</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Standardise Errors and Request Logs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74519"/>
            <a:ext cx="6675120" cy="3611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212848"/>
            <a:ext cx="6035040" cy="34747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DESIGN CHALLENGE</a:t>
            </a:r>
          </a:p>
        </p:txBody>
      </p:sp>
      <p:sp>
        <p:nvSpPr>
          <p:cNvPr id="9" name="TextBox 8"/>
          <p:cNvSpPr txBox="1"/>
          <p:nvPr/>
        </p:nvSpPr>
        <p:spPr>
          <a:xfrm>
            <a:off x="1078992" y="2743200"/>
            <a:ext cx="5989320" cy="1097280"/>
          </a:xfrm>
          <a:prstGeom prst="rect">
            <a:avLst/>
          </a:prstGeom>
          <a:noFill/>
        </p:spPr>
        <p:txBody>
          <a:bodyPr wrap="square" anchor="t" lIns="36576" rIns="36576" tIns="36576" bIns="36576">
            <a:spAutoFit/>
          </a:bodyPr>
          <a:lstStyle/>
          <a:p>
            <a:pPr algn="l">
              <a:spcAft>
                <a:spcPts val="0"/>
              </a:spcAft>
            </a:pPr>
            <a:r>
              <a:rPr sz="2200" b="1">
                <a:solidFill>
                  <a:srgbClr val="172433"/>
                </a:solidFill>
                <a:latin typeface="Arial"/>
              </a:rPr>
              <a:t>Create predictable error responses and trace a request from status to log event.</a:t>
            </a:r>
          </a:p>
        </p:txBody>
      </p:sp>
      <p:sp>
        <p:nvSpPr>
          <p:cNvPr id="10" name="TextBox 9"/>
          <p:cNvSpPr txBox="1"/>
          <p:nvPr/>
        </p:nvSpPr>
        <p:spPr>
          <a:xfrm>
            <a:off x="1078992" y="4187952"/>
            <a:ext cx="5989320" cy="731520"/>
          </a:xfrm>
          <a:prstGeom prst="rect">
            <a:avLst/>
          </a:prstGeom>
          <a:noFill/>
        </p:spPr>
        <p:txBody>
          <a:bodyPr wrap="square" anchor="t" lIns="36576" rIns="36576" tIns="36576" bIns="36576">
            <a:spAutoFit/>
          </a:bodyPr>
          <a:lstStyle/>
          <a:p>
            <a:pPr algn="l">
              <a:spcAft>
                <a:spcPts val="0"/>
              </a:spcAft>
            </a:pPr>
            <a:r>
              <a:rPr sz="1400" b="0">
                <a:solidFill>
                  <a:srgbClr val="475569"/>
                </a:solidFill>
                <a:latin typeface="Arial"/>
              </a:rPr>
              <a:t>Build: error envelope and request-ID middleware</a:t>
            </a:r>
          </a:p>
        </p:txBody>
      </p:sp>
      <p:sp>
        <p:nvSpPr>
          <p:cNvPr id="11" name="Rounded Rectangle 10"/>
          <p:cNvSpPr/>
          <p:nvPr/>
        </p:nvSpPr>
        <p:spPr>
          <a:xfrm>
            <a:off x="7754112" y="1874519"/>
            <a:ext cx="3611880" cy="3611880"/>
          </a:xfrm>
          <a:prstGeom prst="roundRect">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19872" y="2249424"/>
            <a:ext cx="2880360" cy="274320"/>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TOOLS</a:t>
            </a:r>
          </a:p>
        </p:txBody>
      </p:sp>
      <p:sp>
        <p:nvSpPr>
          <p:cNvPr id="13" name="TextBox 12"/>
          <p:cNvSpPr txBox="1"/>
          <p:nvPr/>
        </p:nvSpPr>
        <p:spPr>
          <a:xfrm>
            <a:off x="8119872" y="2724912"/>
            <a:ext cx="2834640" cy="914400"/>
          </a:xfrm>
          <a:prstGeom prst="rect">
            <a:avLst/>
          </a:prstGeom>
          <a:noFill/>
        </p:spPr>
        <p:txBody>
          <a:bodyPr wrap="square" anchor="t" lIns="36576" rIns="36576" tIns="36576" bIns="36576">
            <a:spAutoFit/>
          </a:bodyPr>
          <a:lstStyle/>
          <a:p>
            <a:pPr algn="l">
              <a:spcAft>
                <a:spcPts val="0"/>
              </a:spcAft>
            </a:pPr>
            <a:r>
              <a:rPr sz="1600" b="1">
                <a:solidFill>
                  <a:srgbClr val="172433"/>
                </a:solidFill>
                <a:latin typeface="Arial"/>
              </a:rPr>
              <a:t>HTTPException, logging, middleware, OpenAI Python SDK</a:t>
            </a:r>
          </a:p>
        </p:txBody>
      </p:sp>
      <p:sp>
        <p:nvSpPr>
          <p:cNvPr id="14" name="TextBox 13"/>
          <p:cNvSpPr txBox="1"/>
          <p:nvPr/>
        </p:nvSpPr>
        <p:spPr>
          <a:xfrm>
            <a:off x="8119872" y="3886200"/>
            <a:ext cx="2834640" cy="786384"/>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Detailed procedure: Learner Guide + lab README</a:t>
            </a:r>
          </a:p>
        </p:txBody>
      </p:sp>
      <p:sp>
        <p:nvSpPr>
          <p:cNvPr id="15" name="TextBox 14"/>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6" name="TextBox 15"/>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7" name="TextBox 16"/>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128</a:t>
            </a:r>
          </a:p>
        </p:txBody>
      </p:sp>
    </p:spTree>
  </p:cSld>
  <p:transition spd="fast">
    <p:fade/>
  </p:transition>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LAB 07 · PROMPT ARTIFACT</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Prompt submitted by ai_vibe.py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7452360" cy="4005072"/>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121408"/>
            <a:ext cx="6858000" cy="274320"/>
          </a:xfrm>
          <a:prstGeom prst="rect">
            <a:avLst/>
          </a:prstGeom>
          <a:noFill/>
        </p:spPr>
        <p:txBody>
          <a:bodyPr wrap="square" anchor="t" lIns="36576" rIns="36576" tIns="36576" bIns="36576">
            <a:spAutoFit/>
          </a:bodyPr>
          <a:lstStyle/>
          <a:p>
            <a:pPr algn="l">
              <a:spcAft>
                <a:spcPts val="0"/>
              </a:spcAft>
            </a:pPr>
            <a:r>
              <a:rPr sz="1000" b="1">
                <a:solidFill>
                  <a:srgbClr val="06B6D4"/>
                </a:solidFill>
                <a:latin typeface="Arial"/>
              </a:rPr>
              <a:t>LEARNER PROMPT</a:t>
            </a:r>
          </a:p>
        </p:txBody>
      </p:sp>
      <p:sp>
        <p:nvSpPr>
          <p:cNvPr id="9" name="TextBox 8"/>
          <p:cNvSpPr txBox="1"/>
          <p:nvPr/>
        </p:nvSpPr>
        <p:spPr>
          <a:xfrm>
            <a:off x="1051560" y="2596896"/>
            <a:ext cx="6821424" cy="2880360"/>
          </a:xfrm>
          <a:prstGeom prst="rect">
            <a:avLst/>
          </a:prstGeom>
          <a:noFill/>
        </p:spPr>
        <p:txBody>
          <a:bodyPr wrap="square" anchor="t" lIns="36576" rIns="36576" tIns="36576" bIns="36576">
            <a:spAutoFit/>
          </a:bodyPr>
          <a:lstStyle/>
          <a:p>
            <a:pPr algn="l">
              <a:spcAft>
                <a:spcPts val="0"/>
              </a:spcAft>
            </a:pPr>
            <a:r>
              <a:rPr sz="1320" b="0">
                <a:solidFill>
                  <a:srgbClr val="D1FAE5"/>
                </a:solidFill>
                <a:latin typeface="Consolas"/>
              </a:rPr>
              <a:t>You are working on Lab 07 of a Northstar Commerce API. Generate request-ID middleware, structured request logging and one public error envelope for 404 and 409 outcomes. Logs may include method, path, status, request id and elapsed time but no API key or body secret. Add tests that correlate the response request id with captured log evidence.</a:t>
            </a:r>
          </a:p>
        </p:txBody>
      </p:sp>
      <p:sp>
        <p:nvSpPr>
          <p:cNvPr id="10" name="Rounded Rectangle 9"/>
          <p:cNvSpPr/>
          <p:nvPr/>
        </p:nvSpPr>
        <p:spPr>
          <a:xfrm>
            <a:off x="8439912" y="1847088"/>
            <a:ext cx="2944368" cy="400507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14232" y="2130552"/>
            <a:ext cx="2377440" cy="256032"/>
          </a:xfrm>
          <a:prstGeom prst="rect">
            <a:avLst/>
          </a:prstGeom>
          <a:noFill/>
        </p:spPr>
        <p:txBody>
          <a:bodyPr wrap="square" anchor="t" lIns="36576" rIns="36576" tIns="36576" bIns="36576">
            <a:spAutoFit/>
          </a:bodyPr>
          <a:lstStyle/>
          <a:p>
            <a:pPr algn="l">
              <a:spcAft>
                <a:spcPts val="0"/>
              </a:spcAft>
            </a:pPr>
            <a:r>
              <a:rPr sz="950" b="1">
                <a:solidFill>
                  <a:srgbClr val="7C3AED"/>
                </a:solidFill>
                <a:latin typeface="Arial"/>
              </a:rPr>
              <a:t>PYTHON SDK ENVELOPE</a:t>
            </a:r>
          </a:p>
        </p:txBody>
      </p:sp>
      <p:sp>
        <p:nvSpPr>
          <p:cNvPr id="12" name="Rounded Rectangle 11"/>
          <p:cNvSpPr/>
          <p:nvPr/>
        </p:nvSpPr>
        <p:spPr>
          <a:xfrm>
            <a:off x="8714232" y="2615184"/>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07424" y="2578608"/>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Prompts.pdf</a:t>
            </a:r>
          </a:p>
        </p:txBody>
      </p:sp>
      <p:sp>
        <p:nvSpPr>
          <p:cNvPr id="14" name="Rounded Rectangle 13"/>
          <p:cNvSpPr/>
          <p:nvPr/>
        </p:nvSpPr>
        <p:spPr>
          <a:xfrm>
            <a:off x="8714232" y="3081528"/>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07424" y="3044952"/>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mock-data.json</a:t>
            </a:r>
          </a:p>
        </p:txBody>
      </p:sp>
      <p:sp>
        <p:nvSpPr>
          <p:cNvPr id="16" name="Rounded Rectangle 15"/>
          <p:cNvSpPr/>
          <p:nvPr/>
        </p:nvSpPr>
        <p:spPr>
          <a:xfrm>
            <a:off x="8714232" y="3547872"/>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07424" y="3511296"/>
            <a:ext cx="1874519" cy="274320"/>
          </a:xfrm>
          <a:prstGeom prst="rect">
            <a:avLst/>
          </a:prstGeom>
          <a:noFill/>
        </p:spPr>
        <p:txBody>
          <a:bodyPr wrap="square" anchor="t" lIns="36576" rIns="36576" tIns="36576" bIns="36576">
            <a:spAutoFit/>
          </a:bodyPr>
          <a:lstStyle/>
          <a:p>
            <a:pPr algn="l">
              <a:spcAft>
                <a:spcPts val="0"/>
              </a:spcAft>
            </a:pPr>
            <a:r>
              <a:rPr sz="1050" b="1">
                <a:solidFill>
                  <a:srgbClr val="172433"/>
                </a:solidFill>
                <a:latin typeface="Arial"/>
              </a:rPr>
              <a:t>responses.parse</a:t>
            </a:r>
          </a:p>
        </p:txBody>
      </p:sp>
      <p:sp>
        <p:nvSpPr>
          <p:cNvPr id="18" name="Rounded Rectangle 17"/>
          <p:cNvSpPr/>
          <p:nvPr/>
        </p:nvSpPr>
        <p:spPr>
          <a:xfrm>
            <a:off x="8714232" y="4014215"/>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07424" y="3977639"/>
            <a:ext cx="1874519" cy="274320"/>
          </a:xfrm>
          <a:prstGeom prst="rect">
            <a:avLst/>
          </a:prstGeom>
          <a:noFill/>
        </p:spPr>
        <p:txBody>
          <a:bodyPr wrap="square" anchor="t" lIns="36576" rIns="36576" tIns="36576" bIns="36576">
            <a:spAutoFit/>
          </a:bodyPr>
          <a:lstStyle/>
          <a:p>
            <a:pPr algn="l">
              <a:spcAft>
                <a:spcPts val="0"/>
              </a:spcAft>
            </a:pPr>
            <a:r>
              <a:rPr sz="1050" b="1">
                <a:solidFill>
                  <a:srgbClr val="172433"/>
                </a:solidFill>
                <a:latin typeface="Arial"/>
              </a:rPr>
              <a:t>CodeBundle</a:t>
            </a:r>
          </a:p>
        </p:txBody>
      </p:sp>
      <p:sp>
        <p:nvSpPr>
          <p:cNvPr id="20" name="Rounded Rectangle 19"/>
          <p:cNvSpPr/>
          <p:nvPr/>
        </p:nvSpPr>
        <p:spPr>
          <a:xfrm>
            <a:off x="8714232" y="4480560"/>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07424" y="4443984"/>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generated/</a:t>
            </a:r>
          </a:p>
        </p:txBody>
      </p:sp>
      <p:sp>
        <p:nvSpPr>
          <p:cNvPr id="22" name="Rounded Rectangle 21"/>
          <p:cNvSpPr/>
          <p:nvPr/>
        </p:nvSpPr>
        <p:spPr>
          <a:xfrm>
            <a:off x="8714232" y="4946904"/>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07424" y="4910328"/>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pytest + review</a:t>
            </a:r>
          </a:p>
        </p:txBody>
      </p:sp>
      <p:sp>
        <p:nvSpPr>
          <p:cNvPr id="24" name="TextBox 23"/>
          <p:cNvSpPr txBox="1"/>
          <p:nvPr/>
        </p:nvSpPr>
        <p:spPr>
          <a:xfrm>
            <a:off x="8714232" y="5468112"/>
            <a:ext cx="2148840" cy="219456"/>
          </a:xfrm>
          <a:prstGeom prst="rect">
            <a:avLst/>
          </a:prstGeom>
          <a:noFill/>
        </p:spPr>
        <p:txBody>
          <a:bodyPr wrap="square" anchor="t" lIns="36576" rIns="36576" tIns="36576" bIns="36576">
            <a:spAutoFit/>
          </a:bodyPr>
          <a:lstStyle/>
          <a:p>
            <a:pPr algn="l">
              <a:spcAft>
                <a:spcPts val="0"/>
              </a:spcAft>
            </a:pPr>
            <a:r>
              <a:rPr sz="950" b="1">
                <a:solidFill>
                  <a:srgbClr val="10B981"/>
                </a:solidFill>
                <a:latin typeface="Arial"/>
              </a:rPr>
              <a:t>Full prompt + refinement</a:t>
            </a:r>
          </a:p>
        </p:txBody>
      </p:sp>
      <p:sp>
        <p:nvSpPr>
          <p:cNvPr id="25" name="TextBox 24"/>
          <p:cNvSpPr txBox="1"/>
          <p:nvPr/>
        </p:nvSpPr>
        <p:spPr>
          <a:xfrm>
            <a:off x="8714232" y="5650992"/>
            <a:ext cx="2148840" cy="219456"/>
          </a:xfrm>
          <a:prstGeom prst="rect">
            <a:avLst/>
          </a:prstGeom>
          <a:noFill/>
        </p:spPr>
        <p:txBody>
          <a:bodyPr wrap="square" anchor="t" lIns="36576" rIns="36576" tIns="36576" bIns="36576">
            <a:spAutoFit/>
          </a:bodyPr>
          <a:lstStyle/>
          <a:p>
            <a:pPr algn="l">
              <a:spcAft>
                <a:spcPts val="0"/>
              </a:spcAft>
            </a:pPr>
            <a:r>
              <a:rPr sz="950" b="0">
                <a:solidFill>
                  <a:srgbClr val="475569"/>
                </a:solidFill>
                <a:latin typeface="Arial"/>
              </a:rPr>
              <a:t>in the lab Prompts.pdf</a:t>
            </a:r>
          </a:p>
        </p:txBody>
      </p:sp>
      <p:sp>
        <p:nvSpPr>
          <p:cNvPr id="26" name="TextBox 2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7" name="TextBox 2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8" name="TextBox 27"/>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OpenAI Python SDK</a:t>
            </a:r>
          </a:p>
        </p:txBody>
      </p:sp>
      <p:sp>
        <p:nvSpPr>
          <p:cNvPr id="29" name="TextBox 2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129</a:t>
            </a:r>
          </a:p>
        </p:txBody>
      </p:sp>
    </p:spTree>
  </p:cSld>
  <p:transition spd="fast">
    <p:fade/>
  </p:transition>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07 · MECHANISM</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How Standardise Errors and Request Logs works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665351"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5351"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1</a:t>
            </a:r>
          </a:p>
        </p:txBody>
      </p:sp>
      <p:sp>
        <p:nvSpPr>
          <p:cNvPr id="10" name="TextBox 9"/>
          <p:cNvSpPr txBox="1"/>
          <p:nvPr/>
        </p:nvSpPr>
        <p:spPr>
          <a:xfrm>
            <a:off x="859536"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Input contract</a:t>
            </a:r>
          </a:p>
        </p:txBody>
      </p:sp>
      <p:sp>
        <p:nvSpPr>
          <p:cNvPr id="11" name="TextBox 10"/>
          <p:cNvSpPr txBox="1"/>
          <p:nvPr/>
        </p:nvSpPr>
        <p:spPr>
          <a:xfrm>
            <a:off x="886968"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Create predictable error responses and trace a request from status to log event.</a:t>
            </a:r>
          </a:p>
        </p:txBody>
      </p:sp>
      <p:sp>
        <p:nvSpPr>
          <p:cNvPr id="12" name="Rounded Rectangle 11"/>
          <p:cNvSpPr/>
          <p:nvPr/>
        </p:nvSpPr>
        <p:spPr>
          <a:xfrm>
            <a:off x="3477006"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92549"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92549"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2</a:t>
            </a:r>
          </a:p>
        </p:txBody>
      </p:sp>
      <p:sp>
        <p:nvSpPr>
          <p:cNvPr id="15" name="TextBox 14"/>
          <p:cNvSpPr txBox="1"/>
          <p:nvPr/>
        </p:nvSpPr>
        <p:spPr>
          <a:xfrm>
            <a:off x="3586734"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Boundary validation</a:t>
            </a:r>
          </a:p>
        </p:txBody>
      </p:sp>
      <p:sp>
        <p:nvSpPr>
          <p:cNvPr id="16" name="TextBox 15"/>
          <p:cNvSpPr txBox="1"/>
          <p:nvPr/>
        </p:nvSpPr>
        <p:spPr>
          <a:xfrm>
            <a:off x="3614166"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Reject invalid or unauthorised input</a:t>
            </a:r>
          </a:p>
        </p:txBody>
      </p:sp>
      <p:sp>
        <p:nvSpPr>
          <p:cNvPr id="17" name="Rounded Rectangle 16"/>
          <p:cNvSpPr/>
          <p:nvPr/>
        </p:nvSpPr>
        <p:spPr>
          <a:xfrm>
            <a:off x="6204204"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119747"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9747"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3</a:t>
            </a:r>
          </a:p>
        </p:txBody>
      </p:sp>
      <p:sp>
        <p:nvSpPr>
          <p:cNvPr id="20" name="TextBox 19"/>
          <p:cNvSpPr txBox="1"/>
          <p:nvPr/>
        </p:nvSpPr>
        <p:spPr>
          <a:xfrm>
            <a:off x="6313932"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Business decision</a:t>
            </a:r>
          </a:p>
        </p:txBody>
      </p:sp>
      <p:sp>
        <p:nvSpPr>
          <p:cNvPr id="21" name="TextBox 20"/>
          <p:cNvSpPr txBox="1"/>
          <p:nvPr/>
        </p:nvSpPr>
        <p:spPr>
          <a:xfrm>
            <a:off x="6341364"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Apply one explicit rule</a:t>
            </a:r>
          </a:p>
        </p:txBody>
      </p:sp>
      <p:sp>
        <p:nvSpPr>
          <p:cNvPr id="22" name="Rounded Rectangle 21"/>
          <p:cNvSpPr/>
          <p:nvPr/>
        </p:nvSpPr>
        <p:spPr>
          <a:xfrm>
            <a:off x="8931402"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46945"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46945"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4</a:t>
            </a:r>
          </a:p>
        </p:txBody>
      </p:sp>
      <p:sp>
        <p:nvSpPr>
          <p:cNvPr id="25" name="TextBox 24"/>
          <p:cNvSpPr txBox="1"/>
          <p:nvPr/>
        </p:nvSpPr>
        <p:spPr>
          <a:xfrm>
            <a:off x="9041130"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State/evidence</a:t>
            </a:r>
          </a:p>
        </p:txBody>
      </p:sp>
      <p:sp>
        <p:nvSpPr>
          <p:cNvPr id="26" name="TextBox 25"/>
          <p:cNvSpPr txBox="1"/>
          <p:nvPr/>
        </p:nvSpPr>
        <p:spPr>
          <a:xfrm>
            <a:off x="9068562"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404 and 409 use the same envelope; each response request ID locates one log trace; secrets are absent.</a:t>
            </a:r>
          </a:p>
        </p:txBody>
      </p:sp>
      <p:sp>
        <p:nvSpPr>
          <p:cNvPr id="27" name="TextBox 26"/>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8" name="TextBox 27"/>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9" name="TextBox 2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130</a:t>
            </a:r>
          </a:p>
        </p:txBody>
      </p:sp>
    </p:spTree>
  </p:cSld>
  <p:transition spd="fast">
    <p:fade/>
  </p:transition>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07 ·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error envelope and request-ID middleware</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01952"/>
            <a:ext cx="6812280" cy="3611880"/>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194560"/>
            <a:ext cx="6144768" cy="3063240"/>
          </a:xfrm>
          <a:prstGeom prst="rect">
            <a:avLst/>
          </a:prstGeom>
          <a:noFill/>
        </p:spPr>
        <p:txBody>
          <a:bodyPr wrap="square" anchor="t" lIns="36576" rIns="36576" tIns="36576" bIns="36576">
            <a:spAutoFit/>
          </a:bodyPr>
          <a:lstStyle/>
          <a:p>
            <a:pPr algn="l">
              <a:spcAft>
                <a:spcPts val="0"/>
              </a:spcAft>
            </a:pPr>
            <a:r>
              <a:rPr sz="1250" b="0">
                <a:solidFill>
                  <a:srgbClr val="A7F3D0"/>
                </a:solidFill>
                <a:latin typeface="Consolas"/>
              </a:rPr>
              <a:t>REQUEST
  lab: 07
  objective: Create predictable error responses and trace a request
             from status to log event.
EXPECTED EVIDENCE
  artifact: error envelope and request-ID middleware
  codes: A5, A7
  status: verified</a:t>
            </a:r>
          </a:p>
        </p:txBody>
      </p:sp>
      <p:sp>
        <p:nvSpPr>
          <p:cNvPr id="9" name="Rounded Rectangle 8"/>
          <p:cNvSpPr/>
          <p:nvPr/>
        </p:nvSpPr>
        <p:spPr>
          <a:xfrm>
            <a:off x="7882127" y="1901952"/>
            <a:ext cx="3493008" cy="3611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2212848"/>
            <a:ext cx="2880360" cy="310896"/>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ASSESSMENT BRIDGE</a:t>
            </a:r>
          </a:p>
        </p:txBody>
      </p:sp>
      <p:sp>
        <p:nvSpPr>
          <p:cNvPr id="11" name="TextBox 10"/>
          <p:cNvSpPr txBox="1"/>
          <p:nvPr/>
        </p:nvSpPr>
        <p:spPr>
          <a:xfrm>
            <a:off x="8193024" y="2761488"/>
            <a:ext cx="2834640" cy="1051560"/>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Ability codes
A5, A7</a:t>
            </a:r>
          </a:p>
        </p:txBody>
      </p:sp>
      <p:sp>
        <p:nvSpPr>
          <p:cNvPr id="12" name="TextBox 11"/>
          <p:cNvSpPr txBox="1"/>
          <p:nvPr/>
        </p:nvSpPr>
        <p:spPr>
          <a:xfrm>
            <a:off x="8193024" y="4160520"/>
            <a:ext cx="2788920" cy="685800"/>
          </a:xfrm>
          <a:prstGeom prst="rect">
            <a:avLst/>
          </a:prstGeom>
          <a:noFill/>
        </p:spPr>
        <p:txBody>
          <a:bodyPr wrap="square" anchor="t" lIns="36576" rIns="36576" tIns="36576" bIns="36576">
            <a:spAutoFit/>
          </a:bodyPr>
          <a:lstStyle/>
          <a:p>
            <a:pPr algn="l">
              <a:spcAft>
                <a:spcPts val="0"/>
              </a:spcAft>
            </a:pPr>
            <a:r>
              <a:rPr sz="1100" b="0">
                <a:solidFill>
                  <a:srgbClr val="475569"/>
                </a:solidFill>
                <a:latin typeface="Arial"/>
              </a:rPr>
              <a:t>Capture a screenshot, terminal output or test result that proves the acceptance criterion.</a:t>
            </a:r>
          </a:p>
        </p:txBody>
      </p:sp>
      <p:sp>
        <p:nvSpPr>
          <p:cNvPr id="13" name="TextBox 1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4" name="TextBox 1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5" name="TextBox 14"/>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131</a:t>
            </a:r>
          </a:p>
        </p:txBody>
      </p:sp>
    </p:spTree>
  </p:cSld>
  <p:transition spd="fast">
    <p:fade/>
  </p:transition>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07 · VERIFY</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Acceptance and diagnosis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74519"/>
            <a:ext cx="5166360" cy="3611880"/>
          </a:xfrm>
          <a:prstGeom prst="roundRect">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240280"/>
            <a:ext cx="4526280" cy="310896"/>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PASS WHEN</a:t>
            </a:r>
          </a:p>
        </p:txBody>
      </p:sp>
      <p:sp>
        <p:nvSpPr>
          <p:cNvPr id="9" name="TextBox 8"/>
          <p:cNvSpPr txBox="1"/>
          <p:nvPr/>
        </p:nvSpPr>
        <p:spPr>
          <a:xfrm>
            <a:off x="1078992" y="2798064"/>
            <a:ext cx="4498848" cy="1600200"/>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404 and 409 use the same envelope; each response request ID locates one log trace; secrets are absent.</a:t>
            </a:r>
          </a:p>
        </p:txBody>
      </p:sp>
      <p:sp>
        <p:nvSpPr>
          <p:cNvPr id="10" name="Rounded Rectangle 9"/>
          <p:cNvSpPr/>
          <p:nvPr/>
        </p:nvSpPr>
        <p:spPr>
          <a:xfrm>
            <a:off x="6217920" y="1874519"/>
            <a:ext cx="5148072" cy="3611880"/>
          </a:xfrm>
          <a:prstGeom prst="roundRect">
            <a:avLst/>
          </a:prstGeom>
          <a:solidFill>
            <a:srgbClr val="FEF2F2"/>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56248" y="2240280"/>
            <a:ext cx="4480560" cy="310896"/>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DIAGNOSE</a:t>
            </a:r>
          </a:p>
        </p:txBody>
      </p:sp>
      <p:sp>
        <p:nvSpPr>
          <p:cNvPr id="12" name="TextBox 11"/>
          <p:cNvSpPr txBox="1"/>
          <p:nvPr/>
        </p:nvSpPr>
        <p:spPr>
          <a:xfrm>
            <a:off x="6556248" y="277063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1. Inspect HTTP status and response body</a:t>
            </a:r>
          </a:p>
        </p:txBody>
      </p:sp>
      <p:sp>
        <p:nvSpPr>
          <p:cNvPr id="13" name="TextBox 12"/>
          <p:cNvSpPr txBox="1"/>
          <p:nvPr/>
        </p:nvSpPr>
        <p:spPr>
          <a:xfrm>
            <a:off x="6556248" y="327355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2. Check request fields and headers</a:t>
            </a:r>
          </a:p>
        </p:txBody>
      </p:sp>
      <p:sp>
        <p:nvSpPr>
          <p:cNvPr id="14" name="TextBox 13"/>
          <p:cNvSpPr txBox="1"/>
          <p:nvPr/>
        </p:nvSpPr>
        <p:spPr>
          <a:xfrm>
            <a:off x="6556248" y="377647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3. Follow request ID into logs</a:t>
            </a:r>
          </a:p>
        </p:txBody>
      </p:sp>
      <p:sp>
        <p:nvSpPr>
          <p:cNvPr id="15" name="TextBox 14"/>
          <p:cNvSpPr txBox="1"/>
          <p:nvPr/>
        </p:nvSpPr>
        <p:spPr>
          <a:xfrm>
            <a:off x="6556248" y="427939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4. Re-run the smallest failing test</a:t>
            </a:r>
          </a:p>
        </p:txBody>
      </p:sp>
      <p:sp>
        <p:nvSpPr>
          <p:cNvPr id="16" name="TextBox 1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7" name="TextBox 1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8" name="TextBox 17"/>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132</a:t>
            </a:r>
          </a:p>
        </p:txBody>
      </p:sp>
    </p:spTree>
  </p:cSld>
  <p:transition spd="fast">
    <p:fade/>
  </p:transition>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LAB 07 · CONTRACT REVIEW</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Prompt output must preserve the API boundary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02352" cy="3730752"/>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176272"/>
            <a:ext cx="4434840" cy="420624"/>
          </a:xfrm>
          <a:prstGeom prst="rect">
            <a:avLst/>
          </a:prstGeom>
          <a:noFill/>
        </p:spPr>
        <p:txBody>
          <a:bodyPr wrap="square" anchor="t" lIns="36576" rIns="36576" tIns="36576" bIns="36576">
            <a:spAutoFit/>
          </a:bodyPr>
          <a:lstStyle/>
          <a:p>
            <a:pPr algn="l">
              <a:spcAft>
                <a:spcPts val="0"/>
              </a:spcAft>
            </a:pPr>
            <a:r>
              <a:rPr sz="1000" b="1">
                <a:solidFill>
                  <a:srgbClr val="D1FAE5"/>
                </a:solidFill>
                <a:latin typeface="Arial"/>
              </a:rPr>
              <a:t>TARGET FILES</a:t>
            </a:r>
          </a:p>
        </p:txBody>
      </p:sp>
      <p:sp>
        <p:nvSpPr>
          <p:cNvPr id="9" name="TextBox 8"/>
          <p:cNvSpPr txBox="1"/>
          <p:nvPr/>
        </p:nvSpPr>
        <p:spPr>
          <a:xfrm>
            <a:off x="1078992" y="2743200"/>
            <a:ext cx="4434840" cy="420624"/>
          </a:xfrm>
          <a:prstGeom prst="rect">
            <a:avLst/>
          </a:prstGeom>
          <a:noFill/>
        </p:spPr>
        <p:txBody>
          <a:bodyPr wrap="square" anchor="t" lIns="36576" rIns="36576" tIns="36576" bIns="36576">
            <a:spAutoFit/>
          </a:bodyPr>
          <a:lstStyle/>
          <a:p>
            <a:pPr algn="l">
              <a:spcAft>
                <a:spcPts val="0"/>
              </a:spcAft>
            </a:pPr>
            <a:r>
              <a:rPr sz="1100" b="0">
                <a:solidFill>
                  <a:srgbClr val="D1FAE5"/>
                </a:solidFill>
                <a:latin typeface="Consolas"/>
              </a:rPr>
              <a:t>app/main.py</a:t>
            </a:r>
          </a:p>
        </p:txBody>
      </p:sp>
      <p:sp>
        <p:nvSpPr>
          <p:cNvPr id="10" name="TextBox 9"/>
          <p:cNvSpPr txBox="1"/>
          <p:nvPr/>
        </p:nvSpPr>
        <p:spPr>
          <a:xfrm>
            <a:off x="1078992" y="3310128"/>
            <a:ext cx="4434840" cy="420624"/>
          </a:xfrm>
          <a:prstGeom prst="rect">
            <a:avLst/>
          </a:prstGeom>
          <a:noFill/>
        </p:spPr>
        <p:txBody>
          <a:bodyPr wrap="square" anchor="t" lIns="36576" rIns="36576" tIns="36576" bIns="36576">
            <a:spAutoFit/>
          </a:bodyPr>
          <a:lstStyle/>
          <a:p>
            <a:pPr algn="l">
              <a:spcAft>
                <a:spcPts val="0"/>
              </a:spcAft>
            </a:pPr>
            <a:r>
              <a:rPr sz="1100" b="0">
                <a:solidFill>
                  <a:srgbClr val="D1FAE5"/>
                </a:solidFill>
                <a:latin typeface="Consolas"/>
              </a:rPr>
              <a:t>app/errors.py</a:t>
            </a:r>
          </a:p>
        </p:txBody>
      </p:sp>
      <p:sp>
        <p:nvSpPr>
          <p:cNvPr id="11" name="TextBox 10"/>
          <p:cNvSpPr txBox="1"/>
          <p:nvPr/>
        </p:nvSpPr>
        <p:spPr>
          <a:xfrm>
            <a:off x="1078992" y="3877056"/>
            <a:ext cx="4434840" cy="420624"/>
          </a:xfrm>
          <a:prstGeom prst="rect">
            <a:avLst/>
          </a:prstGeom>
          <a:noFill/>
        </p:spPr>
        <p:txBody>
          <a:bodyPr wrap="square" anchor="t" lIns="36576" rIns="36576" tIns="36576" bIns="36576">
            <a:spAutoFit/>
          </a:bodyPr>
          <a:lstStyle/>
          <a:p>
            <a:pPr algn="l">
              <a:spcAft>
                <a:spcPts val="0"/>
              </a:spcAft>
            </a:pPr>
            <a:r>
              <a:rPr sz="1100" b="0">
                <a:solidFill>
                  <a:srgbClr val="D1FAE5"/>
                </a:solidFill>
                <a:latin typeface="Consolas"/>
              </a:rPr>
              <a:t>tests/test_errors.py</a:t>
            </a:r>
          </a:p>
        </p:txBody>
      </p:sp>
      <p:sp>
        <p:nvSpPr>
          <p:cNvPr id="12" name="Rounded Rectangle 11"/>
          <p:cNvSpPr/>
          <p:nvPr/>
        </p:nvSpPr>
        <p:spPr>
          <a:xfrm>
            <a:off x="6144768" y="1847088"/>
            <a:ext cx="5230368" cy="373075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2176272"/>
            <a:ext cx="4526280" cy="237744"/>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ACCEPTANCE</a:t>
            </a:r>
          </a:p>
        </p:txBody>
      </p:sp>
      <p:sp>
        <p:nvSpPr>
          <p:cNvPr id="14" name="TextBox 13"/>
          <p:cNvSpPr txBox="1"/>
          <p:nvPr/>
        </p:nvSpPr>
        <p:spPr>
          <a:xfrm>
            <a:off x="6473952" y="2578608"/>
            <a:ext cx="4526280" cy="1417320"/>
          </a:xfrm>
          <a:prstGeom prst="rect">
            <a:avLst/>
          </a:prstGeom>
          <a:noFill/>
        </p:spPr>
        <p:txBody>
          <a:bodyPr wrap="square" anchor="t" lIns="36576" rIns="36576" tIns="36576" bIns="36576">
            <a:spAutoFit/>
          </a:bodyPr>
          <a:lstStyle/>
          <a:p>
            <a:pPr algn="l">
              <a:spcAft>
                <a:spcPts val="0"/>
              </a:spcAft>
            </a:pPr>
            <a:r>
              <a:rPr sz="1500" b="1">
                <a:solidFill>
                  <a:srgbClr val="172433"/>
                </a:solidFill>
                <a:latin typeface="Arial"/>
              </a:rPr>
              <a:t>404 and 409 use the same envelope; each response request ID locates one log trace; secrets are absent.</a:t>
            </a:r>
          </a:p>
        </p:txBody>
      </p:sp>
      <p:sp>
        <p:nvSpPr>
          <p:cNvPr id="15" name="TextBox 14"/>
          <p:cNvSpPr txBox="1"/>
          <p:nvPr/>
        </p:nvSpPr>
        <p:spPr>
          <a:xfrm>
            <a:off x="6473952" y="4279392"/>
            <a:ext cx="4526280" cy="237744"/>
          </a:xfrm>
          <a:prstGeom prst="rect">
            <a:avLst/>
          </a:prstGeom>
          <a:noFill/>
        </p:spPr>
        <p:txBody>
          <a:bodyPr wrap="square" anchor="t" lIns="36576" rIns="36576" tIns="36576" bIns="36576">
            <a:spAutoFit/>
          </a:bodyPr>
          <a:lstStyle/>
          <a:p>
            <a:pPr algn="l">
              <a:spcAft>
                <a:spcPts val="0"/>
              </a:spcAft>
            </a:pPr>
            <a:r>
              <a:rPr sz="1000" b="1">
                <a:solidFill>
                  <a:srgbClr val="7C3AED"/>
                </a:solidFill>
                <a:latin typeface="Arial"/>
              </a:rPr>
              <a:t>ABILITY TRACE</a:t>
            </a:r>
          </a:p>
        </p:txBody>
      </p:sp>
      <p:sp>
        <p:nvSpPr>
          <p:cNvPr id="16" name="TextBox 15"/>
          <p:cNvSpPr txBox="1"/>
          <p:nvPr/>
        </p:nvSpPr>
        <p:spPr>
          <a:xfrm>
            <a:off x="6473952" y="4645152"/>
            <a:ext cx="4526280" cy="438912"/>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A5, A7</a:t>
            </a:r>
          </a:p>
        </p:txBody>
      </p:sp>
      <p:sp>
        <p:nvSpPr>
          <p:cNvPr id="17" name="TextBox 16"/>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8" name="TextBox 17"/>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9" name="TextBox 18"/>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OpenAPI contract + lab prompt</a:t>
            </a:r>
          </a:p>
        </p:txBody>
      </p:sp>
      <p:sp>
        <p:nvSpPr>
          <p:cNvPr id="20" name="TextBox 19"/>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133</a:t>
            </a:r>
          </a:p>
        </p:txBody>
      </p:sp>
    </p:spTree>
  </p:cSld>
  <p:transition spd="fast">
    <p:fade/>
  </p:transition>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08 · SCENARIO</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Test and Debug the API</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74519"/>
            <a:ext cx="6675120" cy="3611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212848"/>
            <a:ext cx="6035040" cy="34747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DESIGN CHALLENGE</a:t>
            </a:r>
          </a:p>
        </p:txBody>
      </p:sp>
      <p:sp>
        <p:nvSpPr>
          <p:cNvPr id="9" name="TextBox 8"/>
          <p:cNvSpPr txBox="1"/>
          <p:nvPr/>
        </p:nvSpPr>
        <p:spPr>
          <a:xfrm>
            <a:off x="1078992" y="2743200"/>
            <a:ext cx="5989320" cy="1097280"/>
          </a:xfrm>
          <a:prstGeom prst="rect">
            <a:avLst/>
          </a:prstGeom>
          <a:noFill/>
        </p:spPr>
        <p:txBody>
          <a:bodyPr wrap="square" anchor="t" lIns="36576" rIns="36576" tIns="36576" bIns="36576">
            <a:spAutoFit/>
          </a:bodyPr>
          <a:lstStyle/>
          <a:p>
            <a:pPr algn="l">
              <a:spcAft>
                <a:spcPts val="0"/>
              </a:spcAft>
            </a:pPr>
            <a:r>
              <a:rPr sz="2200" b="1">
                <a:solidFill>
                  <a:srgbClr val="172433"/>
                </a:solidFill>
                <a:latin typeface="Arial"/>
              </a:rPr>
              <a:t>Build a pytest regression suite, reproduce a seeded defect and verify the fix.</a:t>
            </a:r>
          </a:p>
        </p:txBody>
      </p:sp>
      <p:sp>
        <p:nvSpPr>
          <p:cNvPr id="10" name="TextBox 9"/>
          <p:cNvSpPr txBox="1"/>
          <p:nvPr/>
        </p:nvSpPr>
        <p:spPr>
          <a:xfrm>
            <a:off x="1078992" y="4187952"/>
            <a:ext cx="5989320" cy="731520"/>
          </a:xfrm>
          <a:prstGeom prst="rect">
            <a:avLst/>
          </a:prstGeom>
          <a:noFill/>
        </p:spPr>
        <p:txBody>
          <a:bodyPr wrap="square" anchor="t" lIns="36576" rIns="36576" tIns="36576" bIns="36576">
            <a:spAutoFit/>
          </a:bodyPr>
          <a:lstStyle/>
          <a:p>
            <a:pPr algn="l">
              <a:spcAft>
                <a:spcPts val="0"/>
              </a:spcAft>
            </a:pPr>
            <a:r>
              <a:rPr sz="1400" b="0">
                <a:solidFill>
                  <a:srgbClr val="475569"/>
                </a:solidFill>
                <a:latin typeface="Arial"/>
              </a:rPr>
              <a:t>Build: tests/test_commerce.py with success and failure coverage</a:t>
            </a:r>
          </a:p>
        </p:txBody>
      </p:sp>
      <p:sp>
        <p:nvSpPr>
          <p:cNvPr id="11" name="Rounded Rectangle 10"/>
          <p:cNvSpPr/>
          <p:nvPr/>
        </p:nvSpPr>
        <p:spPr>
          <a:xfrm>
            <a:off x="7754112" y="1874519"/>
            <a:ext cx="3611880" cy="3611880"/>
          </a:xfrm>
          <a:prstGeom prst="roundRect">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19872" y="2249424"/>
            <a:ext cx="2880360" cy="274320"/>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TOOLS</a:t>
            </a:r>
          </a:p>
        </p:txBody>
      </p:sp>
      <p:sp>
        <p:nvSpPr>
          <p:cNvPr id="13" name="TextBox 12"/>
          <p:cNvSpPr txBox="1"/>
          <p:nvPr/>
        </p:nvSpPr>
        <p:spPr>
          <a:xfrm>
            <a:off x="8119872" y="2724912"/>
            <a:ext cx="2834640" cy="914400"/>
          </a:xfrm>
          <a:prstGeom prst="rect">
            <a:avLst/>
          </a:prstGeom>
          <a:noFill/>
        </p:spPr>
        <p:txBody>
          <a:bodyPr wrap="square" anchor="t" lIns="36576" rIns="36576" tIns="36576" bIns="36576">
            <a:spAutoFit/>
          </a:bodyPr>
          <a:lstStyle/>
          <a:p>
            <a:pPr algn="l">
              <a:spcAft>
                <a:spcPts val="0"/>
              </a:spcAft>
            </a:pPr>
            <a:r>
              <a:rPr sz="1600" b="1">
                <a:solidFill>
                  <a:srgbClr val="172433"/>
                </a:solidFill>
                <a:latin typeface="Arial"/>
              </a:rPr>
              <a:t>pytest, FastAPI TestClient, VS Code debugger, OpenAI Python SDK</a:t>
            </a:r>
          </a:p>
        </p:txBody>
      </p:sp>
      <p:sp>
        <p:nvSpPr>
          <p:cNvPr id="14" name="TextBox 13"/>
          <p:cNvSpPr txBox="1"/>
          <p:nvPr/>
        </p:nvSpPr>
        <p:spPr>
          <a:xfrm>
            <a:off x="8119872" y="3886200"/>
            <a:ext cx="2834640" cy="786384"/>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Detailed procedure: Learner Guide + lab README</a:t>
            </a:r>
          </a:p>
        </p:txBody>
      </p:sp>
      <p:sp>
        <p:nvSpPr>
          <p:cNvPr id="15" name="TextBox 14"/>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6" name="TextBox 15"/>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7" name="TextBox 16"/>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134</a:t>
            </a:r>
          </a:p>
        </p:txBody>
      </p:sp>
    </p:spTree>
  </p:cSld>
  <p:transition spd="fast">
    <p:fade/>
  </p:transition>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LAB 08 · PROMPT ARTIFACT</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Prompt submitted by ai_vibe.py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7452360" cy="4005072"/>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121408"/>
            <a:ext cx="6858000" cy="274320"/>
          </a:xfrm>
          <a:prstGeom prst="rect">
            <a:avLst/>
          </a:prstGeom>
          <a:noFill/>
        </p:spPr>
        <p:txBody>
          <a:bodyPr wrap="square" anchor="t" lIns="36576" rIns="36576" tIns="36576" bIns="36576">
            <a:spAutoFit/>
          </a:bodyPr>
          <a:lstStyle/>
          <a:p>
            <a:pPr algn="l">
              <a:spcAft>
                <a:spcPts val="0"/>
              </a:spcAft>
            </a:pPr>
            <a:r>
              <a:rPr sz="1000" b="1">
                <a:solidFill>
                  <a:srgbClr val="06B6D4"/>
                </a:solidFill>
                <a:latin typeface="Arial"/>
              </a:rPr>
              <a:t>LEARNER PROMPT</a:t>
            </a:r>
          </a:p>
        </p:txBody>
      </p:sp>
      <p:sp>
        <p:nvSpPr>
          <p:cNvPr id="9" name="TextBox 8"/>
          <p:cNvSpPr txBox="1"/>
          <p:nvPr/>
        </p:nvSpPr>
        <p:spPr>
          <a:xfrm>
            <a:off x="1051560" y="2596896"/>
            <a:ext cx="6821424" cy="2880360"/>
          </a:xfrm>
          <a:prstGeom prst="rect">
            <a:avLst/>
          </a:prstGeom>
          <a:noFill/>
        </p:spPr>
        <p:txBody>
          <a:bodyPr wrap="square" anchor="t" lIns="36576" rIns="36576" tIns="36576" bIns="36576">
            <a:spAutoFit/>
          </a:bodyPr>
          <a:lstStyle/>
          <a:p>
            <a:pPr algn="l">
              <a:spcAft>
                <a:spcPts val="0"/>
              </a:spcAft>
            </a:pPr>
            <a:r>
              <a:rPr sz="1320" b="0">
                <a:solidFill>
                  <a:srgbClr val="D1FAE5"/>
                </a:solidFill>
                <a:latin typeface="Consolas"/>
              </a:rPr>
              <a:t>You are working on Lab 08 of a Northstar Commerce API. Using the seeded failing cases in mock-data.json, produce a focused pytest regression suite and a debug plan. Reproduce the failure with the smallest request, assert response and persisted state, identify the likely boundary, and propose the minimum patch without weakening existing acceptance tests.</a:t>
            </a:r>
          </a:p>
        </p:txBody>
      </p:sp>
      <p:sp>
        <p:nvSpPr>
          <p:cNvPr id="10" name="Rounded Rectangle 9"/>
          <p:cNvSpPr/>
          <p:nvPr/>
        </p:nvSpPr>
        <p:spPr>
          <a:xfrm>
            <a:off x="8439912" y="1847088"/>
            <a:ext cx="2944368" cy="400507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14232" y="2130552"/>
            <a:ext cx="2377440" cy="256032"/>
          </a:xfrm>
          <a:prstGeom prst="rect">
            <a:avLst/>
          </a:prstGeom>
          <a:noFill/>
        </p:spPr>
        <p:txBody>
          <a:bodyPr wrap="square" anchor="t" lIns="36576" rIns="36576" tIns="36576" bIns="36576">
            <a:spAutoFit/>
          </a:bodyPr>
          <a:lstStyle/>
          <a:p>
            <a:pPr algn="l">
              <a:spcAft>
                <a:spcPts val="0"/>
              </a:spcAft>
            </a:pPr>
            <a:r>
              <a:rPr sz="950" b="1">
                <a:solidFill>
                  <a:srgbClr val="7C3AED"/>
                </a:solidFill>
                <a:latin typeface="Arial"/>
              </a:rPr>
              <a:t>PYTHON SDK ENVELOPE</a:t>
            </a:r>
          </a:p>
        </p:txBody>
      </p:sp>
      <p:sp>
        <p:nvSpPr>
          <p:cNvPr id="12" name="Rounded Rectangle 11"/>
          <p:cNvSpPr/>
          <p:nvPr/>
        </p:nvSpPr>
        <p:spPr>
          <a:xfrm>
            <a:off x="8714232" y="2615184"/>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07424" y="2578608"/>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Prompts.pdf</a:t>
            </a:r>
          </a:p>
        </p:txBody>
      </p:sp>
      <p:sp>
        <p:nvSpPr>
          <p:cNvPr id="14" name="Rounded Rectangle 13"/>
          <p:cNvSpPr/>
          <p:nvPr/>
        </p:nvSpPr>
        <p:spPr>
          <a:xfrm>
            <a:off x="8714232" y="3081528"/>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07424" y="3044952"/>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mock-data.json</a:t>
            </a:r>
          </a:p>
        </p:txBody>
      </p:sp>
      <p:sp>
        <p:nvSpPr>
          <p:cNvPr id="16" name="Rounded Rectangle 15"/>
          <p:cNvSpPr/>
          <p:nvPr/>
        </p:nvSpPr>
        <p:spPr>
          <a:xfrm>
            <a:off x="8714232" y="3547872"/>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07424" y="3511296"/>
            <a:ext cx="1874519" cy="274320"/>
          </a:xfrm>
          <a:prstGeom prst="rect">
            <a:avLst/>
          </a:prstGeom>
          <a:noFill/>
        </p:spPr>
        <p:txBody>
          <a:bodyPr wrap="square" anchor="t" lIns="36576" rIns="36576" tIns="36576" bIns="36576">
            <a:spAutoFit/>
          </a:bodyPr>
          <a:lstStyle/>
          <a:p>
            <a:pPr algn="l">
              <a:spcAft>
                <a:spcPts val="0"/>
              </a:spcAft>
            </a:pPr>
            <a:r>
              <a:rPr sz="1050" b="1">
                <a:solidFill>
                  <a:srgbClr val="172433"/>
                </a:solidFill>
                <a:latin typeface="Arial"/>
              </a:rPr>
              <a:t>responses.parse</a:t>
            </a:r>
          </a:p>
        </p:txBody>
      </p:sp>
      <p:sp>
        <p:nvSpPr>
          <p:cNvPr id="18" name="Rounded Rectangle 17"/>
          <p:cNvSpPr/>
          <p:nvPr/>
        </p:nvSpPr>
        <p:spPr>
          <a:xfrm>
            <a:off x="8714232" y="4014215"/>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07424" y="3977639"/>
            <a:ext cx="1874519" cy="274320"/>
          </a:xfrm>
          <a:prstGeom prst="rect">
            <a:avLst/>
          </a:prstGeom>
          <a:noFill/>
        </p:spPr>
        <p:txBody>
          <a:bodyPr wrap="square" anchor="t" lIns="36576" rIns="36576" tIns="36576" bIns="36576">
            <a:spAutoFit/>
          </a:bodyPr>
          <a:lstStyle/>
          <a:p>
            <a:pPr algn="l">
              <a:spcAft>
                <a:spcPts val="0"/>
              </a:spcAft>
            </a:pPr>
            <a:r>
              <a:rPr sz="1050" b="1">
                <a:solidFill>
                  <a:srgbClr val="172433"/>
                </a:solidFill>
                <a:latin typeface="Arial"/>
              </a:rPr>
              <a:t>CodeBundle</a:t>
            </a:r>
          </a:p>
        </p:txBody>
      </p:sp>
      <p:sp>
        <p:nvSpPr>
          <p:cNvPr id="20" name="Rounded Rectangle 19"/>
          <p:cNvSpPr/>
          <p:nvPr/>
        </p:nvSpPr>
        <p:spPr>
          <a:xfrm>
            <a:off x="8714232" y="4480560"/>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07424" y="4443984"/>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generated/</a:t>
            </a:r>
          </a:p>
        </p:txBody>
      </p:sp>
      <p:sp>
        <p:nvSpPr>
          <p:cNvPr id="22" name="Rounded Rectangle 21"/>
          <p:cNvSpPr/>
          <p:nvPr/>
        </p:nvSpPr>
        <p:spPr>
          <a:xfrm>
            <a:off x="8714232" y="4946904"/>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07424" y="4910328"/>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pytest + review</a:t>
            </a:r>
          </a:p>
        </p:txBody>
      </p:sp>
      <p:sp>
        <p:nvSpPr>
          <p:cNvPr id="24" name="TextBox 23"/>
          <p:cNvSpPr txBox="1"/>
          <p:nvPr/>
        </p:nvSpPr>
        <p:spPr>
          <a:xfrm>
            <a:off x="8714232" y="5468112"/>
            <a:ext cx="2148840" cy="219456"/>
          </a:xfrm>
          <a:prstGeom prst="rect">
            <a:avLst/>
          </a:prstGeom>
          <a:noFill/>
        </p:spPr>
        <p:txBody>
          <a:bodyPr wrap="square" anchor="t" lIns="36576" rIns="36576" tIns="36576" bIns="36576">
            <a:spAutoFit/>
          </a:bodyPr>
          <a:lstStyle/>
          <a:p>
            <a:pPr algn="l">
              <a:spcAft>
                <a:spcPts val="0"/>
              </a:spcAft>
            </a:pPr>
            <a:r>
              <a:rPr sz="950" b="1">
                <a:solidFill>
                  <a:srgbClr val="10B981"/>
                </a:solidFill>
                <a:latin typeface="Arial"/>
              </a:rPr>
              <a:t>Full prompt + refinement</a:t>
            </a:r>
          </a:p>
        </p:txBody>
      </p:sp>
      <p:sp>
        <p:nvSpPr>
          <p:cNvPr id="25" name="TextBox 24"/>
          <p:cNvSpPr txBox="1"/>
          <p:nvPr/>
        </p:nvSpPr>
        <p:spPr>
          <a:xfrm>
            <a:off x="8714232" y="5650992"/>
            <a:ext cx="2148840" cy="219456"/>
          </a:xfrm>
          <a:prstGeom prst="rect">
            <a:avLst/>
          </a:prstGeom>
          <a:noFill/>
        </p:spPr>
        <p:txBody>
          <a:bodyPr wrap="square" anchor="t" lIns="36576" rIns="36576" tIns="36576" bIns="36576">
            <a:spAutoFit/>
          </a:bodyPr>
          <a:lstStyle/>
          <a:p>
            <a:pPr algn="l">
              <a:spcAft>
                <a:spcPts val="0"/>
              </a:spcAft>
            </a:pPr>
            <a:r>
              <a:rPr sz="950" b="0">
                <a:solidFill>
                  <a:srgbClr val="475569"/>
                </a:solidFill>
                <a:latin typeface="Arial"/>
              </a:rPr>
              <a:t>in the lab Prompts.pdf</a:t>
            </a:r>
          </a:p>
        </p:txBody>
      </p:sp>
      <p:sp>
        <p:nvSpPr>
          <p:cNvPr id="26" name="TextBox 2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7" name="TextBox 2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8" name="TextBox 27"/>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OpenAI Python SDK</a:t>
            </a:r>
          </a:p>
        </p:txBody>
      </p:sp>
      <p:sp>
        <p:nvSpPr>
          <p:cNvPr id="29" name="TextBox 2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135</a:t>
            </a:r>
          </a:p>
        </p:txBody>
      </p:sp>
    </p:spTree>
  </p:cSld>
  <p:transition spd="fast">
    <p:fade/>
  </p:transition>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08 · MECHANISM</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How Test and Debug the API works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665351"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5351"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1</a:t>
            </a:r>
          </a:p>
        </p:txBody>
      </p:sp>
      <p:sp>
        <p:nvSpPr>
          <p:cNvPr id="10" name="TextBox 9"/>
          <p:cNvSpPr txBox="1"/>
          <p:nvPr/>
        </p:nvSpPr>
        <p:spPr>
          <a:xfrm>
            <a:off x="859536"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Input contract</a:t>
            </a:r>
          </a:p>
        </p:txBody>
      </p:sp>
      <p:sp>
        <p:nvSpPr>
          <p:cNvPr id="11" name="TextBox 10"/>
          <p:cNvSpPr txBox="1"/>
          <p:nvPr/>
        </p:nvSpPr>
        <p:spPr>
          <a:xfrm>
            <a:off x="886968"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Build a pytest regression suite, reproduce a seeded defect and verify the fix.</a:t>
            </a:r>
          </a:p>
        </p:txBody>
      </p:sp>
      <p:sp>
        <p:nvSpPr>
          <p:cNvPr id="12" name="Rounded Rectangle 11"/>
          <p:cNvSpPr/>
          <p:nvPr/>
        </p:nvSpPr>
        <p:spPr>
          <a:xfrm>
            <a:off x="3477006"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92549"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92549"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2</a:t>
            </a:r>
          </a:p>
        </p:txBody>
      </p:sp>
      <p:sp>
        <p:nvSpPr>
          <p:cNvPr id="15" name="TextBox 14"/>
          <p:cNvSpPr txBox="1"/>
          <p:nvPr/>
        </p:nvSpPr>
        <p:spPr>
          <a:xfrm>
            <a:off x="3586734"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Boundary validation</a:t>
            </a:r>
          </a:p>
        </p:txBody>
      </p:sp>
      <p:sp>
        <p:nvSpPr>
          <p:cNvPr id="16" name="TextBox 15"/>
          <p:cNvSpPr txBox="1"/>
          <p:nvPr/>
        </p:nvSpPr>
        <p:spPr>
          <a:xfrm>
            <a:off x="3614166"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Reject invalid or unauthorised input</a:t>
            </a:r>
          </a:p>
        </p:txBody>
      </p:sp>
      <p:sp>
        <p:nvSpPr>
          <p:cNvPr id="17" name="Rounded Rectangle 16"/>
          <p:cNvSpPr/>
          <p:nvPr/>
        </p:nvSpPr>
        <p:spPr>
          <a:xfrm>
            <a:off x="6204204"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119747"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9747"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3</a:t>
            </a:r>
          </a:p>
        </p:txBody>
      </p:sp>
      <p:sp>
        <p:nvSpPr>
          <p:cNvPr id="20" name="TextBox 19"/>
          <p:cNvSpPr txBox="1"/>
          <p:nvPr/>
        </p:nvSpPr>
        <p:spPr>
          <a:xfrm>
            <a:off x="6313932"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Business decision</a:t>
            </a:r>
          </a:p>
        </p:txBody>
      </p:sp>
      <p:sp>
        <p:nvSpPr>
          <p:cNvPr id="21" name="TextBox 20"/>
          <p:cNvSpPr txBox="1"/>
          <p:nvPr/>
        </p:nvSpPr>
        <p:spPr>
          <a:xfrm>
            <a:off x="6341364"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Apply one explicit rule</a:t>
            </a:r>
          </a:p>
        </p:txBody>
      </p:sp>
      <p:sp>
        <p:nvSpPr>
          <p:cNvPr id="22" name="Rounded Rectangle 21"/>
          <p:cNvSpPr/>
          <p:nvPr/>
        </p:nvSpPr>
        <p:spPr>
          <a:xfrm>
            <a:off x="8931402"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46945"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46945"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4</a:t>
            </a:r>
          </a:p>
        </p:txBody>
      </p:sp>
      <p:sp>
        <p:nvSpPr>
          <p:cNvPr id="25" name="TextBox 24"/>
          <p:cNvSpPr txBox="1"/>
          <p:nvPr/>
        </p:nvSpPr>
        <p:spPr>
          <a:xfrm>
            <a:off x="9041130"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State/evidence</a:t>
            </a:r>
          </a:p>
        </p:txBody>
      </p:sp>
      <p:sp>
        <p:nvSpPr>
          <p:cNvPr id="26" name="TextBox 25"/>
          <p:cNvSpPr txBox="1"/>
          <p:nvPr/>
        </p:nvSpPr>
        <p:spPr>
          <a:xfrm>
            <a:off x="9068562"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The seeded test fails before the fix; the full suite passes after it; the regression assertion remains.</a:t>
            </a:r>
          </a:p>
        </p:txBody>
      </p:sp>
      <p:sp>
        <p:nvSpPr>
          <p:cNvPr id="27" name="TextBox 26"/>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8" name="TextBox 27"/>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9" name="TextBox 2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136</a:t>
            </a:r>
          </a:p>
        </p:txBody>
      </p:sp>
    </p:spTree>
  </p:cSld>
  <p:transition spd="fast">
    <p:fade/>
  </p:transition>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08 ·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tests/test_commerce.py with success and failure coverage</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01952"/>
            <a:ext cx="6812280" cy="3611880"/>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194560"/>
            <a:ext cx="6144768" cy="3063240"/>
          </a:xfrm>
          <a:prstGeom prst="rect">
            <a:avLst/>
          </a:prstGeom>
          <a:noFill/>
        </p:spPr>
        <p:txBody>
          <a:bodyPr wrap="square" anchor="t" lIns="36576" rIns="36576" tIns="36576" bIns="36576">
            <a:spAutoFit/>
          </a:bodyPr>
          <a:lstStyle/>
          <a:p>
            <a:pPr algn="l">
              <a:spcAft>
                <a:spcPts val="0"/>
              </a:spcAft>
            </a:pPr>
            <a:r>
              <a:rPr sz="1250" b="0">
                <a:solidFill>
                  <a:srgbClr val="A7F3D0"/>
                </a:solidFill>
                <a:latin typeface="Consolas"/>
              </a:rPr>
              <a:t>REQUEST
  lab: 08
  objective: Build a pytest regression suite, reproduce a seeded
             defect and verify the fix.
EXPECTED EVIDENCE
  artifact: tests/test_commerce.py with success and failure coverage
  codes: A5, A6, A7
  status: verified</a:t>
            </a:r>
          </a:p>
        </p:txBody>
      </p:sp>
      <p:sp>
        <p:nvSpPr>
          <p:cNvPr id="9" name="Rounded Rectangle 8"/>
          <p:cNvSpPr/>
          <p:nvPr/>
        </p:nvSpPr>
        <p:spPr>
          <a:xfrm>
            <a:off x="7882127" y="1901952"/>
            <a:ext cx="3493008" cy="3611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2212848"/>
            <a:ext cx="2880360" cy="310896"/>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ASSESSMENT BRIDGE</a:t>
            </a:r>
          </a:p>
        </p:txBody>
      </p:sp>
      <p:sp>
        <p:nvSpPr>
          <p:cNvPr id="11" name="TextBox 10"/>
          <p:cNvSpPr txBox="1"/>
          <p:nvPr/>
        </p:nvSpPr>
        <p:spPr>
          <a:xfrm>
            <a:off x="8193024" y="2761488"/>
            <a:ext cx="2834640" cy="1051560"/>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Ability codes
A5, A6, A7</a:t>
            </a:r>
          </a:p>
        </p:txBody>
      </p:sp>
      <p:sp>
        <p:nvSpPr>
          <p:cNvPr id="12" name="TextBox 11"/>
          <p:cNvSpPr txBox="1"/>
          <p:nvPr/>
        </p:nvSpPr>
        <p:spPr>
          <a:xfrm>
            <a:off x="8193024" y="4160520"/>
            <a:ext cx="2788920" cy="685800"/>
          </a:xfrm>
          <a:prstGeom prst="rect">
            <a:avLst/>
          </a:prstGeom>
          <a:noFill/>
        </p:spPr>
        <p:txBody>
          <a:bodyPr wrap="square" anchor="t" lIns="36576" rIns="36576" tIns="36576" bIns="36576">
            <a:spAutoFit/>
          </a:bodyPr>
          <a:lstStyle/>
          <a:p>
            <a:pPr algn="l">
              <a:spcAft>
                <a:spcPts val="0"/>
              </a:spcAft>
            </a:pPr>
            <a:r>
              <a:rPr sz="1100" b="0">
                <a:solidFill>
                  <a:srgbClr val="475569"/>
                </a:solidFill>
                <a:latin typeface="Arial"/>
              </a:rPr>
              <a:t>Capture a screenshot, terminal output or test result that proves the acceptance criterion.</a:t>
            </a:r>
          </a:p>
        </p:txBody>
      </p:sp>
      <p:sp>
        <p:nvSpPr>
          <p:cNvPr id="13" name="TextBox 1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4" name="TextBox 1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5" name="TextBox 14"/>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137</a:t>
            </a:r>
          </a:p>
        </p:txBody>
      </p:sp>
    </p:spTree>
  </p:cSld>
  <p:transition spd="fast">
    <p:fade/>
  </p:transition>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08 · VERIFY</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Acceptance and diagnosis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74519"/>
            <a:ext cx="5166360" cy="3611880"/>
          </a:xfrm>
          <a:prstGeom prst="roundRect">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240280"/>
            <a:ext cx="4526280" cy="310896"/>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PASS WHEN</a:t>
            </a:r>
          </a:p>
        </p:txBody>
      </p:sp>
      <p:sp>
        <p:nvSpPr>
          <p:cNvPr id="9" name="TextBox 8"/>
          <p:cNvSpPr txBox="1"/>
          <p:nvPr/>
        </p:nvSpPr>
        <p:spPr>
          <a:xfrm>
            <a:off x="1078992" y="2798064"/>
            <a:ext cx="4498848" cy="1600200"/>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The seeded test fails before the fix; the full suite passes after it; the regression assertion remains.</a:t>
            </a:r>
          </a:p>
        </p:txBody>
      </p:sp>
      <p:sp>
        <p:nvSpPr>
          <p:cNvPr id="10" name="Rounded Rectangle 9"/>
          <p:cNvSpPr/>
          <p:nvPr/>
        </p:nvSpPr>
        <p:spPr>
          <a:xfrm>
            <a:off x="6217920" y="1874519"/>
            <a:ext cx="5148072" cy="3611880"/>
          </a:xfrm>
          <a:prstGeom prst="roundRect">
            <a:avLst/>
          </a:prstGeom>
          <a:solidFill>
            <a:srgbClr val="FEF2F2"/>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56248" y="2240280"/>
            <a:ext cx="4480560" cy="310896"/>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DIAGNOSE</a:t>
            </a:r>
          </a:p>
        </p:txBody>
      </p:sp>
      <p:sp>
        <p:nvSpPr>
          <p:cNvPr id="12" name="TextBox 11"/>
          <p:cNvSpPr txBox="1"/>
          <p:nvPr/>
        </p:nvSpPr>
        <p:spPr>
          <a:xfrm>
            <a:off x="6556248" y="277063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1. Inspect HTTP status and response body</a:t>
            </a:r>
          </a:p>
        </p:txBody>
      </p:sp>
      <p:sp>
        <p:nvSpPr>
          <p:cNvPr id="13" name="TextBox 12"/>
          <p:cNvSpPr txBox="1"/>
          <p:nvPr/>
        </p:nvSpPr>
        <p:spPr>
          <a:xfrm>
            <a:off x="6556248" y="327355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2. Check request fields and headers</a:t>
            </a:r>
          </a:p>
        </p:txBody>
      </p:sp>
      <p:sp>
        <p:nvSpPr>
          <p:cNvPr id="14" name="TextBox 13"/>
          <p:cNvSpPr txBox="1"/>
          <p:nvPr/>
        </p:nvSpPr>
        <p:spPr>
          <a:xfrm>
            <a:off x="6556248" y="377647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3. Follow request ID into logs</a:t>
            </a:r>
          </a:p>
        </p:txBody>
      </p:sp>
      <p:sp>
        <p:nvSpPr>
          <p:cNvPr id="15" name="TextBox 14"/>
          <p:cNvSpPr txBox="1"/>
          <p:nvPr/>
        </p:nvSpPr>
        <p:spPr>
          <a:xfrm>
            <a:off x="6556248" y="427939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4. Re-run the smallest failing test</a:t>
            </a:r>
          </a:p>
        </p:txBody>
      </p:sp>
      <p:sp>
        <p:nvSpPr>
          <p:cNvPr id="16" name="TextBox 1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7" name="TextBox 1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8" name="TextBox 17"/>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138</a:t>
            </a:r>
          </a:p>
        </p:txBody>
      </p:sp>
    </p:spTree>
  </p:cSld>
  <p:transition spd="fast">
    <p:fade/>
  </p:transition>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LAB 08 · CONTRACT REVIEW</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Prompt output must preserve the API boundary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02352" cy="3730752"/>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176272"/>
            <a:ext cx="4434840" cy="420624"/>
          </a:xfrm>
          <a:prstGeom prst="rect">
            <a:avLst/>
          </a:prstGeom>
          <a:noFill/>
        </p:spPr>
        <p:txBody>
          <a:bodyPr wrap="square" anchor="t" lIns="36576" rIns="36576" tIns="36576" bIns="36576">
            <a:spAutoFit/>
          </a:bodyPr>
          <a:lstStyle/>
          <a:p>
            <a:pPr algn="l">
              <a:spcAft>
                <a:spcPts val="0"/>
              </a:spcAft>
            </a:pPr>
            <a:r>
              <a:rPr sz="1000" b="1">
                <a:solidFill>
                  <a:srgbClr val="D1FAE5"/>
                </a:solidFill>
                <a:latin typeface="Arial"/>
              </a:rPr>
              <a:t>TARGET FILES</a:t>
            </a:r>
          </a:p>
        </p:txBody>
      </p:sp>
      <p:sp>
        <p:nvSpPr>
          <p:cNvPr id="9" name="TextBox 8"/>
          <p:cNvSpPr txBox="1"/>
          <p:nvPr/>
        </p:nvSpPr>
        <p:spPr>
          <a:xfrm>
            <a:off x="1078992" y="2743200"/>
            <a:ext cx="4434840" cy="420624"/>
          </a:xfrm>
          <a:prstGeom prst="rect">
            <a:avLst/>
          </a:prstGeom>
          <a:noFill/>
        </p:spPr>
        <p:txBody>
          <a:bodyPr wrap="square" anchor="t" lIns="36576" rIns="36576" tIns="36576" bIns="36576">
            <a:spAutoFit/>
          </a:bodyPr>
          <a:lstStyle/>
          <a:p>
            <a:pPr algn="l">
              <a:spcAft>
                <a:spcPts val="0"/>
              </a:spcAft>
            </a:pPr>
            <a:r>
              <a:rPr sz="1100" b="0">
                <a:solidFill>
                  <a:srgbClr val="D1FAE5"/>
                </a:solidFill>
                <a:latin typeface="Consolas"/>
              </a:rPr>
              <a:t>tests/test_regression.py</a:t>
            </a:r>
          </a:p>
        </p:txBody>
      </p:sp>
      <p:sp>
        <p:nvSpPr>
          <p:cNvPr id="10" name="TextBox 9"/>
          <p:cNvSpPr txBox="1"/>
          <p:nvPr/>
        </p:nvSpPr>
        <p:spPr>
          <a:xfrm>
            <a:off x="1078992" y="3310128"/>
            <a:ext cx="4434840" cy="420624"/>
          </a:xfrm>
          <a:prstGeom prst="rect">
            <a:avLst/>
          </a:prstGeom>
          <a:noFill/>
        </p:spPr>
        <p:txBody>
          <a:bodyPr wrap="square" anchor="t" lIns="36576" rIns="36576" tIns="36576" bIns="36576">
            <a:spAutoFit/>
          </a:bodyPr>
          <a:lstStyle/>
          <a:p>
            <a:pPr algn="l">
              <a:spcAft>
                <a:spcPts val="0"/>
              </a:spcAft>
            </a:pPr>
            <a:r>
              <a:rPr sz="1100" b="0">
                <a:solidFill>
                  <a:srgbClr val="D1FAE5"/>
                </a:solidFill>
                <a:latin typeface="Consolas"/>
              </a:rPr>
              <a:t>debug-plan.md</a:t>
            </a:r>
          </a:p>
        </p:txBody>
      </p:sp>
      <p:sp>
        <p:nvSpPr>
          <p:cNvPr id="11" name="Rounded Rectangle 10"/>
          <p:cNvSpPr/>
          <p:nvPr/>
        </p:nvSpPr>
        <p:spPr>
          <a:xfrm>
            <a:off x="6144768" y="1847088"/>
            <a:ext cx="5230368" cy="373075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2176272"/>
            <a:ext cx="4526280" cy="237744"/>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ACCEPTANCE</a:t>
            </a:r>
          </a:p>
        </p:txBody>
      </p:sp>
      <p:sp>
        <p:nvSpPr>
          <p:cNvPr id="13" name="TextBox 12"/>
          <p:cNvSpPr txBox="1"/>
          <p:nvPr/>
        </p:nvSpPr>
        <p:spPr>
          <a:xfrm>
            <a:off x="6473952" y="2578608"/>
            <a:ext cx="4526280" cy="1417320"/>
          </a:xfrm>
          <a:prstGeom prst="rect">
            <a:avLst/>
          </a:prstGeom>
          <a:noFill/>
        </p:spPr>
        <p:txBody>
          <a:bodyPr wrap="square" anchor="t" lIns="36576" rIns="36576" tIns="36576" bIns="36576">
            <a:spAutoFit/>
          </a:bodyPr>
          <a:lstStyle/>
          <a:p>
            <a:pPr algn="l">
              <a:spcAft>
                <a:spcPts val="0"/>
              </a:spcAft>
            </a:pPr>
            <a:r>
              <a:rPr sz="1500" b="1">
                <a:solidFill>
                  <a:srgbClr val="172433"/>
                </a:solidFill>
                <a:latin typeface="Arial"/>
              </a:rPr>
              <a:t>The seeded test fails before the fix; the full suite passes after it; the regression assertion remains.</a:t>
            </a:r>
          </a:p>
        </p:txBody>
      </p:sp>
      <p:sp>
        <p:nvSpPr>
          <p:cNvPr id="14" name="TextBox 13"/>
          <p:cNvSpPr txBox="1"/>
          <p:nvPr/>
        </p:nvSpPr>
        <p:spPr>
          <a:xfrm>
            <a:off x="6473952" y="4279392"/>
            <a:ext cx="4526280" cy="237744"/>
          </a:xfrm>
          <a:prstGeom prst="rect">
            <a:avLst/>
          </a:prstGeom>
          <a:noFill/>
        </p:spPr>
        <p:txBody>
          <a:bodyPr wrap="square" anchor="t" lIns="36576" rIns="36576" tIns="36576" bIns="36576">
            <a:spAutoFit/>
          </a:bodyPr>
          <a:lstStyle/>
          <a:p>
            <a:pPr algn="l">
              <a:spcAft>
                <a:spcPts val="0"/>
              </a:spcAft>
            </a:pPr>
            <a:r>
              <a:rPr sz="1000" b="1">
                <a:solidFill>
                  <a:srgbClr val="7C3AED"/>
                </a:solidFill>
                <a:latin typeface="Arial"/>
              </a:rPr>
              <a:t>ABILITY TRACE</a:t>
            </a:r>
          </a:p>
        </p:txBody>
      </p:sp>
      <p:sp>
        <p:nvSpPr>
          <p:cNvPr id="15" name="TextBox 14"/>
          <p:cNvSpPr txBox="1"/>
          <p:nvPr/>
        </p:nvSpPr>
        <p:spPr>
          <a:xfrm>
            <a:off x="6473952" y="4645152"/>
            <a:ext cx="4526280" cy="438912"/>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A5, A6, A7</a:t>
            </a:r>
          </a:p>
        </p:txBody>
      </p:sp>
      <p:sp>
        <p:nvSpPr>
          <p:cNvPr id="16" name="TextBox 1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7" name="TextBox 1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8" name="TextBox 17"/>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OpenAPI contract + lab prompt</a:t>
            </a:r>
          </a:p>
        </p:txBody>
      </p:sp>
      <p:sp>
        <p:nvSpPr>
          <p:cNvPr id="19" name="TextBox 1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139</a:t>
            </a:r>
          </a:p>
        </p:txBody>
      </p:sp>
    </p:spTree>
  </p:cSld>
  <p:transition spd="fast">
    <p:fade/>
  </p:transition>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hero-v1.png"/>
          <p:cNvPicPr>
            <a:picLocks noChangeAspect="1"/>
          </p:cNvPicPr>
          <p:nvPr/>
        </p:nvPicPr>
        <p:blipFill>
          <a:blip r:embed="rId2"/>
          <a:stretch>
            <a:fillRect/>
          </a:stretch>
        </p:blipFill>
        <p:spPr>
          <a:xfrm>
            <a:off x="6812280" y="0"/>
            <a:ext cx="5376672" cy="6858000"/>
          </a:xfrm>
          <a:prstGeom prst="rect">
            <a:avLst/>
          </a:prstGeom>
        </p:spPr>
      </p:pic>
      <p:sp>
        <p:nvSpPr>
          <p:cNvPr id="4" name="Rectangle 3"/>
          <p:cNvSpPr/>
          <p:nvPr/>
        </p:nvSpPr>
        <p:spPr>
          <a:xfrm>
            <a:off x="6812280" y="0"/>
            <a:ext cx="5376672"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024128"/>
            <a:ext cx="5212080" cy="274320"/>
          </a:xfrm>
          <a:prstGeom prst="rect">
            <a:avLst/>
          </a:prstGeom>
          <a:noFill/>
        </p:spPr>
        <p:txBody>
          <a:bodyPr wrap="square" anchor="t" lIns="36576" rIns="36576" tIns="36576" bIns="36576">
            <a:spAutoFit/>
          </a:bodyPr>
          <a:lstStyle/>
          <a:p>
            <a:pPr algn="l">
              <a:spcAft>
                <a:spcPts val="0"/>
              </a:spcAft>
            </a:pPr>
            <a:r>
              <a:rPr sz="1200" b="1">
                <a:solidFill>
                  <a:srgbClr val="06B6D4"/>
                </a:solidFill>
                <a:latin typeface="Arial"/>
              </a:rPr>
              <a:t>TOPIC 05</a:t>
            </a:r>
          </a:p>
        </p:txBody>
      </p:sp>
      <p:sp>
        <p:nvSpPr>
          <p:cNvPr id="6" name="TextBox 5"/>
          <p:cNvSpPr txBox="1"/>
          <p:nvPr/>
        </p:nvSpPr>
        <p:spPr>
          <a:xfrm>
            <a:off x="777240" y="1481328"/>
            <a:ext cx="5943600" cy="1874519"/>
          </a:xfrm>
          <a:prstGeom prst="rect">
            <a:avLst/>
          </a:prstGeom>
          <a:noFill/>
        </p:spPr>
        <p:txBody>
          <a:bodyPr wrap="square" anchor="t" lIns="36576" rIns="36576" tIns="36576" bIns="36576">
            <a:spAutoFit/>
          </a:bodyPr>
          <a:lstStyle/>
          <a:p>
            <a:pPr algn="l">
              <a:spcAft>
                <a:spcPts val="0"/>
              </a:spcAft>
            </a:pPr>
            <a:r>
              <a:rPr sz="3000" b="1">
                <a:solidFill>
                  <a:srgbClr val="FFFFFF"/>
                </a:solidFill>
                <a:latin typeface="Arial"/>
              </a:rPr>
              <a:t>API Architecture, Data Models and Database Integration</a:t>
            </a:r>
          </a:p>
        </p:txBody>
      </p:sp>
      <p:sp>
        <p:nvSpPr>
          <p:cNvPr id="7" name="TextBox 6"/>
          <p:cNvSpPr txBox="1"/>
          <p:nvPr/>
        </p:nvSpPr>
        <p:spPr>
          <a:xfrm>
            <a:off x="804672" y="3822191"/>
            <a:ext cx="5623560" cy="749808"/>
          </a:xfrm>
          <a:prstGeom prst="rect">
            <a:avLst/>
          </a:prstGeom>
          <a:noFill/>
        </p:spPr>
        <p:txBody>
          <a:bodyPr wrap="square" anchor="t" lIns="36576" rIns="36576" tIns="36576" bIns="36576">
            <a:spAutoFit/>
          </a:bodyPr>
          <a:lstStyle/>
          <a:p>
            <a:pPr algn="l">
              <a:spcAft>
                <a:spcPts val="0"/>
              </a:spcAft>
            </a:pPr>
            <a:r>
              <a:rPr sz="1600" b="0">
                <a:solidFill>
                  <a:srgbClr val="CBD5E1"/>
                </a:solidFill>
                <a:latin typeface="Arial"/>
              </a:rPr>
              <a:t>Layered design · SQLite · parameterized SQL · transactions · CRUD</a:t>
            </a:r>
          </a:p>
        </p:txBody>
      </p:sp>
      <p:sp>
        <p:nvSpPr>
          <p:cNvPr id="8" name="TextBox 7"/>
          <p:cNvSpPr txBox="1"/>
          <p:nvPr/>
        </p:nvSpPr>
        <p:spPr>
          <a:xfrm>
            <a:off x="731520" y="5074920"/>
            <a:ext cx="2194560" cy="822960"/>
          </a:xfrm>
          <a:prstGeom prst="rect">
            <a:avLst/>
          </a:prstGeom>
          <a:noFill/>
        </p:spPr>
        <p:txBody>
          <a:bodyPr wrap="square" anchor="t" lIns="36576" rIns="36576" tIns="36576" bIns="36576">
            <a:spAutoFit/>
          </a:bodyPr>
          <a:lstStyle/>
          <a:p>
            <a:pPr algn="l">
              <a:spcAft>
                <a:spcPts val="0"/>
              </a:spcAft>
            </a:pPr>
            <a:r>
              <a:rPr sz="6400" b="1">
                <a:solidFill>
                  <a:srgbClr val="06B6D4"/>
                </a:solidFill>
                <a:latin typeface="Arial"/>
              </a:rPr>
              <a:t>05</a:t>
            </a:r>
          </a:p>
        </p:txBody>
      </p:sp>
      <p:sp>
        <p:nvSpPr>
          <p:cNvPr id="9" name="TextBox 8"/>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0" name="TextBox 9"/>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1" name="TextBox 10"/>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140</a:t>
            </a:r>
          </a:p>
        </p:txBody>
      </p:sp>
    </p:spTree>
  </p:cSld>
  <p:transition spd="med">
    <p:push/>
  </p:transition>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F59E0B"/>
                </a:solidFill>
                <a:latin typeface="Arial"/>
              </a:rPr>
              <a:t>TOPIC 05 · ARCH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Layering localises change</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Schemas, routes, services and repositories change for different reasons.</a:t>
            </a:r>
          </a:p>
        </p:txBody>
      </p:sp>
      <p:sp>
        <p:nvSpPr>
          <p:cNvPr id="8" name="Rounded Rectangle 7"/>
          <p:cNvSpPr/>
          <p:nvPr/>
        </p:nvSpPr>
        <p:spPr>
          <a:xfrm>
            <a:off x="749808"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498701" y="2724912"/>
            <a:ext cx="512064" cy="512064"/>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98701"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1</a:t>
            </a:r>
          </a:p>
        </p:txBody>
      </p:sp>
      <p:sp>
        <p:nvSpPr>
          <p:cNvPr id="11" name="TextBox 10"/>
          <p:cNvSpPr txBox="1"/>
          <p:nvPr/>
        </p:nvSpPr>
        <p:spPr>
          <a:xfrm>
            <a:off x="822960"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schemas.py: contracts</a:t>
            </a:r>
          </a:p>
        </p:txBody>
      </p:sp>
      <p:cxnSp>
        <p:nvCxnSpPr>
          <p:cNvPr id="12" name="Connector 11"/>
          <p:cNvCxnSpPr/>
          <p:nvPr/>
        </p:nvCxnSpPr>
        <p:spPr>
          <a:xfrm>
            <a:off x="2759659" y="3520440"/>
            <a:ext cx="146304" cy="0"/>
          </a:xfrm>
          <a:prstGeom prst="line">
            <a:avLst/>
          </a:prstGeom>
          <a:ln>
            <a:solidFill>
              <a:srgbClr val="F59E0B"/>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05963"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654856" y="2724912"/>
            <a:ext cx="512064" cy="512064"/>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4856"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2</a:t>
            </a:r>
          </a:p>
        </p:txBody>
      </p:sp>
      <p:sp>
        <p:nvSpPr>
          <p:cNvPr id="16" name="TextBox 15"/>
          <p:cNvSpPr txBox="1"/>
          <p:nvPr/>
        </p:nvSpPr>
        <p:spPr>
          <a:xfrm>
            <a:off x="2979115"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routes.py: HTTP</a:t>
            </a:r>
          </a:p>
        </p:txBody>
      </p:sp>
      <p:cxnSp>
        <p:nvCxnSpPr>
          <p:cNvPr id="17" name="Connector 16"/>
          <p:cNvCxnSpPr/>
          <p:nvPr/>
        </p:nvCxnSpPr>
        <p:spPr>
          <a:xfrm>
            <a:off x="4915814" y="3520440"/>
            <a:ext cx="146304" cy="0"/>
          </a:xfrm>
          <a:prstGeom prst="line">
            <a:avLst/>
          </a:prstGeom>
          <a:ln>
            <a:solidFill>
              <a:srgbClr val="F59E0B"/>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062118"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811012" y="2724912"/>
            <a:ext cx="512064" cy="512064"/>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11012"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3</a:t>
            </a:r>
          </a:p>
        </p:txBody>
      </p:sp>
      <p:sp>
        <p:nvSpPr>
          <p:cNvPr id="21" name="TextBox 20"/>
          <p:cNvSpPr txBox="1"/>
          <p:nvPr/>
        </p:nvSpPr>
        <p:spPr>
          <a:xfrm>
            <a:off x="5135270"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service.py: rules</a:t>
            </a:r>
          </a:p>
        </p:txBody>
      </p:sp>
      <p:cxnSp>
        <p:nvCxnSpPr>
          <p:cNvPr id="22" name="Connector 21"/>
          <p:cNvCxnSpPr/>
          <p:nvPr/>
        </p:nvCxnSpPr>
        <p:spPr>
          <a:xfrm>
            <a:off x="7071969" y="3520440"/>
            <a:ext cx="146304" cy="0"/>
          </a:xfrm>
          <a:prstGeom prst="line">
            <a:avLst/>
          </a:prstGeom>
          <a:ln>
            <a:solidFill>
              <a:srgbClr val="F59E0B"/>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218273"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967167" y="2724912"/>
            <a:ext cx="512064" cy="512064"/>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67167"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4</a:t>
            </a:r>
          </a:p>
        </p:txBody>
      </p:sp>
      <p:sp>
        <p:nvSpPr>
          <p:cNvPr id="26" name="TextBox 25"/>
          <p:cNvSpPr txBox="1"/>
          <p:nvPr/>
        </p:nvSpPr>
        <p:spPr>
          <a:xfrm>
            <a:off x="7291425"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db.py: SQL</a:t>
            </a:r>
          </a:p>
        </p:txBody>
      </p:sp>
      <p:cxnSp>
        <p:nvCxnSpPr>
          <p:cNvPr id="27" name="Connector 26"/>
          <p:cNvCxnSpPr/>
          <p:nvPr/>
        </p:nvCxnSpPr>
        <p:spPr>
          <a:xfrm>
            <a:off x="9228124" y="3520440"/>
            <a:ext cx="146304" cy="0"/>
          </a:xfrm>
          <a:prstGeom prst="line">
            <a:avLst/>
          </a:prstGeom>
          <a:ln>
            <a:solidFill>
              <a:srgbClr val="F59E0B"/>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74428"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0123322" y="2724912"/>
            <a:ext cx="512064" cy="512064"/>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23322"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5</a:t>
            </a:r>
          </a:p>
        </p:txBody>
      </p:sp>
      <p:sp>
        <p:nvSpPr>
          <p:cNvPr id="31" name="TextBox 30"/>
          <p:cNvSpPr txBox="1"/>
          <p:nvPr/>
        </p:nvSpPr>
        <p:spPr>
          <a:xfrm>
            <a:off x="9447580"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main.py: composition</a:t>
            </a:r>
          </a:p>
        </p:txBody>
      </p:sp>
      <p:sp>
        <p:nvSpPr>
          <p:cNvPr id="32" name="Rounded Rectangle 31"/>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34" name="TextBox 33"/>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Five-file application boundary</a:t>
            </a:r>
          </a:p>
        </p:txBody>
      </p:sp>
      <p:sp>
        <p:nvSpPr>
          <p:cNvPr id="35" name="Rounded Rectangle 34"/>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37" name="TextBox 36"/>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A monolithic app.py entangles tests and makes AI edits broad and risky.</a:t>
            </a:r>
          </a:p>
        </p:txBody>
      </p:sp>
      <p:sp>
        <p:nvSpPr>
          <p:cNvPr id="38" name="Rounded Rectangle 37"/>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40" name="TextBox 39"/>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A schema change touches the smallest justified set of files.</a:t>
            </a:r>
          </a:p>
        </p:txBody>
      </p:sp>
      <p:sp>
        <p:nvSpPr>
          <p:cNvPr id="41" name="TextBox 40"/>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42" name="TextBox 41"/>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43" name="TextBox 42"/>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SQL Databases</a:t>
            </a:r>
          </a:p>
        </p:txBody>
      </p:sp>
      <p:sp>
        <p:nvSpPr>
          <p:cNvPr id="44" name="TextBox 43"/>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141</a:t>
            </a:r>
          </a:p>
        </p:txBody>
      </p:sp>
    </p:spTree>
  </p:cSld>
  <p:transition spd="fast">
    <p:fade/>
  </p:transition>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F59E0B"/>
                </a:solidFill>
                <a:latin typeface="Arial"/>
              </a:rPr>
              <a:t>TOPIC 05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Layering localises change</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F59E0B"/>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schemas.py: contracts</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F59E0B"/>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Schemas, routes, services and repositories change for different reasons.</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A monolithic app.py entangles tests and makes AI edits broad and risky.</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A schema change touches the smallest justified set of files.</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Five-file application boundary</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SQL Databases</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142</a:t>
            </a:r>
          </a:p>
        </p:txBody>
      </p:sp>
    </p:spTree>
  </p:cSld>
  <p:transition spd="fast">
    <p:fade/>
  </p:transition>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F59E0B"/>
                </a:solidFill>
                <a:latin typeface="Arial"/>
              </a:rPr>
              <a:t>TOPIC 05 · MODEL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SQLite is a serverless relational engine</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The database is a local file accessed by the Python process; it still enforces tables, keys and transactions.</a:t>
            </a:r>
          </a:p>
        </p:txBody>
      </p:sp>
      <p:sp>
        <p:nvSpPr>
          <p:cNvPr id="8" name="Rounded Rectangle 7"/>
          <p:cNvSpPr/>
          <p:nvPr/>
        </p:nvSpPr>
        <p:spPr>
          <a:xfrm>
            <a:off x="749808"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50976" y="2596896"/>
            <a:ext cx="502920" cy="50292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1</a:t>
            </a:r>
          </a:p>
        </p:txBody>
      </p:sp>
      <p:sp>
        <p:nvSpPr>
          <p:cNvPr id="11" name="TextBox 10"/>
          <p:cNvSpPr txBox="1"/>
          <p:nvPr/>
        </p:nvSpPr>
        <p:spPr>
          <a:xfrm>
            <a:off x="1682496"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single file</a:t>
            </a:r>
          </a:p>
        </p:txBody>
      </p:sp>
      <p:sp>
        <p:nvSpPr>
          <p:cNvPr id="12" name="Rounded Rectangle 11"/>
          <p:cNvSpPr/>
          <p:nvPr/>
        </p:nvSpPr>
        <p:spPr>
          <a:xfrm>
            <a:off x="6172200"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73368" y="2596896"/>
            <a:ext cx="502920" cy="502920"/>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2</a:t>
            </a:r>
          </a:p>
        </p:txBody>
      </p:sp>
      <p:sp>
        <p:nvSpPr>
          <p:cNvPr id="15" name="TextBox 14"/>
          <p:cNvSpPr txBox="1"/>
          <p:nvPr/>
        </p:nvSpPr>
        <p:spPr>
          <a:xfrm>
            <a:off x="7104888"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ACID transactions</a:t>
            </a:r>
          </a:p>
        </p:txBody>
      </p:sp>
      <p:sp>
        <p:nvSpPr>
          <p:cNvPr id="16" name="Rounded Rectangle 15"/>
          <p:cNvSpPr/>
          <p:nvPr/>
        </p:nvSpPr>
        <p:spPr>
          <a:xfrm>
            <a:off x="749808" y="3639311"/>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50976" y="3904487"/>
            <a:ext cx="502920" cy="50292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0976" y="4032503"/>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3</a:t>
            </a:r>
          </a:p>
        </p:txBody>
      </p:sp>
      <p:sp>
        <p:nvSpPr>
          <p:cNvPr id="19" name="TextBox 18"/>
          <p:cNvSpPr txBox="1"/>
          <p:nvPr/>
        </p:nvSpPr>
        <p:spPr>
          <a:xfrm>
            <a:off x="1682496" y="3840479"/>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SQL queries</a:t>
            </a:r>
          </a:p>
        </p:txBody>
      </p:sp>
      <p:sp>
        <p:nvSpPr>
          <p:cNvPr id="20" name="Rounded Rectangle 19"/>
          <p:cNvSpPr/>
          <p:nvPr/>
        </p:nvSpPr>
        <p:spPr>
          <a:xfrm>
            <a:off x="6172200" y="3639311"/>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73368" y="3904487"/>
            <a:ext cx="502920" cy="50292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3368" y="4032503"/>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4</a:t>
            </a:r>
          </a:p>
        </p:txBody>
      </p:sp>
      <p:sp>
        <p:nvSpPr>
          <p:cNvPr id="23" name="TextBox 22"/>
          <p:cNvSpPr txBox="1"/>
          <p:nvPr/>
        </p:nvSpPr>
        <p:spPr>
          <a:xfrm>
            <a:off x="7104888" y="3840479"/>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excellent demo/local fit</a:t>
            </a:r>
          </a:p>
        </p:txBody>
      </p:sp>
      <p:sp>
        <p:nvSpPr>
          <p:cNvPr id="24" name="Rounded Rectangle 23"/>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26" name="TextBox 25"/>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northstar.db with products table</a:t>
            </a:r>
          </a:p>
        </p:txBody>
      </p:sp>
      <p:sp>
        <p:nvSpPr>
          <p:cNvPr id="27" name="Rounded Rectangle 26"/>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29" name="TextBox 28"/>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Treating SQLite as an unstructured file loses relational guarantees.</a:t>
            </a:r>
          </a:p>
        </p:txBody>
      </p:sp>
      <p:sp>
        <p:nvSpPr>
          <p:cNvPr id="30" name="Rounded Rectangle 29"/>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32" name="TextBox 31"/>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Schema inspection shows primary key, defaults and constraints.</a:t>
            </a:r>
          </a:p>
        </p:txBody>
      </p:sp>
      <p:sp>
        <p:nvSpPr>
          <p:cNvPr id="33" name="TextBox 3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4" name="TextBox 3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5" name="TextBox 34"/>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SQL Databases</a:t>
            </a:r>
          </a:p>
        </p:txBody>
      </p:sp>
      <p:sp>
        <p:nvSpPr>
          <p:cNvPr id="36" name="TextBox 35"/>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143</a:t>
            </a:r>
          </a:p>
        </p:txBody>
      </p:sp>
    </p:spTree>
  </p:cSld>
  <p:transition spd="fast">
    <p:fade/>
  </p:transition>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F59E0B"/>
                </a:solidFill>
                <a:latin typeface="Arial"/>
              </a:rPr>
              <a:t>TOPIC 05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SQLite is a serverless relational engine</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F59E0B"/>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single file</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F59E0B"/>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The database is a local file accessed by the Python process; it still enforces tables, keys and transactions.</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Treating SQLite as an unstructured file loses relational guarantees.</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Schema inspection shows primary key, defaults and constraints.</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northstar.db with products table</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SQL Databases</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144</a:t>
            </a:r>
          </a:p>
        </p:txBody>
      </p:sp>
    </p:spTree>
  </p:cSld>
  <p:transition spd="fast">
    <p:fade/>
  </p:transition>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F59E0B"/>
                </a:solidFill>
                <a:latin typeface="Arial"/>
              </a:rPr>
              <a:t>TOPIC 05 · TABLE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Design the table around invariants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Use constraints and defaults to protect state even when a code path is wrong.</a:t>
            </a:r>
          </a:p>
        </p:txBody>
      </p:sp>
      <p:sp>
        <p:nvSpPr>
          <p:cNvPr id="8" name="Rounded Rectangle 7"/>
          <p:cNvSpPr/>
          <p:nvPr/>
        </p:nvSpPr>
        <p:spPr>
          <a:xfrm>
            <a:off x="749808"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50976" y="2596896"/>
            <a:ext cx="502920" cy="50292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1</a:t>
            </a:r>
          </a:p>
        </p:txBody>
      </p:sp>
      <p:sp>
        <p:nvSpPr>
          <p:cNvPr id="11" name="TextBox 10"/>
          <p:cNvSpPr txBox="1"/>
          <p:nvPr/>
        </p:nvSpPr>
        <p:spPr>
          <a:xfrm>
            <a:off x="1682496"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Product and Customer keys</a:t>
            </a:r>
          </a:p>
        </p:txBody>
      </p:sp>
      <p:sp>
        <p:nvSpPr>
          <p:cNvPr id="12" name="Rounded Rectangle 11"/>
          <p:cNvSpPr/>
          <p:nvPr/>
        </p:nvSpPr>
        <p:spPr>
          <a:xfrm>
            <a:off x="6172200"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73368" y="2596896"/>
            <a:ext cx="502920" cy="502920"/>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2</a:t>
            </a:r>
          </a:p>
        </p:txBody>
      </p:sp>
      <p:sp>
        <p:nvSpPr>
          <p:cNvPr id="15" name="TextBox 14"/>
          <p:cNvSpPr txBox="1"/>
          <p:nvPr/>
        </p:nvSpPr>
        <p:spPr>
          <a:xfrm>
            <a:off x="7104888"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OrderItem foreign keys</a:t>
            </a:r>
          </a:p>
        </p:txBody>
      </p:sp>
      <p:sp>
        <p:nvSpPr>
          <p:cNvPr id="16" name="Rounded Rectangle 15"/>
          <p:cNvSpPr/>
          <p:nvPr/>
        </p:nvSpPr>
        <p:spPr>
          <a:xfrm>
            <a:off x="749808" y="3639311"/>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50976" y="3904487"/>
            <a:ext cx="502920" cy="50292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0976" y="4032503"/>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3</a:t>
            </a:r>
          </a:p>
        </p:txBody>
      </p:sp>
      <p:sp>
        <p:nvSpPr>
          <p:cNvPr id="19" name="TextBox 18"/>
          <p:cNvSpPr txBox="1"/>
          <p:nvPr/>
        </p:nvSpPr>
        <p:spPr>
          <a:xfrm>
            <a:off x="1682496" y="3840479"/>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money/stock CHECK</a:t>
            </a:r>
          </a:p>
        </p:txBody>
      </p:sp>
      <p:sp>
        <p:nvSpPr>
          <p:cNvPr id="20" name="Rounded Rectangle 19"/>
          <p:cNvSpPr/>
          <p:nvPr/>
        </p:nvSpPr>
        <p:spPr>
          <a:xfrm>
            <a:off x="6172200" y="3639311"/>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73368" y="3904487"/>
            <a:ext cx="502920" cy="50292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3368" y="4032503"/>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4</a:t>
            </a:r>
          </a:p>
        </p:txBody>
      </p:sp>
      <p:sp>
        <p:nvSpPr>
          <p:cNvPr id="23" name="TextBox 22"/>
          <p:cNvSpPr txBox="1"/>
          <p:nvPr/>
        </p:nvSpPr>
        <p:spPr>
          <a:xfrm>
            <a:off x="7104888" y="3840479"/>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unique SKU/email</a:t>
            </a:r>
          </a:p>
        </p:txBody>
      </p:sp>
      <p:sp>
        <p:nvSpPr>
          <p:cNvPr id="24" name="Rounded Rectangle 23"/>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26" name="TextBox 25"/>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Commerce relational schema</a:t>
            </a:r>
          </a:p>
        </p:txBody>
      </p:sp>
      <p:sp>
        <p:nvSpPr>
          <p:cNvPr id="27" name="Rounded Rectangle 26"/>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29" name="TextBox 28"/>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Application-only validation can be bypassed by another writer.</a:t>
            </a:r>
          </a:p>
        </p:txBody>
      </p:sp>
      <p:sp>
        <p:nvSpPr>
          <p:cNvPr id="30" name="Rounded Rectangle 29"/>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32" name="TextBox 31"/>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Invalid direct SQL writes fail at the database boundary.</a:t>
            </a:r>
          </a:p>
        </p:txBody>
      </p:sp>
      <p:sp>
        <p:nvSpPr>
          <p:cNvPr id="33" name="TextBox 3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4" name="TextBox 3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5" name="TextBox 34"/>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SQL Databases</a:t>
            </a:r>
          </a:p>
        </p:txBody>
      </p:sp>
      <p:sp>
        <p:nvSpPr>
          <p:cNvPr id="36" name="TextBox 35"/>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145</a:t>
            </a:r>
          </a:p>
        </p:txBody>
      </p:sp>
    </p:spTree>
  </p:cSld>
  <p:transition spd="fast">
    <p:fade/>
  </p:transition>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F59E0B"/>
                </a:solidFill>
                <a:latin typeface="Arial"/>
              </a:rPr>
              <a:t>TOPIC 05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Design the table around invariants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F59E0B"/>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Product and Customer keys</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F59E0B"/>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Use constraints and defaults to protect state even when a code path is wrong.</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Application-only validation can be bypassed by another writer.</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Invalid direct SQL writes fail at the database boundary.</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Commerce relational schema</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SQL Databases</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146</a:t>
            </a:r>
          </a:p>
        </p:txBody>
      </p:sp>
    </p:spTree>
  </p:cSld>
  <p:transition spd="fast">
    <p:fade/>
  </p:transition>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F59E0B"/>
                </a:solidFill>
                <a:latin typeface="Arial"/>
              </a:rPr>
              <a:t>TOPIC 05 · CODE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Parameterized SQL separates code from data</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Use placeholders and parameter tuples; never concatenate user input into SQL.</a:t>
            </a:r>
          </a:p>
        </p:txBody>
      </p:sp>
      <p:sp>
        <p:nvSpPr>
          <p:cNvPr id="8" name="Rounded Rectangle 7"/>
          <p:cNvSpPr/>
          <p:nvPr/>
        </p:nvSpPr>
        <p:spPr>
          <a:xfrm>
            <a:off x="749808" y="2331720"/>
            <a:ext cx="6766560" cy="2697480"/>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2615184"/>
            <a:ext cx="6199632" cy="2057400"/>
          </a:xfrm>
          <a:prstGeom prst="rect">
            <a:avLst/>
          </a:prstGeom>
          <a:noFill/>
        </p:spPr>
        <p:txBody>
          <a:bodyPr wrap="square" anchor="t" lIns="36576" rIns="36576" tIns="36576" bIns="36576">
            <a:spAutoFit/>
          </a:bodyPr>
          <a:lstStyle/>
          <a:p>
            <a:pPr algn="l">
              <a:spcAft>
                <a:spcPts val="0"/>
              </a:spcAft>
            </a:pPr>
            <a:r>
              <a:rPr sz="1500" b="0">
                <a:solidFill>
                  <a:srgbClr val="A7F3D0"/>
                </a:solidFill>
                <a:latin typeface="Consolas"/>
              </a:rPr>
              <a:t>row = conn.execute(
    "SELECT * FROM products WHERE id = ?", (product_id,)
).fetchone()</a:t>
            </a:r>
          </a:p>
        </p:txBody>
      </p:sp>
      <p:sp>
        <p:nvSpPr>
          <p:cNvPr id="10" name="Rounded Rectangle 9"/>
          <p:cNvSpPr/>
          <p:nvPr/>
        </p:nvSpPr>
        <p:spPr>
          <a:xfrm>
            <a:off x="7799831" y="2331720"/>
            <a:ext cx="3584448" cy="26974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65008" y="2624328"/>
            <a:ext cx="219456" cy="21945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30768" y="2551176"/>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query template fixed</a:t>
            </a:r>
          </a:p>
        </p:txBody>
      </p:sp>
      <p:sp>
        <p:nvSpPr>
          <p:cNvPr id="13" name="Rounded Rectangle 12"/>
          <p:cNvSpPr/>
          <p:nvPr/>
        </p:nvSpPr>
        <p:spPr>
          <a:xfrm>
            <a:off x="8065008" y="3136392"/>
            <a:ext cx="219456" cy="21945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30768" y="3063240"/>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values bound separately</a:t>
            </a:r>
          </a:p>
        </p:txBody>
      </p:sp>
      <p:sp>
        <p:nvSpPr>
          <p:cNvPr id="15" name="Rounded Rectangle 14"/>
          <p:cNvSpPr/>
          <p:nvPr/>
        </p:nvSpPr>
        <p:spPr>
          <a:xfrm>
            <a:off x="8065008" y="3648456"/>
            <a:ext cx="219456" cy="21945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30768" y="3575304"/>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quotes handled safely</a:t>
            </a:r>
          </a:p>
        </p:txBody>
      </p:sp>
      <p:sp>
        <p:nvSpPr>
          <p:cNvPr id="17" name="Rounded Rectangle 16"/>
          <p:cNvSpPr/>
          <p:nvPr/>
        </p:nvSpPr>
        <p:spPr>
          <a:xfrm>
            <a:off x="8065008" y="4160520"/>
            <a:ext cx="219456" cy="219456"/>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30768" y="4087368"/>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injection payload stays data</a:t>
            </a:r>
          </a:p>
        </p:txBody>
      </p:sp>
      <p:sp>
        <p:nvSpPr>
          <p:cNvPr id="19" name="Rounded Rectangle 18"/>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21" name="TextBox 20"/>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SELECT ... WHERE id = ?</a:t>
            </a:r>
          </a:p>
        </p:txBody>
      </p:sp>
      <p:sp>
        <p:nvSpPr>
          <p:cNvPr id="22" name="Rounded Rectangle 21"/>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24" name="TextBox 23"/>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f-string SQL allows input to change query structure.</a:t>
            </a:r>
          </a:p>
        </p:txBody>
      </p:sp>
      <p:sp>
        <p:nvSpPr>
          <p:cNvPr id="25" name="Rounded Rectangle 24"/>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27" name="TextBox 26"/>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An injection-shaped product name is stored or rejected as data, never executed.</a:t>
            </a:r>
          </a:p>
        </p:txBody>
      </p:sp>
      <p:sp>
        <p:nvSpPr>
          <p:cNvPr id="28" name="TextBox 27"/>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9" name="TextBox 28"/>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0" name="TextBox 29"/>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SQL Databases</a:t>
            </a:r>
          </a:p>
        </p:txBody>
      </p:sp>
      <p:sp>
        <p:nvSpPr>
          <p:cNvPr id="31" name="TextBox 30"/>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147</a:t>
            </a:r>
          </a:p>
        </p:txBody>
      </p:sp>
    </p:spTree>
  </p:cSld>
  <p:transition spd="fast">
    <p:fade/>
  </p:transition>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F59E0B"/>
                </a:solidFill>
                <a:latin typeface="Arial"/>
              </a:rPr>
              <a:t>TOPIC 05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Parameterized SQL separates code from data</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F59E0B"/>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query template fixed</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F59E0B"/>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Use placeholders and parameter tuples; never concatenate user input into SQL.</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f-string SQL allows input to change query structure.</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An injection-shaped product name is stored or rejected as data, never executed.</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SELECT ... WHERE id = ?</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SQL Databases</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148</a:t>
            </a:r>
          </a:p>
        </p:txBody>
      </p:sp>
    </p:spTree>
  </p:cSld>
  <p:transition spd="fast">
    <p:fade/>
  </p:transition>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F59E0B"/>
                </a:solidFill>
                <a:latin typeface="Arial"/>
              </a:rPr>
              <a:t>TOPIC 05 · FLOW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Transactions define atomic state changes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A write either commits as a complete unit or rolls back.</a:t>
            </a:r>
          </a:p>
        </p:txBody>
      </p:sp>
      <p:sp>
        <p:nvSpPr>
          <p:cNvPr id="8" name="Rounded Rectangle 7"/>
          <p:cNvSpPr/>
          <p:nvPr/>
        </p:nvSpPr>
        <p:spPr>
          <a:xfrm>
            <a:off x="749808"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498701" y="2724912"/>
            <a:ext cx="512064" cy="512064"/>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98701"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1</a:t>
            </a:r>
          </a:p>
        </p:txBody>
      </p:sp>
      <p:sp>
        <p:nvSpPr>
          <p:cNvPr id="11" name="TextBox 10"/>
          <p:cNvSpPr txBox="1"/>
          <p:nvPr/>
        </p:nvSpPr>
        <p:spPr>
          <a:xfrm>
            <a:off x="822960"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BEGIN</a:t>
            </a:r>
          </a:p>
        </p:txBody>
      </p:sp>
      <p:cxnSp>
        <p:nvCxnSpPr>
          <p:cNvPr id="12" name="Connector 11"/>
          <p:cNvCxnSpPr/>
          <p:nvPr/>
        </p:nvCxnSpPr>
        <p:spPr>
          <a:xfrm>
            <a:off x="2759659" y="3520440"/>
            <a:ext cx="146304" cy="0"/>
          </a:xfrm>
          <a:prstGeom prst="line">
            <a:avLst/>
          </a:prstGeom>
          <a:ln>
            <a:solidFill>
              <a:srgbClr val="F59E0B"/>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05963"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654856" y="2724912"/>
            <a:ext cx="512064" cy="512064"/>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4856"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2</a:t>
            </a:r>
          </a:p>
        </p:txBody>
      </p:sp>
      <p:sp>
        <p:nvSpPr>
          <p:cNvPr id="16" name="TextBox 15"/>
          <p:cNvSpPr txBox="1"/>
          <p:nvPr/>
        </p:nvSpPr>
        <p:spPr>
          <a:xfrm>
            <a:off x="2979115"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validate current state</a:t>
            </a:r>
          </a:p>
        </p:txBody>
      </p:sp>
      <p:cxnSp>
        <p:nvCxnSpPr>
          <p:cNvPr id="17" name="Connector 16"/>
          <p:cNvCxnSpPr/>
          <p:nvPr/>
        </p:nvCxnSpPr>
        <p:spPr>
          <a:xfrm>
            <a:off x="4915814" y="3520440"/>
            <a:ext cx="146304" cy="0"/>
          </a:xfrm>
          <a:prstGeom prst="line">
            <a:avLst/>
          </a:prstGeom>
          <a:ln>
            <a:solidFill>
              <a:srgbClr val="F59E0B"/>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062118"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811012" y="2724912"/>
            <a:ext cx="512064" cy="512064"/>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11012"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3</a:t>
            </a:r>
          </a:p>
        </p:txBody>
      </p:sp>
      <p:sp>
        <p:nvSpPr>
          <p:cNvPr id="21" name="TextBox 20"/>
          <p:cNvSpPr txBox="1"/>
          <p:nvPr/>
        </p:nvSpPr>
        <p:spPr>
          <a:xfrm>
            <a:off x="5135270"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INSERT/UPDATE</a:t>
            </a:r>
          </a:p>
        </p:txBody>
      </p:sp>
      <p:cxnSp>
        <p:nvCxnSpPr>
          <p:cNvPr id="22" name="Connector 21"/>
          <p:cNvCxnSpPr/>
          <p:nvPr/>
        </p:nvCxnSpPr>
        <p:spPr>
          <a:xfrm>
            <a:off x="7071969" y="3520440"/>
            <a:ext cx="146304" cy="0"/>
          </a:xfrm>
          <a:prstGeom prst="line">
            <a:avLst/>
          </a:prstGeom>
          <a:ln>
            <a:solidFill>
              <a:srgbClr val="F59E0B"/>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218273"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967167" y="2724912"/>
            <a:ext cx="512064" cy="512064"/>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67167"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4</a:t>
            </a:r>
          </a:p>
        </p:txBody>
      </p:sp>
      <p:sp>
        <p:nvSpPr>
          <p:cNvPr id="26" name="TextBox 25"/>
          <p:cNvSpPr txBox="1"/>
          <p:nvPr/>
        </p:nvSpPr>
        <p:spPr>
          <a:xfrm>
            <a:off x="7291425"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COMMIT</a:t>
            </a:r>
          </a:p>
        </p:txBody>
      </p:sp>
      <p:cxnSp>
        <p:nvCxnSpPr>
          <p:cNvPr id="27" name="Connector 26"/>
          <p:cNvCxnSpPr/>
          <p:nvPr/>
        </p:nvCxnSpPr>
        <p:spPr>
          <a:xfrm>
            <a:off x="9228124" y="3520440"/>
            <a:ext cx="146304" cy="0"/>
          </a:xfrm>
          <a:prstGeom prst="line">
            <a:avLst/>
          </a:prstGeom>
          <a:ln>
            <a:solidFill>
              <a:srgbClr val="F59E0B"/>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74428"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0123322" y="2724912"/>
            <a:ext cx="512064" cy="512064"/>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23322"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5</a:t>
            </a:r>
          </a:p>
        </p:txBody>
      </p:sp>
      <p:sp>
        <p:nvSpPr>
          <p:cNvPr id="31" name="TextBox 30"/>
          <p:cNvSpPr txBox="1"/>
          <p:nvPr/>
        </p:nvSpPr>
        <p:spPr>
          <a:xfrm>
            <a:off x="9447580"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ROLLBACK on error</a:t>
            </a:r>
          </a:p>
        </p:txBody>
      </p:sp>
      <p:sp>
        <p:nvSpPr>
          <p:cNvPr id="32" name="Rounded Rectangle 31"/>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34" name="TextBox 33"/>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Request-scoped connection context</a:t>
            </a:r>
          </a:p>
        </p:txBody>
      </p:sp>
      <p:sp>
        <p:nvSpPr>
          <p:cNvPr id="35" name="Rounded Rectangle 34"/>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37" name="TextBox 36"/>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Partial writes leave contradictory state when an exception interrupts work.</a:t>
            </a:r>
          </a:p>
        </p:txBody>
      </p:sp>
      <p:sp>
        <p:nvSpPr>
          <p:cNvPr id="38" name="Rounded Rectangle 37"/>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40" name="TextBox 39"/>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A forced failure leaves the database in its pre-request state.</a:t>
            </a:r>
          </a:p>
        </p:txBody>
      </p:sp>
      <p:sp>
        <p:nvSpPr>
          <p:cNvPr id="41" name="TextBox 40"/>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42" name="TextBox 41"/>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43" name="TextBox 42"/>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SQL Databases</a:t>
            </a:r>
          </a:p>
        </p:txBody>
      </p:sp>
      <p:sp>
        <p:nvSpPr>
          <p:cNvPr id="44" name="TextBox 43"/>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149</a:t>
            </a:r>
          </a:p>
        </p:txBody>
      </p:sp>
    </p:spTree>
  </p:cSld>
  <p:transition spd="fast">
    <p:fade/>
  </p:transition>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F59E0B"/>
                </a:solidFill>
                <a:latin typeface="Arial"/>
              </a:rPr>
              <a:t>TOPIC 05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Transactions define atomic state changes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F59E0B"/>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BEGIN</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F59E0B"/>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A write either commits as a complete unit or rolls back.</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Partial writes leave contradictory state when an exception interrupts work.</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A forced failure leaves the database in its pre-request state.</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Request-scoped connection context</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SQL Databases</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150</a:t>
            </a:r>
          </a:p>
        </p:txBody>
      </p:sp>
    </p:spTree>
  </p:cSld>
  <p:transition spd="fast">
    <p:fade/>
  </p:transition>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F59E0B"/>
                </a:solidFill>
                <a:latin typeface="Arial"/>
              </a:rPr>
              <a:t>TOPIC 05 · TABLE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CRUD maps contracts to SQL</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Each endpoint has a predictable statement, success code and missing-resource path.</a:t>
            </a:r>
          </a:p>
        </p:txBody>
      </p:sp>
      <p:sp>
        <p:nvSpPr>
          <p:cNvPr id="8" name="Rounded Rectangle 7"/>
          <p:cNvSpPr/>
          <p:nvPr/>
        </p:nvSpPr>
        <p:spPr>
          <a:xfrm>
            <a:off x="749808"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50976" y="2596896"/>
            <a:ext cx="502920" cy="50292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1</a:t>
            </a:r>
          </a:p>
        </p:txBody>
      </p:sp>
      <p:sp>
        <p:nvSpPr>
          <p:cNvPr id="11" name="TextBox 10"/>
          <p:cNvSpPr txBox="1"/>
          <p:nvPr/>
        </p:nvSpPr>
        <p:spPr>
          <a:xfrm>
            <a:off x="1682496"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POST→INSERT→201</a:t>
            </a:r>
          </a:p>
        </p:txBody>
      </p:sp>
      <p:sp>
        <p:nvSpPr>
          <p:cNvPr id="12" name="Rounded Rectangle 11"/>
          <p:cNvSpPr/>
          <p:nvPr/>
        </p:nvSpPr>
        <p:spPr>
          <a:xfrm>
            <a:off x="6172200"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73368" y="2596896"/>
            <a:ext cx="502920" cy="502920"/>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2</a:t>
            </a:r>
          </a:p>
        </p:txBody>
      </p:sp>
      <p:sp>
        <p:nvSpPr>
          <p:cNvPr id="15" name="TextBox 14"/>
          <p:cNvSpPr txBox="1"/>
          <p:nvPr/>
        </p:nvSpPr>
        <p:spPr>
          <a:xfrm>
            <a:off x="7104888"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GET→SELECT→200/404</a:t>
            </a:r>
          </a:p>
        </p:txBody>
      </p:sp>
      <p:sp>
        <p:nvSpPr>
          <p:cNvPr id="16" name="Rounded Rectangle 15"/>
          <p:cNvSpPr/>
          <p:nvPr/>
        </p:nvSpPr>
        <p:spPr>
          <a:xfrm>
            <a:off x="749808" y="3639311"/>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50976" y="3904487"/>
            <a:ext cx="502920" cy="50292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0976" y="4032503"/>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3</a:t>
            </a:r>
          </a:p>
        </p:txBody>
      </p:sp>
      <p:sp>
        <p:nvSpPr>
          <p:cNvPr id="19" name="TextBox 18"/>
          <p:cNvSpPr txBox="1"/>
          <p:nvPr/>
        </p:nvSpPr>
        <p:spPr>
          <a:xfrm>
            <a:off x="1682496" y="3840479"/>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PATCH→UPDATE→200/404</a:t>
            </a:r>
          </a:p>
        </p:txBody>
      </p:sp>
      <p:sp>
        <p:nvSpPr>
          <p:cNvPr id="20" name="Rounded Rectangle 19"/>
          <p:cNvSpPr/>
          <p:nvPr/>
        </p:nvSpPr>
        <p:spPr>
          <a:xfrm>
            <a:off x="6172200" y="3639311"/>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73368" y="3904487"/>
            <a:ext cx="502920" cy="50292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3368" y="4032503"/>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4</a:t>
            </a:r>
          </a:p>
        </p:txBody>
      </p:sp>
      <p:sp>
        <p:nvSpPr>
          <p:cNvPr id="23" name="TextBox 22"/>
          <p:cNvSpPr txBox="1"/>
          <p:nvPr/>
        </p:nvSpPr>
        <p:spPr>
          <a:xfrm>
            <a:off x="7104888" y="3840479"/>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DELETE→DELETE→204/404</a:t>
            </a:r>
          </a:p>
        </p:txBody>
      </p:sp>
      <p:sp>
        <p:nvSpPr>
          <p:cNvPr id="24" name="Rounded Rectangle 23"/>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26" name="TextBox 25"/>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Endpoint-to-SQL matrix</a:t>
            </a:r>
          </a:p>
        </p:txBody>
      </p:sp>
      <p:sp>
        <p:nvSpPr>
          <p:cNvPr id="27" name="Rounded Rectangle 26"/>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29" name="TextBox 28"/>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A DELETE that always returns 204 cannot distinguish an absent record.</a:t>
            </a:r>
          </a:p>
        </p:txBody>
      </p:sp>
      <p:sp>
        <p:nvSpPr>
          <p:cNvPr id="30" name="Rounded Rectangle 29"/>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32" name="TextBox 31"/>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CRUD integration tests cover both existing and missing IDs.</a:t>
            </a:r>
          </a:p>
        </p:txBody>
      </p:sp>
      <p:sp>
        <p:nvSpPr>
          <p:cNvPr id="33" name="TextBox 3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4" name="TextBox 3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5" name="TextBox 34"/>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SQL Databases</a:t>
            </a:r>
          </a:p>
        </p:txBody>
      </p:sp>
      <p:sp>
        <p:nvSpPr>
          <p:cNvPr id="36" name="TextBox 35"/>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151</a:t>
            </a:r>
          </a:p>
        </p:txBody>
      </p:sp>
    </p:spTree>
  </p:cSld>
  <p:transition spd="fast">
    <p:fade/>
  </p:transition>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F59E0B"/>
                </a:solidFill>
                <a:latin typeface="Arial"/>
              </a:rPr>
              <a:t>TOPIC 05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CRUD maps contracts to SQL</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F59E0B"/>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POST→INSERT→201</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F59E0B"/>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Each endpoint has a predictable statement, success code and missing-resource path.</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A DELETE that always returns 204 cannot distinguish an absent record.</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CRUD integration tests cover both existing and missing IDs.</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Endpoint-to-SQL matrix</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SQL Databases</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152</a:t>
            </a:r>
          </a:p>
        </p:txBody>
      </p:sp>
    </p:spTree>
  </p:cSld>
  <p:transition spd="fast">
    <p:fade/>
  </p:transition>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F59E0B"/>
                </a:solidFill>
                <a:latin typeface="Arial"/>
              </a:rPr>
              <a:t>TOPIC 05 · CHART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Indexes trade write work for read speed</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An index on frequently filtered columns reduces scanning as rows grow.</a:t>
            </a:r>
          </a:p>
        </p:txBody>
      </p:sp>
      <p:graphicFrame>
        <p:nvGraphicFramePr>
          <p:cNvPr id="8" name="Chart 7"/>
          <p:cNvGraphicFramePr>
            <a:graphicFrameLocks noGrp="1"/>
          </p:cNvGraphicFramePr>
          <p:nvPr/>
        </p:nvGraphicFramePr>
        <p:xfrm>
          <a:off x="749808" y="2340864"/>
          <a:ext cx="6492240" cy="2697480"/>
        </p:xfrm>
        <a:graphic>
          <a:graphicData uri="http://schemas.openxmlformats.org/drawingml/2006/chart">
            <c:chart xmlns:c="http://schemas.openxmlformats.org/drawingml/2006/chart" r:id="rId2"/>
          </a:graphicData>
        </a:graphic>
      </p:graphicFrame>
      <p:sp>
        <p:nvSpPr>
          <p:cNvPr id="9" name="Rounded Rectangle 8"/>
          <p:cNvSpPr/>
          <p:nvPr/>
        </p:nvSpPr>
        <p:spPr>
          <a:xfrm>
            <a:off x="7543800" y="2340864"/>
            <a:ext cx="3840480" cy="26974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18120" y="2578608"/>
            <a:ext cx="3246120" cy="365760"/>
          </a:xfrm>
          <a:prstGeom prst="rect">
            <a:avLst/>
          </a:prstGeom>
          <a:noFill/>
        </p:spPr>
        <p:txBody>
          <a:bodyPr wrap="square" anchor="t" lIns="36576" rIns="36576" tIns="36576" bIns="36576">
            <a:spAutoFit/>
          </a:bodyPr>
          <a:lstStyle/>
          <a:p>
            <a:pPr algn="l">
              <a:spcAft>
                <a:spcPts val="0"/>
              </a:spcAft>
            </a:pPr>
            <a:r>
              <a:rPr sz="1150" b="1">
                <a:solidFill>
                  <a:srgbClr val="172433"/>
                </a:solidFill>
                <a:latin typeface="Arial"/>
              </a:rPr>
              <a:t>01  index status</a:t>
            </a:r>
          </a:p>
        </p:txBody>
      </p:sp>
      <p:sp>
        <p:nvSpPr>
          <p:cNvPr id="11" name="TextBox 10"/>
          <p:cNvSpPr txBox="1"/>
          <p:nvPr/>
        </p:nvSpPr>
        <p:spPr>
          <a:xfrm>
            <a:off x="7818120" y="3090672"/>
            <a:ext cx="3246120" cy="365760"/>
          </a:xfrm>
          <a:prstGeom prst="rect">
            <a:avLst/>
          </a:prstGeom>
          <a:noFill/>
        </p:spPr>
        <p:txBody>
          <a:bodyPr wrap="square" anchor="t" lIns="36576" rIns="36576" tIns="36576" bIns="36576">
            <a:spAutoFit/>
          </a:bodyPr>
          <a:lstStyle/>
          <a:p>
            <a:pPr algn="l">
              <a:spcAft>
                <a:spcPts val="0"/>
              </a:spcAft>
            </a:pPr>
            <a:r>
              <a:rPr sz="1150" b="0">
                <a:solidFill>
                  <a:srgbClr val="172433"/>
                </a:solidFill>
                <a:latin typeface="Arial"/>
              </a:rPr>
              <a:t>02  measure query plan</a:t>
            </a:r>
          </a:p>
        </p:txBody>
      </p:sp>
      <p:sp>
        <p:nvSpPr>
          <p:cNvPr id="12" name="TextBox 11"/>
          <p:cNvSpPr txBox="1"/>
          <p:nvPr/>
        </p:nvSpPr>
        <p:spPr>
          <a:xfrm>
            <a:off x="7818120" y="3602736"/>
            <a:ext cx="3246120" cy="365760"/>
          </a:xfrm>
          <a:prstGeom prst="rect">
            <a:avLst/>
          </a:prstGeom>
          <a:noFill/>
        </p:spPr>
        <p:txBody>
          <a:bodyPr wrap="square" anchor="t" lIns="36576" rIns="36576" tIns="36576" bIns="36576">
            <a:spAutoFit/>
          </a:bodyPr>
          <a:lstStyle/>
          <a:p>
            <a:pPr algn="l">
              <a:spcAft>
                <a:spcPts val="0"/>
              </a:spcAft>
            </a:pPr>
            <a:r>
              <a:rPr sz="1150" b="0">
                <a:solidFill>
                  <a:srgbClr val="172433"/>
                </a:solidFill>
                <a:latin typeface="Arial"/>
              </a:rPr>
              <a:t>03  avoid indexing every field</a:t>
            </a:r>
          </a:p>
        </p:txBody>
      </p:sp>
      <p:sp>
        <p:nvSpPr>
          <p:cNvPr id="13" name="TextBox 12"/>
          <p:cNvSpPr txBox="1"/>
          <p:nvPr/>
        </p:nvSpPr>
        <p:spPr>
          <a:xfrm>
            <a:off x="7818120" y="4114800"/>
            <a:ext cx="3246120" cy="365760"/>
          </a:xfrm>
          <a:prstGeom prst="rect">
            <a:avLst/>
          </a:prstGeom>
          <a:noFill/>
        </p:spPr>
        <p:txBody>
          <a:bodyPr wrap="square" anchor="t" lIns="36576" rIns="36576" tIns="36576" bIns="36576">
            <a:spAutoFit/>
          </a:bodyPr>
          <a:lstStyle/>
          <a:p>
            <a:pPr algn="l">
              <a:spcAft>
                <a:spcPts val="0"/>
              </a:spcAft>
            </a:pPr>
            <a:r>
              <a:rPr sz="1150" b="0">
                <a:solidFill>
                  <a:srgbClr val="172433"/>
                </a:solidFill>
                <a:latin typeface="Arial"/>
              </a:rPr>
              <a:t>04  small demos may not need many</a:t>
            </a:r>
          </a:p>
        </p:txBody>
      </p:sp>
      <p:sp>
        <p:nvSpPr>
          <p:cNvPr id="14" name="Rounded Rectangle 13"/>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16" name="TextBox 15"/>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Measured query time by row count</a:t>
            </a:r>
          </a:p>
        </p:txBody>
      </p:sp>
      <p:sp>
        <p:nvSpPr>
          <p:cNvPr id="17" name="Rounded Rectangle 16"/>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19" name="TextBox 18"/>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Premature indexes add write overhead and complexity without evidence.</a:t>
            </a:r>
          </a:p>
        </p:txBody>
      </p:sp>
      <p:sp>
        <p:nvSpPr>
          <p:cNvPr id="20" name="Rounded Rectangle 19"/>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22" name="TextBox 21"/>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EXPLAIN QUERY PLAN shows the expected index for the target query.</a:t>
            </a:r>
          </a:p>
        </p:txBody>
      </p:sp>
      <p:sp>
        <p:nvSpPr>
          <p:cNvPr id="23" name="TextBox 2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4" name="TextBox 2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5" name="TextBox 24"/>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SQL Databases</a:t>
            </a:r>
          </a:p>
        </p:txBody>
      </p:sp>
      <p:sp>
        <p:nvSpPr>
          <p:cNvPr id="26" name="TextBox 25"/>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153</a:t>
            </a:r>
          </a:p>
        </p:txBody>
      </p:sp>
    </p:spTree>
  </p:cSld>
  <p:transition spd="fast">
    <p:fade/>
  </p:transition>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F59E0B"/>
                </a:solidFill>
                <a:latin typeface="Arial"/>
              </a:rPr>
              <a:t>TOPIC 05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Indexes trade write work for read speed</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F59E0B"/>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index status</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F59E0B"/>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An index on frequently filtered columns reduces scanning as rows grow.</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Premature indexes add write overhead and complexity without evidence.</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EXPLAIN QUERY PLAN shows the expected index for the target query.</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Measured query time by row count</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SQL Databases</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154</a:t>
            </a:r>
          </a:p>
        </p:txBody>
      </p:sp>
    </p:spTree>
  </p:cSld>
  <p:transition spd="fast">
    <p:fade/>
  </p:transition>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F59E0B"/>
                </a:solidFill>
                <a:latin typeface="Arial"/>
              </a:rPr>
              <a:t>TOPIC 05 · COMPARE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Connection lifetime is an ownership decision</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Open a short-lived request-scoped connection, configure row access and foreign keys, then close it reliably.</a:t>
            </a:r>
          </a:p>
        </p:txBody>
      </p:sp>
      <p:sp>
        <p:nvSpPr>
          <p:cNvPr id="8" name="Rounded Rectangle 7"/>
          <p:cNvSpPr/>
          <p:nvPr/>
        </p:nvSpPr>
        <p:spPr>
          <a:xfrm>
            <a:off x="749808"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50976" y="2596896"/>
            <a:ext cx="502920" cy="50292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1</a:t>
            </a:r>
          </a:p>
        </p:txBody>
      </p:sp>
      <p:sp>
        <p:nvSpPr>
          <p:cNvPr id="11" name="TextBox 10"/>
          <p:cNvSpPr txBox="1"/>
          <p:nvPr/>
        </p:nvSpPr>
        <p:spPr>
          <a:xfrm>
            <a:off x="1682496"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Context manager</a:t>
            </a:r>
          </a:p>
        </p:txBody>
      </p:sp>
      <p:sp>
        <p:nvSpPr>
          <p:cNvPr id="12" name="Rounded Rectangle 11"/>
          <p:cNvSpPr/>
          <p:nvPr/>
        </p:nvSpPr>
        <p:spPr>
          <a:xfrm>
            <a:off x="6172200"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73368" y="2596896"/>
            <a:ext cx="502920" cy="502920"/>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2</a:t>
            </a:r>
          </a:p>
        </p:txBody>
      </p:sp>
      <p:sp>
        <p:nvSpPr>
          <p:cNvPr id="15" name="TextBox 14"/>
          <p:cNvSpPr txBox="1"/>
          <p:nvPr/>
        </p:nvSpPr>
        <p:spPr>
          <a:xfrm>
            <a:off x="7104888"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row_factory</a:t>
            </a:r>
          </a:p>
        </p:txBody>
      </p:sp>
      <p:sp>
        <p:nvSpPr>
          <p:cNvPr id="16" name="Rounded Rectangle 15"/>
          <p:cNvSpPr/>
          <p:nvPr/>
        </p:nvSpPr>
        <p:spPr>
          <a:xfrm>
            <a:off x="749808" y="3639311"/>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50976" y="3904487"/>
            <a:ext cx="502920" cy="50292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0976" y="4032503"/>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3</a:t>
            </a:r>
          </a:p>
        </p:txBody>
      </p:sp>
      <p:sp>
        <p:nvSpPr>
          <p:cNvPr id="19" name="TextBox 18"/>
          <p:cNvSpPr txBox="1"/>
          <p:nvPr/>
        </p:nvSpPr>
        <p:spPr>
          <a:xfrm>
            <a:off x="1682496" y="3840479"/>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PRAGMA foreign_keys=ON</a:t>
            </a:r>
          </a:p>
        </p:txBody>
      </p:sp>
      <p:sp>
        <p:nvSpPr>
          <p:cNvPr id="20" name="Rounded Rectangle 19"/>
          <p:cNvSpPr/>
          <p:nvPr/>
        </p:nvSpPr>
        <p:spPr>
          <a:xfrm>
            <a:off x="6172200" y="3639311"/>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73368" y="3904487"/>
            <a:ext cx="502920" cy="50292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3368" y="4032503"/>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4</a:t>
            </a:r>
          </a:p>
        </p:txBody>
      </p:sp>
      <p:sp>
        <p:nvSpPr>
          <p:cNvPr id="23" name="TextBox 22"/>
          <p:cNvSpPr txBox="1"/>
          <p:nvPr/>
        </p:nvSpPr>
        <p:spPr>
          <a:xfrm>
            <a:off x="7104888" y="3840479"/>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commit/rollback</a:t>
            </a:r>
          </a:p>
        </p:txBody>
      </p:sp>
      <p:sp>
        <p:nvSpPr>
          <p:cNvPr id="24" name="Rounded Rectangle 23"/>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26" name="TextBox 25"/>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Connection lifecycle</a:t>
            </a:r>
          </a:p>
        </p:txBody>
      </p:sp>
      <p:sp>
        <p:nvSpPr>
          <p:cNvPr id="27" name="Rounded Rectangle 26"/>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29" name="TextBox 28"/>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A leaked connection or long transaction holds locks and creates intermittent failures.</a:t>
            </a:r>
          </a:p>
        </p:txBody>
      </p:sp>
      <p:sp>
        <p:nvSpPr>
          <p:cNvPr id="30" name="Rounded Rectangle 29"/>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32" name="TextBox 31"/>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Load tests show no growing open-resource count and no locked-database errors.</a:t>
            </a:r>
          </a:p>
        </p:txBody>
      </p:sp>
      <p:sp>
        <p:nvSpPr>
          <p:cNvPr id="33" name="TextBox 3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4" name="TextBox 3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5" name="TextBox 34"/>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SQL Databases</a:t>
            </a:r>
          </a:p>
        </p:txBody>
      </p:sp>
      <p:sp>
        <p:nvSpPr>
          <p:cNvPr id="36" name="TextBox 35"/>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155</a:t>
            </a:r>
          </a:p>
        </p:txBody>
      </p:sp>
    </p:spTree>
  </p:cSld>
  <p:transition spd="fast">
    <p:fade/>
  </p:transition>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F59E0B"/>
                </a:solidFill>
                <a:latin typeface="Arial"/>
              </a:rPr>
              <a:t>TOPIC 05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Connection lifetime is an ownership decision</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F59E0B"/>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Context manager</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F59E0B"/>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Open a short-lived request-scoped connection, configure row access and foreign keys, then close it reliably.</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A leaked connection or long transaction holds locks and creates intermittent failures.</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Load tests show no growing open-resource count and no locked-database errors.</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Connection lifecycle</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SQL Databases</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156</a:t>
            </a:r>
          </a:p>
        </p:txBody>
      </p:sp>
    </p:spTree>
  </p:cSld>
  <p:transition spd="fast">
    <p:fade/>
  </p:transition>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09 · SCENARIO</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Design the Commerce CRM Database</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74519"/>
            <a:ext cx="6675120" cy="3611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212848"/>
            <a:ext cx="6035040" cy="34747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DESIGN CHALLENGE</a:t>
            </a:r>
          </a:p>
        </p:txBody>
      </p:sp>
      <p:sp>
        <p:nvSpPr>
          <p:cNvPr id="9" name="TextBox 8"/>
          <p:cNvSpPr txBox="1"/>
          <p:nvPr/>
        </p:nvSpPr>
        <p:spPr>
          <a:xfrm>
            <a:off x="1078992" y="2743200"/>
            <a:ext cx="5989320" cy="1097280"/>
          </a:xfrm>
          <a:prstGeom prst="rect">
            <a:avLst/>
          </a:prstGeom>
          <a:noFill/>
        </p:spPr>
        <p:txBody>
          <a:bodyPr wrap="square" anchor="t" lIns="36576" rIns="36576" tIns="36576" bIns="36576">
            <a:spAutoFit/>
          </a:bodyPr>
          <a:lstStyle/>
          <a:p>
            <a:pPr algn="l">
              <a:spcAft>
                <a:spcPts val="0"/>
              </a:spcAft>
            </a:pPr>
            <a:r>
              <a:rPr sz="2200" b="1">
                <a:solidFill>
                  <a:srgbClr val="172433"/>
                </a:solidFill>
                <a:latin typeface="Arial"/>
              </a:rPr>
              <a:t>Create constrained products, customers, orders and order_items tables with relational integrity.</a:t>
            </a:r>
          </a:p>
        </p:txBody>
      </p:sp>
      <p:sp>
        <p:nvSpPr>
          <p:cNvPr id="10" name="TextBox 9"/>
          <p:cNvSpPr txBox="1"/>
          <p:nvPr/>
        </p:nvSpPr>
        <p:spPr>
          <a:xfrm>
            <a:off x="1078992" y="4187952"/>
            <a:ext cx="5989320" cy="731520"/>
          </a:xfrm>
          <a:prstGeom prst="rect">
            <a:avLst/>
          </a:prstGeom>
          <a:noFill/>
        </p:spPr>
        <p:txBody>
          <a:bodyPr wrap="square" anchor="t" lIns="36576" rIns="36576" tIns="36576" bIns="36576">
            <a:spAutoFit/>
          </a:bodyPr>
          <a:lstStyle/>
          <a:p>
            <a:pPr algn="l">
              <a:spcAft>
                <a:spcPts val="0"/>
              </a:spcAft>
            </a:pPr>
            <a:r>
              <a:rPr sz="1400" b="0">
                <a:solidFill>
                  <a:srgbClr val="475569"/>
                </a:solidFill>
                <a:latin typeface="Arial"/>
              </a:rPr>
              <a:t>Build: db.py and schema.sql</a:t>
            </a:r>
          </a:p>
        </p:txBody>
      </p:sp>
      <p:sp>
        <p:nvSpPr>
          <p:cNvPr id="11" name="Rounded Rectangle 10"/>
          <p:cNvSpPr/>
          <p:nvPr/>
        </p:nvSpPr>
        <p:spPr>
          <a:xfrm>
            <a:off x="7754112" y="1874519"/>
            <a:ext cx="3611880" cy="3611880"/>
          </a:xfrm>
          <a:prstGeom prst="roundRect">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19872" y="2249424"/>
            <a:ext cx="2880360" cy="274320"/>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TOOLS</a:t>
            </a:r>
          </a:p>
        </p:txBody>
      </p:sp>
      <p:sp>
        <p:nvSpPr>
          <p:cNvPr id="13" name="TextBox 12"/>
          <p:cNvSpPr txBox="1"/>
          <p:nvPr/>
        </p:nvSpPr>
        <p:spPr>
          <a:xfrm>
            <a:off x="8119872" y="2724912"/>
            <a:ext cx="2834640" cy="914400"/>
          </a:xfrm>
          <a:prstGeom prst="rect">
            <a:avLst/>
          </a:prstGeom>
          <a:noFill/>
        </p:spPr>
        <p:txBody>
          <a:bodyPr wrap="square" anchor="t" lIns="36576" rIns="36576" tIns="36576" bIns="36576">
            <a:spAutoFit/>
          </a:bodyPr>
          <a:lstStyle/>
          <a:p>
            <a:pPr algn="l">
              <a:spcAft>
                <a:spcPts val="0"/>
              </a:spcAft>
            </a:pPr>
            <a:r>
              <a:rPr sz="1600" b="1">
                <a:solidFill>
                  <a:srgbClr val="172433"/>
                </a:solidFill>
                <a:latin typeface="Arial"/>
              </a:rPr>
              <a:t>Python sqlite3, SQLite CLI, OpenAI Python SDK</a:t>
            </a:r>
          </a:p>
        </p:txBody>
      </p:sp>
      <p:sp>
        <p:nvSpPr>
          <p:cNvPr id="14" name="TextBox 13"/>
          <p:cNvSpPr txBox="1"/>
          <p:nvPr/>
        </p:nvSpPr>
        <p:spPr>
          <a:xfrm>
            <a:off x="8119872" y="3886200"/>
            <a:ext cx="2834640" cy="786384"/>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Detailed procedure: Learner Guide + lab README</a:t>
            </a:r>
          </a:p>
        </p:txBody>
      </p:sp>
      <p:sp>
        <p:nvSpPr>
          <p:cNvPr id="15" name="TextBox 14"/>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6" name="TextBox 15"/>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7" name="TextBox 16"/>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157</a:t>
            </a:r>
          </a:p>
        </p:txBody>
      </p:sp>
    </p:spTree>
  </p:cSld>
  <p:transition spd="fast">
    <p:fade/>
  </p:transition>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LAB 09 · PROMPT ARTIFACT</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Prompt submitted by ai_vibe.py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7452360" cy="4005072"/>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121408"/>
            <a:ext cx="6858000" cy="274320"/>
          </a:xfrm>
          <a:prstGeom prst="rect">
            <a:avLst/>
          </a:prstGeom>
          <a:noFill/>
        </p:spPr>
        <p:txBody>
          <a:bodyPr wrap="square" anchor="t" lIns="36576" rIns="36576" tIns="36576" bIns="36576">
            <a:spAutoFit/>
          </a:bodyPr>
          <a:lstStyle/>
          <a:p>
            <a:pPr algn="l">
              <a:spcAft>
                <a:spcPts val="0"/>
              </a:spcAft>
            </a:pPr>
            <a:r>
              <a:rPr sz="1000" b="1">
                <a:solidFill>
                  <a:srgbClr val="06B6D4"/>
                </a:solidFill>
                <a:latin typeface="Arial"/>
              </a:rPr>
              <a:t>LEARNER PROMPT</a:t>
            </a:r>
          </a:p>
        </p:txBody>
      </p:sp>
      <p:sp>
        <p:nvSpPr>
          <p:cNvPr id="9" name="TextBox 8"/>
          <p:cNvSpPr txBox="1"/>
          <p:nvPr/>
        </p:nvSpPr>
        <p:spPr>
          <a:xfrm>
            <a:off x="1051560" y="2596896"/>
            <a:ext cx="6821424" cy="2880360"/>
          </a:xfrm>
          <a:prstGeom prst="rect">
            <a:avLst/>
          </a:prstGeom>
          <a:noFill/>
        </p:spPr>
        <p:txBody>
          <a:bodyPr wrap="square" anchor="t" lIns="36576" rIns="36576" tIns="36576" bIns="36576">
            <a:spAutoFit/>
          </a:bodyPr>
          <a:lstStyle/>
          <a:p>
            <a:pPr algn="l">
              <a:spcAft>
                <a:spcPts val="0"/>
              </a:spcAft>
            </a:pPr>
            <a:r>
              <a:rPr sz="1320" b="0">
                <a:solidFill>
                  <a:srgbClr val="D1FAE5"/>
                </a:solidFill>
                <a:latin typeface="Consolas"/>
              </a:rPr>
              <a:t>You are working on Lab 09 of a Northstar Commerce API. Design SQLite products, customers, orders and order_items tables with primary/foreign keys, UNIQUE email/SKU, money and stock checks, order-state checks and indexes. Generate an idempotent init_db function using sqlite3.Row and PRAGMA foreign_keys=ON, plus tests that initialise twice and reject invalid relationships.</a:t>
            </a:r>
          </a:p>
        </p:txBody>
      </p:sp>
      <p:sp>
        <p:nvSpPr>
          <p:cNvPr id="10" name="Rounded Rectangle 9"/>
          <p:cNvSpPr/>
          <p:nvPr/>
        </p:nvSpPr>
        <p:spPr>
          <a:xfrm>
            <a:off x="8439912" y="1847088"/>
            <a:ext cx="2944368" cy="400507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14232" y="2130552"/>
            <a:ext cx="2377440" cy="256032"/>
          </a:xfrm>
          <a:prstGeom prst="rect">
            <a:avLst/>
          </a:prstGeom>
          <a:noFill/>
        </p:spPr>
        <p:txBody>
          <a:bodyPr wrap="square" anchor="t" lIns="36576" rIns="36576" tIns="36576" bIns="36576">
            <a:spAutoFit/>
          </a:bodyPr>
          <a:lstStyle/>
          <a:p>
            <a:pPr algn="l">
              <a:spcAft>
                <a:spcPts val="0"/>
              </a:spcAft>
            </a:pPr>
            <a:r>
              <a:rPr sz="950" b="1">
                <a:solidFill>
                  <a:srgbClr val="7C3AED"/>
                </a:solidFill>
                <a:latin typeface="Arial"/>
              </a:rPr>
              <a:t>PYTHON SDK ENVELOPE</a:t>
            </a:r>
          </a:p>
        </p:txBody>
      </p:sp>
      <p:sp>
        <p:nvSpPr>
          <p:cNvPr id="12" name="Rounded Rectangle 11"/>
          <p:cNvSpPr/>
          <p:nvPr/>
        </p:nvSpPr>
        <p:spPr>
          <a:xfrm>
            <a:off x="8714232" y="2615184"/>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07424" y="2578608"/>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Prompts.pdf</a:t>
            </a:r>
          </a:p>
        </p:txBody>
      </p:sp>
      <p:sp>
        <p:nvSpPr>
          <p:cNvPr id="14" name="Rounded Rectangle 13"/>
          <p:cNvSpPr/>
          <p:nvPr/>
        </p:nvSpPr>
        <p:spPr>
          <a:xfrm>
            <a:off x="8714232" y="3081528"/>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07424" y="3044952"/>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mock-data.json</a:t>
            </a:r>
          </a:p>
        </p:txBody>
      </p:sp>
      <p:sp>
        <p:nvSpPr>
          <p:cNvPr id="16" name="Rounded Rectangle 15"/>
          <p:cNvSpPr/>
          <p:nvPr/>
        </p:nvSpPr>
        <p:spPr>
          <a:xfrm>
            <a:off x="8714232" y="3547872"/>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07424" y="3511296"/>
            <a:ext cx="1874519" cy="274320"/>
          </a:xfrm>
          <a:prstGeom prst="rect">
            <a:avLst/>
          </a:prstGeom>
          <a:noFill/>
        </p:spPr>
        <p:txBody>
          <a:bodyPr wrap="square" anchor="t" lIns="36576" rIns="36576" tIns="36576" bIns="36576">
            <a:spAutoFit/>
          </a:bodyPr>
          <a:lstStyle/>
          <a:p>
            <a:pPr algn="l">
              <a:spcAft>
                <a:spcPts val="0"/>
              </a:spcAft>
            </a:pPr>
            <a:r>
              <a:rPr sz="1050" b="1">
                <a:solidFill>
                  <a:srgbClr val="172433"/>
                </a:solidFill>
                <a:latin typeface="Arial"/>
              </a:rPr>
              <a:t>responses.parse</a:t>
            </a:r>
          </a:p>
        </p:txBody>
      </p:sp>
      <p:sp>
        <p:nvSpPr>
          <p:cNvPr id="18" name="Rounded Rectangle 17"/>
          <p:cNvSpPr/>
          <p:nvPr/>
        </p:nvSpPr>
        <p:spPr>
          <a:xfrm>
            <a:off x="8714232" y="4014215"/>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07424" y="3977639"/>
            <a:ext cx="1874519" cy="274320"/>
          </a:xfrm>
          <a:prstGeom prst="rect">
            <a:avLst/>
          </a:prstGeom>
          <a:noFill/>
        </p:spPr>
        <p:txBody>
          <a:bodyPr wrap="square" anchor="t" lIns="36576" rIns="36576" tIns="36576" bIns="36576">
            <a:spAutoFit/>
          </a:bodyPr>
          <a:lstStyle/>
          <a:p>
            <a:pPr algn="l">
              <a:spcAft>
                <a:spcPts val="0"/>
              </a:spcAft>
            </a:pPr>
            <a:r>
              <a:rPr sz="1050" b="1">
                <a:solidFill>
                  <a:srgbClr val="172433"/>
                </a:solidFill>
                <a:latin typeface="Arial"/>
              </a:rPr>
              <a:t>CodeBundle</a:t>
            </a:r>
          </a:p>
        </p:txBody>
      </p:sp>
      <p:sp>
        <p:nvSpPr>
          <p:cNvPr id="20" name="Rounded Rectangle 19"/>
          <p:cNvSpPr/>
          <p:nvPr/>
        </p:nvSpPr>
        <p:spPr>
          <a:xfrm>
            <a:off x="8714232" y="4480560"/>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07424" y="4443984"/>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generated/</a:t>
            </a:r>
          </a:p>
        </p:txBody>
      </p:sp>
      <p:sp>
        <p:nvSpPr>
          <p:cNvPr id="22" name="Rounded Rectangle 21"/>
          <p:cNvSpPr/>
          <p:nvPr/>
        </p:nvSpPr>
        <p:spPr>
          <a:xfrm>
            <a:off x="8714232" y="4946904"/>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07424" y="4910328"/>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pytest + review</a:t>
            </a:r>
          </a:p>
        </p:txBody>
      </p:sp>
      <p:sp>
        <p:nvSpPr>
          <p:cNvPr id="24" name="TextBox 23"/>
          <p:cNvSpPr txBox="1"/>
          <p:nvPr/>
        </p:nvSpPr>
        <p:spPr>
          <a:xfrm>
            <a:off x="8714232" y="5468112"/>
            <a:ext cx="2148840" cy="219456"/>
          </a:xfrm>
          <a:prstGeom prst="rect">
            <a:avLst/>
          </a:prstGeom>
          <a:noFill/>
        </p:spPr>
        <p:txBody>
          <a:bodyPr wrap="square" anchor="t" lIns="36576" rIns="36576" tIns="36576" bIns="36576">
            <a:spAutoFit/>
          </a:bodyPr>
          <a:lstStyle/>
          <a:p>
            <a:pPr algn="l">
              <a:spcAft>
                <a:spcPts val="0"/>
              </a:spcAft>
            </a:pPr>
            <a:r>
              <a:rPr sz="950" b="1">
                <a:solidFill>
                  <a:srgbClr val="10B981"/>
                </a:solidFill>
                <a:latin typeface="Arial"/>
              </a:rPr>
              <a:t>Full prompt + refinement</a:t>
            </a:r>
          </a:p>
        </p:txBody>
      </p:sp>
      <p:sp>
        <p:nvSpPr>
          <p:cNvPr id="25" name="TextBox 24"/>
          <p:cNvSpPr txBox="1"/>
          <p:nvPr/>
        </p:nvSpPr>
        <p:spPr>
          <a:xfrm>
            <a:off x="8714232" y="5650992"/>
            <a:ext cx="2148840" cy="219456"/>
          </a:xfrm>
          <a:prstGeom prst="rect">
            <a:avLst/>
          </a:prstGeom>
          <a:noFill/>
        </p:spPr>
        <p:txBody>
          <a:bodyPr wrap="square" anchor="t" lIns="36576" rIns="36576" tIns="36576" bIns="36576">
            <a:spAutoFit/>
          </a:bodyPr>
          <a:lstStyle/>
          <a:p>
            <a:pPr algn="l">
              <a:spcAft>
                <a:spcPts val="0"/>
              </a:spcAft>
            </a:pPr>
            <a:r>
              <a:rPr sz="950" b="0">
                <a:solidFill>
                  <a:srgbClr val="475569"/>
                </a:solidFill>
                <a:latin typeface="Arial"/>
              </a:rPr>
              <a:t>in the lab Prompts.pdf</a:t>
            </a:r>
          </a:p>
        </p:txBody>
      </p:sp>
      <p:sp>
        <p:nvSpPr>
          <p:cNvPr id="26" name="TextBox 2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7" name="TextBox 2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8" name="TextBox 27"/>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OpenAI Python SDK</a:t>
            </a:r>
          </a:p>
        </p:txBody>
      </p:sp>
      <p:sp>
        <p:nvSpPr>
          <p:cNvPr id="29" name="TextBox 2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158</a:t>
            </a:r>
          </a:p>
        </p:txBody>
      </p:sp>
    </p:spTree>
  </p:cSld>
  <p:transition spd="fast">
    <p:fade/>
  </p:transition>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09 · MECHANISM</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How Design the Commerce CRM Database works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665351"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5351"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1</a:t>
            </a:r>
          </a:p>
        </p:txBody>
      </p:sp>
      <p:sp>
        <p:nvSpPr>
          <p:cNvPr id="10" name="TextBox 9"/>
          <p:cNvSpPr txBox="1"/>
          <p:nvPr/>
        </p:nvSpPr>
        <p:spPr>
          <a:xfrm>
            <a:off x="859536"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Input contract</a:t>
            </a:r>
          </a:p>
        </p:txBody>
      </p:sp>
      <p:sp>
        <p:nvSpPr>
          <p:cNvPr id="11" name="TextBox 10"/>
          <p:cNvSpPr txBox="1"/>
          <p:nvPr/>
        </p:nvSpPr>
        <p:spPr>
          <a:xfrm>
            <a:off x="886968"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Create constrained products, customers, orders and order_items tables with relational integrity.</a:t>
            </a:r>
          </a:p>
        </p:txBody>
      </p:sp>
      <p:sp>
        <p:nvSpPr>
          <p:cNvPr id="12" name="Rounded Rectangle 11"/>
          <p:cNvSpPr/>
          <p:nvPr/>
        </p:nvSpPr>
        <p:spPr>
          <a:xfrm>
            <a:off x="3477006"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92549"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92549"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2</a:t>
            </a:r>
          </a:p>
        </p:txBody>
      </p:sp>
      <p:sp>
        <p:nvSpPr>
          <p:cNvPr id="15" name="TextBox 14"/>
          <p:cNvSpPr txBox="1"/>
          <p:nvPr/>
        </p:nvSpPr>
        <p:spPr>
          <a:xfrm>
            <a:off x="3586734"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Boundary validation</a:t>
            </a:r>
          </a:p>
        </p:txBody>
      </p:sp>
      <p:sp>
        <p:nvSpPr>
          <p:cNvPr id="16" name="TextBox 15"/>
          <p:cNvSpPr txBox="1"/>
          <p:nvPr/>
        </p:nvSpPr>
        <p:spPr>
          <a:xfrm>
            <a:off x="3614166"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Reject invalid or unauthorised input</a:t>
            </a:r>
          </a:p>
        </p:txBody>
      </p:sp>
      <p:sp>
        <p:nvSpPr>
          <p:cNvPr id="17" name="Rounded Rectangle 16"/>
          <p:cNvSpPr/>
          <p:nvPr/>
        </p:nvSpPr>
        <p:spPr>
          <a:xfrm>
            <a:off x="6204204"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119747"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9747"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3</a:t>
            </a:r>
          </a:p>
        </p:txBody>
      </p:sp>
      <p:sp>
        <p:nvSpPr>
          <p:cNvPr id="20" name="TextBox 19"/>
          <p:cNvSpPr txBox="1"/>
          <p:nvPr/>
        </p:nvSpPr>
        <p:spPr>
          <a:xfrm>
            <a:off x="6313932"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Business decision</a:t>
            </a:r>
          </a:p>
        </p:txBody>
      </p:sp>
      <p:sp>
        <p:nvSpPr>
          <p:cNvPr id="21" name="TextBox 20"/>
          <p:cNvSpPr txBox="1"/>
          <p:nvPr/>
        </p:nvSpPr>
        <p:spPr>
          <a:xfrm>
            <a:off x="6341364"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Apply one explicit rule</a:t>
            </a:r>
          </a:p>
        </p:txBody>
      </p:sp>
      <p:sp>
        <p:nvSpPr>
          <p:cNvPr id="22" name="Rounded Rectangle 21"/>
          <p:cNvSpPr/>
          <p:nvPr/>
        </p:nvSpPr>
        <p:spPr>
          <a:xfrm>
            <a:off x="8931402"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46945"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46945"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4</a:t>
            </a:r>
          </a:p>
        </p:txBody>
      </p:sp>
      <p:sp>
        <p:nvSpPr>
          <p:cNvPr id="25" name="TextBox 24"/>
          <p:cNvSpPr txBox="1"/>
          <p:nvPr/>
        </p:nvSpPr>
        <p:spPr>
          <a:xfrm>
            <a:off x="9041130"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State/evidence</a:t>
            </a:r>
          </a:p>
        </p:txBody>
      </p:sp>
      <p:sp>
        <p:nvSpPr>
          <p:cNvPr id="26" name="TextBox 25"/>
          <p:cNvSpPr txBox="1"/>
          <p:nvPr/>
        </p:nvSpPr>
        <p:spPr>
          <a:xfrm>
            <a:off x="9068562"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Initialisation is idempotent and SQLite enforces unique SKU/email, valid money/stock, order status and foreign keys.</a:t>
            </a:r>
          </a:p>
        </p:txBody>
      </p:sp>
      <p:sp>
        <p:nvSpPr>
          <p:cNvPr id="27" name="TextBox 26"/>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8" name="TextBox 27"/>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9" name="TextBox 2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159</a:t>
            </a:r>
          </a:p>
        </p:txBody>
      </p:sp>
    </p:spTree>
  </p:cSld>
  <p:transition spd="fast">
    <p:fade/>
  </p:transition>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09 ·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db.py and schema.sql</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01952"/>
            <a:ext cx="6812280" cy="3611880"/>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194560"/>
            <a:ext cx="6144768" cy="3063240"/>
          </a:xfrm>
          <a:prstGeom prst="rect">
            <a:avLst/>
          </a:prstGeom>
          <a:noFill/>
        </p:spPr>
        <p:txBody>
          <a:bodyPr wrap="square" anchor="t" lIns="36576" rIns="36576" tIns="36576" bIns="36576">
            <a:spAutoFit/>
          </a:bodyPr>
          <a:lstStyle/>
          <a:p>
            <a:pPr algn="l">
              <a:spcAft>
                <a:spcPts val="0"/>
              </a:spcAft>
            </a:pPr>
            <a:r>
              <a:rPr sz="1250" b="0">
                <a:solidFill>
                  <a:srgbClr val="A7F3D0"/>
                </a:solidFill>
                <a:latin typeface="Consolas"/>
              </a:rPr>
              <a:t>REQUEST
  lab: 09
  objective: Create constrained products, customers, orders and
             order_items tables with relational
             integrity.
EXPECTED EVIDENCE
  artifact: db.py and schema.sql
  codes: A1, A3
  status: verified</a:t>
            </a:r>
          </a:p>
        </p:txBody>
      </p:sp>
      <p:sp>
        <p:nvSpPr>
          <p:cNvPr id="9" name="Rounded Rectangle 8"/>
          <p:cNvSpPr/>
          <p:nvPr/>
        </p:nvSpPr>
        <p:spPr>
          <a:xfrm>
            <a:off x="7882127" y="1901952"/>
            <a:ext cx="3493008" cy="3611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2212848"/>
            <a:ext cx="2880360" cy="310896"/>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ASSESSMENT BRIDGE</a:t>
            </a:r>
          </a:p>
        </p:txBody>
      </p:sp>
      <p:sp>
        <p:nvSpPr>
          <p:cNvPr id="11" name="TextBox 10"/>
          <p:cNvSpPr txBox="1"/>
          <p:nvPr/>
        </p:nvSpPr>
        <p:spPr>
          <a:xfrm>
            <a:off x="8193024" y="2761488"/>
            <a:ext cx="2834640" cy="1051560"/>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Ability codes
A1, A3</a:t>
            </a:r>
          </a:p>
        </p:txBody>
      </p:sp>
      <p:sp>
        <p:nvSpPr>
          <p:cNvPr id="12" name="TextBox 11"/>
          <p:cNvSpPr txBox="1"/>
          <p:nvPr/>
        </p:nvSpPr>
        <p:spPr>
          <a:xfrm>
            <a:off x="8193024" y="4160520"/>
            <a:ext cx="2788920" cy="685800"/>
          </a:xfrm>
          <a:prstGeom prst="rect">
            <a:avLst/>
          </a:prstGeom>
          <a:noFill/>
        </p:spPr>
        <p:txBody>
          <a:bodyPr wrap="square" anchor="t" lIns="36576" rIns="36576" tIns="36576" bIns="36576">
            <a:spAutoFit/>
          </a:bodyPr>
          <a:lstStyle/>
          <a:p>
            <a:pPr algn="l">
              <a:spcAft>
                <a:spcPts val="0"/>
              </a:spcAft>
            </a:pPr>
            <a:r>
              <a:rPr sz="1100" b="0">
                <a:solidFill>
                  <a:srgbClr val="475569"/>
                </a:solidFill>
                <a:latin typeface="Arial"/>
              </a:rPr>
              <a:t>Capture a screenshot, terminal output or test result that proves the acceptance criterion.</a:t>
            </a:r>
          </a:p>
        </p:txBody>
      </p:sp>
      <p:sp>
        <p:nvSpPr>
          <p:cNvPr id="13" name="TextBox 1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4" name="TextBox 1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5" name="TextBox 14"/>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160</a:t>
            </a:r>
          </a:p>
        </p:txBody>
      </p:sp>
    </p:spTree>
  </p:cSld>
  <p:transition spd="fast">
    <p:fade/>
  </p:transition>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09 · VERIFY</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Acceptance and diagnosis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74519"/>
            <a:ext cx="5166360" cy="3611880"/>
          </a:xfrm>
          <a:prstGeom prst="roundRect">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240280"/>
            <a:ext cx="4526280" cy="310896"/>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PASS WHEN</a:t>
            </a:r>
          </a:p>
        </p:txBody>
      </p:sp>
      <p:sp>
        <p:nvSpPr>
          <p:cNvPr id="9" name="TextBox 8"/>
          <p:cNvSpPr txBox="1"/>
          <p:nvPr/>
        </p:nvSpPr>
        <p:spPr>
          <a:xfrm>
            <a:off x="1078992" y="2798064"/>
            <a:ext cx="4498848" cy="1600200"/>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Initialisation is idempotent and SQLite enforces unique SKU/email, valid money/stock, order status and foreign keys.</a:t>
            </a:r>
          </a:p>
        </p:txBody>
      </p:sp>
      <p:sp>
        <p:nvSpPr>
          <p:cNvPr id="10" name="Rounded Rectangle 9"/>
          <p:cNvSpPr/>
          <p:nvPr/>
        </p:nvSpPr>
        <p:spPr>
          <a:xfrm>
            <a:off x="6217920" y="1874519"/>
            <a:ext cx="5148072" cy="3611880"/>
          </a:xfrm>
          <a:prstGeom prst="roundRect">
            <a:avLst/>
          </a:prstGeom>
          <a:solidFill>
            <a:srgbClr val="FEF2F2"/>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56248" y="2240280"/>
            <a:ext cx="4480560" cy="310896"/>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DIAGNOSE</a:t>
            </a:r>
          </a:p>
        </p:txBody>
      </p:sp>
      <p:sp>
        <p:nvSpPr>
          <p:cNvPr id="12" name="TextBox 11"/>
          <p:cNvSpPr txBox="1"/>
          <p:nvPr/>
        </p:nvSpPr>
        <p:spPr>
          <a:xfrm>
            <a:off x="6556248" y="277063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1. Inspect HTTP status and response body</a:t>
            </a:r>
          </a:p>
        </p:txBody>
      </p:sp>
      <p:sp>
        <p:nvSpPr>
          <p:cNvPr id="13" name="TextBox 12"/>
          <p:cNvSpPr txBox="1"/>
          <p:nvPr/>
        </p:nvSpPr>
        <p:spPr>
          <a:xfrm>
            <a:off x="6556248" y="327355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2. Check request fields and headers</a:t>
            </a:r>
          </a:p>
        </p:txBody>
      </p:sp>
      <p:sp>
        <p:nvSpPr>
          <p:cNvPr id="14" name="TextBox 13"/>
          <p:cNvSpPr txBox="1"/>
          <p:nvPr/>
        </p:nvSpPr>
        <p:spPr>
          <a:xfrm>
            <a:off x="6556248" y="377647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3. Follow request ID into logs</a:t>
            </a:r>
          </a:p>
        </p:txBody>
      </p:sp>
      <p:sp>
        <p:nvSpPr>
          <p:cNvPr id="15" name="TextBox 14"/>
          <p:cNvSpPr txBox="1"/>
          <p:nvPr/>
        </p:nvSpPr>
        <p:spPr>
          <a:xfrm>
            <a:off x="6556248" y="427939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4. Re-run the smallest failing test</a:t>
            </a:r>
          </a:p>
        </p:txBody>
      </p:sp>
      <p:sp>
        <p:nvSpPr>
          <p:cNvPr id="16" name="TextBox 1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7" name="TextBox 1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8" name="TextBox 17"/>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161</a:t>
            </a:r>
          </a:p>
        </p:txBody>
      </p:sp>
    </p:spTree>
  </p:cSld>
  <p:transition spd="fast">
    <p:fade/>
  </p:transition>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LAB 09 · CONTRACT REVIEW</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Prompt output must preserve the API boundary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02352" cy="3730752"/>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176272"/>
            <a:ext cx="4434840" cy="420624"/>
          </a:xfrm>
          <a:prstGeom prst="rect">
            <a:avLst/>
          </a:prstGeom>
          <a:noFill/>
        </p:spPr>
        <p:txBody>
          <a:bodyPr wrap="square" anchor="t" lIns="36576" rIns="36576" tIns="36576" bIns="36576">
            <a:spAutoFit/>
          </a:bodyPr>
          <a:lstStyle/>
          <a:p>
            <a:pPr algn="l">
              <a:spcAft>
                <a:spcPts val="0"/>
              </a:spcAft>
            </a:pPr>
            <a:r>
              <a:rPr sz="1000" b="1">
                <a:solidFill>
                  <a:srgbClr val="D1FAE5"/>
                </a:solidFill>
                <a:latin typeface="Arial"/>
              </a:rPr>
              <a:t>TARGET FILES</a:t>
            </a:r>
          </a:p>
        </p:txBody>
      </p:sp>
      <p:sp>
        <p:nvSpPr>
          <p:cNvPr id="9" name="TextBox 8"/>
          <p:cNvSpPr txBox="1"/>
          <p:nvPr/>
        </p:nvSpPr>
        <p:spPr>
          <a:xfrm>
            <a:off x="1078992" y="2743200"/>
            <a:ext cx="4434840" cy="420624"/>
          </a:xfrm>
          <a:prstGeom prst="rect">
            <a:avLst/>
          </a:prstGeom>
          <a:noFill/>
        </p:spPr>
        <p:txBody>
          <a:bodyPr wrap="square" anchor="t" lIns="36576" rIns="36576" tIns="36576" bIns="36576">
            <a:spAutoFit/>
          </a:bodyPr>
          <a:lstStyle/>
          <a:p>
            <a:pPr algn="l">
              <a:spcAft>
                <a:spcPts val="0"/>
              </a:spcAft>
            </a:pPr>
            <a:r>
              <a:rPr sz="1100" b="0">
                <a:solidFill>
                  <a:srgbClr val="D1FAE5"/>
                </a:solidFill>
                <a:latin typeface="Consolas"/>
              </a:rPr>
              <a:t>app/schema.sql</a:t>
            </a:r>
          </a:p>
        </p:txBody>
      </p:sp>
      <p:sp>
        <p:nvSpPr>
          <p:cNvPr id="10" name="TextBox 9"/>
          <p:cNvSpPr txBox="1"/>
          <p:nvPr/>
        </p:nvSpPr>
        <p:spPr>
          <a:xfrm>
            <a:off x="1078992" y="3310128"/>
            <a:ext cx="4434840" cy="420624"/>
          </a:xfrm>
          <a:prstGeom prst="rect">
            <a:avLst/>
          </a:prstGeom>
          <a:noFill/>
        </p:spPr>
        <p:txBody>
          <a:bodyPr wrap="square" anchor="t" lIns="36576" rIns="36576" tIns="36576" bIns="36576">
            <a:spAutoFit/>
          </a:bodyPr>
          <a:lstStyle/>
          <a:p>
            <a:pPr algn="l">
              <a:spcAft>
                <a:spcPts val="0"/>
              </a:spcAft>
            </a:pPr>
            <a:r>
              <a:rPr sz="1100" b="0">
                <a:solidFill>
                  <a:srgbClr val="D1FAE5"/>
                </a:solidFill>
                <a:latin typeface="Consolas"/>
              </a:rPr>
              <a:t>app/db.py</a:t>
            </a:r>
          </a:p>
        </p:txBody>
      </p:sp>
      <p:sp>
        <p:nvSpPr>
          <p:cNvPr id="11" name="TextBox 10"/>
          <p:cNvSpPr txBox="1"/>
          <p:nvPr/>
        </p:nvSpPr>
        <p:spPr>
          <a:xfrm>
            <a:off x="1078992" y="3877056"/>
            <a:ext cx="4434840" cy="420624"/>
          </a:xfrm>
          <a:prstGeom prst="rect">
            <a:avLst/>
          </a:prstGeom>
          <a:noFill/>
        </p:spPr>
        <p:txBody>
          <a:bodyPr wrap="square" anchor="t" lIns="36576" rIns="36576" tIns="36576" bIns="36576">
            <a:spAutoFit/>
          </a:bodyPr>
          <a:lstStyle/>
          <a:p>
            <a:pPr algn="l">
              <a:spcAft>
                <a:spcPts val="0"/>
              </a:spcAft>
            </a:pPr>
            <a:r>
              <a:rPr sz="1100" b="0">
                <a:solidFill>
                  <a:srgbClr val="D1FAE5"/>
                </a:solidFill>
                <a:latin typeface="Consolas"/>
              </a:rPr>
              <a:t>tests/test_database.py</a:t>
            </a:r>
          </a:p>
        </p:txBody>
      </p:sp>
      <p:sp>
        <p:nvSpPr>
          <p:cNvPr id="12" name="Rounded Rectangle 11"/>
          <p:cNvSpPr/>
          <p:nvPr/>
        </p:nvSpPr>
        <p:spPr>
          <a:xfrm>
            <a:off x="6144768" y="1847088"/>
            <a:ext cx="5230368" cy="373075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2176272"/>
            <a:ext cx="4526280" cy="237744"/>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ACCEPTANCE</a:t>
            </a:r>
          </a:p>
        </p:txBody>
      </p:sp>
      <p:sp>
        <p:nvSpPr>
          <p:cNvPr id="14" name="TextBox 13"/>
          <p:cNvSpPr txBox="1"/>
          <p:nvPr/>
        </p:nvSpPr>
        <p:spPr>
          <a:xfrm>
            <a:off x="6473952" y="2578608"/>
            <a:ext cx="4526280" cy="1417320"/>
          </a:xfrm>
          <a:prstGeom prst="rect">
            <a:avLst/>
          </a:prstGeom>
          <a:noFill/>
        </p:spPr>
        <p:txBody>
          <a:bodyPr wrap="square" anchor="t" lIns="36576" rIns="36576" tIns="36576" bIns="36576">
            <a:spAutoFit/>
          </a:bodyPr>
          <a:lstStyle/>
          <a:p>
            <a:pPr algn="l">
              <a:spcAft>
                <a:spcPts val="0"/>
              </a:spcAft>
            </a:pPr>
            <a:r>
              <a:rPr sz="1500" b="1">
                <a:solidFill>
                  <a:srgbClr val="172433"/>
                </a:solidFill>
                <a:latin typeface="Arial"/>
              </a:rPr>
              <a:t>Initialisation is idempotent and SQLite enforces unique SKU/email, valid money/stock, order status and foreign keys.</a:t>
            </a:r>
          </a:p>
        </p:txBody>
      </p:sp>
      <p:sp>
        <p:nvSpPr>
          <p:cNvPr id="15" name="TextBox 14"/>
          <p:cNvSpPr txBox="1"/>
          <p:nvPr/>
        </p:nvSpPr>
        <p:spPr>
          <a:xfrm>
            <a:off x="6473952" y="4279392"/>
            <a:ext cx="4526280" cy="237744"/>
          </a:xfrm>
          <a:prstGeom prst="rect">
            <a:avLst/>
          </a:prstGeom>
          <a:noFill/>
        </p:spPr>
        <p:txBody>
          <a:bodyPr wrap="square" anchor="t" lIns="36576" rIns="36576" tIns="36576" bIns="36576">
            <a:spAutoFit/>
          </a:bodyPr>
          <a:lstStyle/>
          <a:p>
            <a:pPr algn="l">
              <a:spcAft>
                <a:spcPts val="0"/>
              </a:spcAft>
            </a:pPr>
            <a:r>
              <a:rPr sz="1000" b="1">
                <a:solidFill>
                  <a:srgbClr val="7C3AED"/>
                </a:solidFill>
                <a:latin typeface="Arial"/>
              </a:rPr>
              <a:t>ABILITY TRACE</a:t>
            </a:r>
          </a:p>
        </p:txBody>
      </p:sp>
      <p:sp>
        <p:nvSpPr>
          <p:cNvPr id="16" name="TextBox 15"/>
          <p:cNvSpPr txBox="1"/>
          <p:nvPr/>
        </p:nvSpPr>
        <p:spPr>
          <a:xfrm>
            <a:off x="6473952" y="4645152"/>
            <a:ext cx="4526280" cy="438912"/>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A1, A3</a:t>
            </a:r>
          </a:p>
        </p:txBody>
      </p:sp>
      <p:sp>
        <p:nvSpPr>
          <p:cNvPr id="17" name="TextBox 16"/>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8" name="TextBox 17"/>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9" name="TextBox 18"/>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OpenAPI contract + lab prompt</a:t>
            </a:r>
          </a:p>
        </p:txBody>
      </p:sp>
      <p:sp>
        <p:nvSpPr>
          <p:cNvPr id="20" name="TextBox 19"/>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162</a:t>
            </a:r>
          </a:p>
        </p:txBody>
      </p:sp>
    </p:spTree>
  </p:cSld>
  <p:transition spd="fast">
    <p:fade/>
  </p:transition>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10 · SCENARIO</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Implement SQLite CRUD and Orders Safely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74519"/>
            <a:ext cx="6675120" cy="3611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212848"/>
            <a:ext cx="6035040" cy="34747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DESIGN CHALLENGE</a:t>
            </a:r>
          </a:p>
        </p:txBody>
      </p:sp>
      <p:sp>
        <p:nvSpPr>
          <p:cNvPr id="9" name="TextBox 8"/>
          <p:cNvSpPr txBox="1"/>
          <p:nvPr/>
        </p:nvSpPr>
        <p:spPr>
          <a:xfrm>
            <a:off x="1078992" y="2743200"/>
            <a:ext cx="5989320" cy="1097280"/>
          </a:xfrm>
          <a:prstGeom prst="rect">
            <a:avLst/>
          </a:prstGeom>
          <a:noFill/>
        </p:spPr>
        <p:txBody>
          <a:bodyPr wrap="square" anchor="t" lIns="36576" rIns="36576" tIns="36576" bIns="36576">
            <a:spAutoFit/>
          </a:bodyPr>
          <a:lstStyle/>
          <a:p>
            <a:pPr algn="l">
              <a:spcAft>
                <a:spcPts val="0"/>
              </a:spcAft>
            </a:pPr>
            <a:r>
              <a:rPr sz="2200" b="1">
                <a:solidFill>
                  <a:srgbClr val="172433"/>
                </a:solidFill>
                <a:latin typeface="Arial"/>
              </a:rPr>
              <a:t>Connect product, customer and order operations to parameterized SQL and atomic transactions.</a:t>
            </a:r>
          </a:p>
        </p:txBody>
      </p:sp>
      <p:sp>
        <p:nvSpPr>
          <p:cNvPr id="10" name="TextBox 9"/>
          <p:cNvSpPr txBox="1"/>
          <p:nvPr/>
        </p:nvSpPr>
        <p:spPr>
          <a:xfrm>
            <a:off x="1078992" y="4187952"/>
            <a:ext cx="5989320" cy="731520"/>
          </a:xfrm>
          <a:prstGeom prst="rect">
            <a:avLst/>
          </a:prstGeom>
          <a:noFill/>
        </p:spPr>
        <p:txBody>
          <a:bodyPr wrap="square" anchor="t" lIns="36576" rIns="36576" tIns="36576" bIns="36576">
            <a:spAutoFit/>
          </a:bodyPr>
          <a:lstStyle/>
          <a:p>
            <a:pPr algn="l">
              <a:spcAft>
                <a:spcPts val="0"/>
              </a:spcAft>
            </a:pPr>
            <a:r>
              <a:rPr sz="1400" b="0">
                <a:solidFill>
                  <a:srgbClr val="475569"/>
                </a:solidFill>
                <a:latin typeface="Arial"/>
              </a:rPr>
              <a:t>Build: repository.py with catalog, CRM and order transaction functions</a:t>
            </a:r>
          </a:p>
        </p:txBody>
      </p:sp>
      <p:sp>
        <p:nvSpPr>
          <p:cNvPr id="11" name="Rounded Rectangle 10"/>
          <p:cNvSpPr/>
          <p:nvPr/>
        </p:nvSpPr>
        <p:spPr>
          <a:xfrm>
            <a:off x="7754112" y="1874519"/>
            <a:ext cx="3611880" cy="3611880"/>
          </a:xfrm>
          <a:prstGeom prst="roundRect">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19872" y="2249424"/>
            <a:ext cx="2880360" cy="274320"/>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TOOLS</a:t>
            </a:r>
          </a:p>
        </p:txBody>
      </p:sp>
      <p:sp>
        <p:nvSpPr>
          <p:cNvPr id="13" name="TextBox 12"/>
          <p:cNvSpPr txBox="1"/>
          <p:nvPr/>
        </p:nvSpPr>
        <p:spPr>
          <a:xfrm>
            <a:off x="8119872" y="2724912"/>
            <a:ext cx="2834640" cy="914400"/>
          </a:xfrm>
          <a:prstGeom prst="rect">
            <a:avLst/>
          </a:prstGeom>
          <a:noFill/>
        </p:spPr>
        <p:txBody>
          <a:bodyPr wrap="square" anchor="t" lIns="36576" rIns="36576" tIns="36576" bIns="36576">
            <a:spAutoFit/>
          </a:bodyPr>
          <a:lstStyle/>
          <a:p>
            <a:pPr algn="l">
              <a:spcAft>
                <a:spcPts val="0"/>
              </a:spcAft>
            </a:pPr>
            <a:r>
              <a:rPr sz="1600" b="1">
                <a:solidFill>
                  <a:srgbClr val="172433"/>
                </a:solidFill>
                <a:latin typeface="Arial"/>
              </a:rPr>
              <a:t>sqlite3, FastAPI, pytest, OpenAI Python SDK</a:t>
            </a:r>
          </a:p>
        </p:txBody>
      </p:sp>
      <p:sp>
        <p:nvSpPr>
          <p:cNvPr id="14" name="TextBox 13"/>
          <p:cNvSpPr txBox="1"/>
          <p:nvPr/>
        </p:nvSpPr>
        <p:spPr>
          <a:xfrm>
            <a:off x="8119872" y="3886200"/>
            <a:ext cx="2834640" cy="786384"/>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Detailed procedure: Learner Guide + lab README</a:t>
            </a:r>
          </a:p>
        </p:txBody>
      </p:sp>
      <p:sp>
        <p:nvSpPr>
          <p:cNvPr id="15" name="TextBox 14"/>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6" name="TextBox 15"/>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7" name="TextBox 16"/>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163</a:t>
            </a:r>
          </a:p>
        </p:txBody>
      </p:sp>
    </p:spTree>
  </p:cSld>
  <p:transition spd="fast">
    <p:fade/>
  </p:transition>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LAB 10 · PROMPT ARTIFACT</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Prompt submitted by ai_vibe.py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7452360" cy="4005072"/>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121408"/>
            <a:ext cx="6858000" cy="274320"/>
          </a:xfrm>
          <a:prstGeom prst="rect">
            <a:avLst/>
          </a:prstGeom>
          <a:noFill/>
        </p:spPr>
        <p:txBody>
          <a:bodyPr wrap="square" anchor="t" lIns="36576" rIns="36576" tIns="36576" bIns="36576">
            <a:spAutoFit/>
          </a:bodyPr>
          <a:lstStyle/>
          <a:p>
            <a:pPr algn="l">
              <a:spcAft>
                <a:spcPts val="0"/>
              </a:spcAft>
            </a:pPr>
            <a:r>
              <a:rPr sz="1000" b="1">
                <a:solidFill>
                  <a:srgbClr val="06B6D4"/>
                </a:solidFill>
                <a:latin typeface="Arial"/>
              </a:rPr>
              <a:t>LEARNER PROMPT</a:t>
            </a:r>
          </a:p>
        </p:txBody>
      </p:sp>
      <p:sp>
        <p:nvSpPr>
          <p:cNvPr id="9" name="TextBox 8"/>
          <p:cNvSpPr txBox="1"/>
          <p:nvPr/>
        </p:nvSpPr>
        <p:spPr>
          <a:xfrm>
            <a:off x="1051560" y="2596896"/>
            <a:ext cx="6821424" cy="2880360"/>
          </a:xfrm>
          <a:prstGeom prst="rect">
            <a:avLst/>
          </a:prstGeom>
          <a:noFill/>
        </p:spPr>
        <p:txBody>
          <a:bodyPr wrap="square" anchor="t" lIns="36576" rIns="36576" tIns="36576" bIns="36576">
            <a:spAutoFit/>
          </a:bodyPr>
          <a:lstStyle/>
          <a:p>
            <a:pPr algn="l">
              <a:spcAft>
                <a:spcPts val="0"/>
              </a:spcAft>
            </a:pPr>
            <a:r>
              <a:rPr sz="1320" b="0">
                <a:solidFill>
                  <a:srgbClr val="D1FAE5"/>
                </a:solidFill>
                <a:latin typeface="Consolas"/>
              </a:rPr>
              <a:t>You are working on Lab 10 of a Northstar Commerce API. Implement parameterized SQLite repository functions for product/customer CRUD and atomic order creation. Validate stock inside the same transaction, insert order items, decrement inventory or roll back fully, use bounded pagination and an allow-list for PATCH columns. Add CRUD, insufficient-stock and injection-shaped-input tests.</a:t>
            </a:r>
          </a:p>
        </p:txBody>
      </p:sp>
      <p:sp>
        <p:nvSpPr>
          <p:cNvPr id="10" name="Rounded Rectangle 9"/>
          <p:cNvSpPr/>
          <p:nvPr/>
        </p:nvSpPr>
        <p:spPr>
          <a:xfrm>
            <a:off x="8439912" y="1847088"/>
            <a:ext cx="2944368" cy="400507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14232" y="2130552"/>
            <a:ext cx="2377440" cy="256032"/>
          </a:xfrm>
          <a:prstGeom prst="rect">
            <a:avLst/>
          </a:prstGeom>
          <a:noFill/>
        </p:spPr>
        <p:txBody>
          <a:bodyPr wrap="square" anchor="t" lIns="36576" rIns="36576" tIns="36576" bIns="36576">
            <a:spAutoFit/>
          </a:bodyPr>
          <a:lstStyle/>
          <a:p>
            <a:pPr algn="l">
              <a:spcAft>
                <a:spcPts val="0"/>
              </a:spcAft>
            </a:pPr>
            <a:r>
              <a:rPr sz="950" b="1">
                <a:solidFill>
                  <a:srgbClr val="7C3AED"/>
                </a:solidFill>
                <a:latin typeface="Arial"/>
              </a:rPr>
              <a:t>PYTHON SDK ENVELOPE</a:t>
            </a:r>
          </a:p>
        </p:txBody>
      </p:sp>
      <p:sp>
        <p:nvSpPr>
          <p:cNvPr id="12" name="Rounded Rectangle 11"/>
          <p:cNvSpPr/>
          <p:nvPr/>
        </p:nvSpPr>
        <p:spPr>
          <a:xfrm>
            <a:off x="8714232" y="2615184"/>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07424" y="2578608"/>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Prompts.pdf</a:t>
            </a:r>
          </a:p>
        </p:txBody>
      </p:sp>
      <p:sp>
        <p:nvSpPr>
          <p:cNvPr id="14" name="Rounded Rectangle 13"/>
          <p:cNvSpPr/>
          <p:nvPr/>
        </p:nvSpPr>
        <p:spPr>
          <a:xfrm>
            <a:off x="8714232" y="3081528"/>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07424" y="3044952"/>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mock-data.json</a:t>
            </a:r>
          </a:p>
        </p:txBody>
      </p:sp>
      <p:sp>
        <p:nvSpPr>
          <p:cNvPr id="16" name="Rounded Rectangle 15"/>
          <p:cNvSpPr/>
          <p:nvPr/>
        </p:nvSpPr>
        <p:spPr>
          <a:xfrm>
            <a:off x="8714232" y="3547872"/>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07424" y="3511296"/>
            <a:ext cx="1874519" cy="274320"/>
          </a:xfrm>
          <a:prstGeom prst="rect">
            <a:avLst/>
          </a:prstGeom>
          <a:noFill/>
        </p:spPr>
        <p:txBody>
          <a:bodyPr wrap="square" anchor="t" lIns="36576" rIns="36576" tIns="36576" bIns="36576">
            <a:spAutoFit/>
          </a:bodyPr>
          <a:lstStyle/>
          <a:p>
            <a:pPr algn="l">
              <a:spcAft>
                <a:spcPts val="0"/>
              </a:spcAft>
            </a:pPr>
            <a:r>
              <a:rPr sz="1050" b="1">
                <a:solidFill>
                  <a:srgbClr val="172433"/>
                </a:solidFill>
                <a:latin typeface="Arial"/>
              </a:rPr>
              <a:t>responses.parse</a:t>
            </a:r>
          </a:p>
        </p:txBody>
      </p:sp>
      <p:sp>
        <p:nvSpPr>
          <p:cNvPr id="18" name="Rounded Rectangle 17"/>
          <p:cNvSpPr/>
          <p:nvPr/>
        </p:nvSpPr>
        <p:spPr>
          <a:xfrm>
            <a:off x="8714232" y="4014215"/>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07424" y="3977639"/>
            <a:ext cx="1874519" cy="274320"/>
          </a:xfrm>
          <a:prstGeom prst="rect">
            <a:avLst/>
          </a:prstGeom>
          <a:noFill/>
        </p:spPr>
        <p:txBody>
          <a:bodyPr wrap="square" anchor="t" lIns="36576" rIns="36576" tIns="36576" bIns="36576">
            <a:spAutoFit/>
          </a:bodyPr>
          <a:lstStyle/>
          <a:p>
            <a:pPr algn="l">
              <a:spcAft>
                <a:spcPts val="0"/>
              </a:spcAft>
            </a:pPr>
            <a:r>
              <a:rPr sz="1050" b="1">
                <a:solidFill>
                  <a:srgbClr val="172433"/>
                </a:solidFill>
                <a:latin typeface="Arial"/>
              </a:rPr>
              <a:t>CodeBundle</a:t>
            </a:r>
          </a:p>
        </p:txBody>
      </p:sp>
      <p:sp>
        <p:nvSpPr>
          <p:cNvPr id="20" name="Rounded Rectangle 19"/>
          <p:cNvSpPr/>
          <p:nvPr/>
        </p:nvSpPr>
        <p:spPr>
          <a:xfrm>
            <a:off x="8714232" y="4480560"/>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07424" y="4443984"/>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generated/</a:t>
            </a:r>
          </a:p>
        </p:txBody>
      </p:sp>
      <p:sp>
        <p:nvSpPr>
          <p:cNvPr id="22" name="Rounded Rectangle 21"/>
          <p:cNvSpPr/>
          <p:nvPr/>
        </p:nvSpPr>
        <p:spPr>
          <a:xfrm>
            <a:off x="8714232" y="4946904"/>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07424" y="4910328"/>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pytest + review</a:t>
            </a:r>
          </a:p>
        </p:txBody>
      </p:sp>
      <p:sp>
        <p:nvSpPr>
          <p:cNvPr id="24" name="TextBox 23"/>
          <p:cNvSpPr txBox="1"/>
          <p:nvPr/>
        </p:nvSpPr>
        <p:spPr>
          <a:xfrm>
            <a:off x="8714232" y="5468112"/>
            <a:ext cx="2148840" cy="219456"/>
          </a:xfrm>
          <a:prstGeom prst="rect">
            <a:avLst/>
          </a:prstGeom>
          <a:noFill/>
        </p:spPr>
        <p:txBody>
          <a:bodyPr wrap="square" anchor="t" lIns="36576" rIns="36576" tIns="36576" bIns="36576">
            <a:spAutoFit/>
          </a:bodyPr>
          <a:lstStyle/>
          <a:p>
            <a:pPr algn="l">
              <a:spcAft>
                <a:spcPts val="0"/>
              </a:spcAft>
            </a:pPr>
            <a:r>
              <a:rPr sz="950" b="1">
                <a:solidFill>
                  <a:srgbClr val="10B981"/>
                </a:solidFill>
                <a:latin typeface="Arial"/>
              </a:rPr>
              <a:t>Full prompt + refinement</a:t>
            </a:r>
          </a:p>
        </p:txBody>
      </p:sp>
      <p:sp>
        <p:nvSpPr>
          <p:cNvPr id="25" name="TextBox 24"/>
          <p:cNvSpPr txBox="1"/>
          <p:nvPr/>
        </p:nvSpPr>
        <p:spPr>
          <a:xfrm>
            <a:off x="8714232" y="5650992"/>
            <a:ext cx="2148840" cy="219456"/>
          </a:xfrm>
          <a:prstGeom prst="rect">
            <a:avLst/>
          </a:prstGeom>
          <a:noFill/>
        </p:spPr>
        <p:txBody>
          <a:bodyPr wrap="square" anchor="t" lIns="36576" rIns="36576" tIns="36576" bIns="36576">
            <a:spAutoFit/>
          </a:bodyPr>
          <a:lstStyle/>
          <a:p>
            <a:pPr algn="l">
              <a:spcAft>
                <a:spcPts val="0"/>
              </a:spcAft>
            </a:pPr>
            <a:r>
              <a:rPr sz="950" b="0">
                <a:solidFill>
                  <a:srgbClr val="475569"/>
                </a:solidFill>
                <a:latin typeface="Arial"/>
              </a:rPr>
              <a:t>in the lab Prompts.pdf</a:t>
            </a:r>
          </a:p>
        </p:txBody>
      </p:sp>
      <p:sp>
        <p:nvSpPr>
          <p:cNvPr id="26" name="TextBox 2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7" name="TextBox 2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8" name="TextBox 27"/>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OpenAI Python SDK</a:t>
            </a:r>
          </a:p>
        </p:txBody>
      </p:sp>
      <p:sp>
        <p:nvSpPr>
          <p:cNvPr id="29" name="TextBox 2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164</a:t>
            </a:r>
          </a:p>
        </p:txBody>
      </p:sp>
    </p:spTree>
  </p:cSld>
  <p:transition spd="fast">
    <p:fade/>
  </p:transition>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10 · MECHANISM</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How Implement SQLite CRUD and Orders Safely works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665351"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5351"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1</a:t>
            </a:r>
          </a:p>
        </p:txBody>
      </p:sp>
      <p:sp>
        <p:nvSpPr>
          <p:cNvPr id="10" name="TextBox 9"/>
          <p:cNvSpPr txBox="1"/>
          <p:nvPr/>
        </p:nvSpPr>
        <p:spPr>
          <a:xfrm>
            <a:off x="859536"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Input contract</a:t>
            </a:r>
          </a:p>
        </p:txBody>
      </p:sp>
      <p:sp>
        <p:nvSpPr>
          <p:cNvPr id="11" name="TextBox 10"/>
          <p:cNvSpPr txBox="1"/>
          <p:nvPr/>
        </p:nvSpPr>
        <p:spPr>
          <a:xfrm>
            <a:off x="886968"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Connect product, customer and order operations to parameterized SQL and atomic transactions.</a:t>
            </a:r>
          </a:p>
        </p:txBody>
      </p:sp>
      <p:sp>
        <p:nvSpPr>
          <p:cNvPr id="12" name="Rounded Rectangle 11"/>
          <p:cNvSpPr/>
          <p:nvPr/>
        </p:nvSpPr>
        <p:spPr>
          <a:xfrm>
            <a:off x="3477006"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92549"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92549"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2</a:t>
            </a:r>
          </a:p>
        </p:txBody>
      </p:sp>
      <p:sp>
        <p:nvSpPr>
          <p:cNvPr id="15" name="TextBox 14"/>
          <p:cNvSpPr txBox="1"/>
          <p:nvPr/>
        </p:nvSpPr>
        <p:spPr>
          <a:xfrm>
            <a:off x="3586734"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Boundary validation</a:t>
            </a:r>
          </a:p>
        </p:txBody>
      </p:sp>
      <p:sp>
        <p:nvSpPr>
          <p:cNvPr id="16" name="TextBox 15"/>
          <p:cNvSpPr txBox="1"/>
          <p:nvPr/>
        </p:nvSpPr>
        <p:spPr>
          <a:xfrm>
            <a:off x="3614166"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Reject invalid or unauthorised input</a:t>
            </a:r>
          </a:p>
        </p:txBody>
      </p:sp>
      <p:sp>
        <p:nvSpPr>
          <p:cNvPr id="17" name="Rounded Rectangle 16"/>
          <p:cNvSpPr/>
          <p:nvPr/>
        </p:nvSpPr>
        <p:spPr>
          <a:xfrm>
            <a:off x="6204204"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119747"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9747"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3</a:t>
            </a:r>
          </a:p>
        </p:txBody>
      </p:sp>
      <p:sp>
        <p:nvSpPr>
          <p:cNvPr id="20" name="TextBox 19"/>
          <p:cNvSpPr txBox="1"/>
          <p:nvPr/>
        </p:nvSpPr>
        <p:spPr>
          <a:xfrm>
            <a:off x="6313932"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Business decision</a:t>
            </a:r>
          </a:p>
        </p:txBody>
      </p:sp>
      <p:sp>
        <p:nvSpPr>
          <p:cNvPr id="21" name="TextBox 20"/>
          <p:cNvSpPr txBox="1"/>
          <p:nvPr/>
        </p:nvSpPr>
        <p:spPr>
          <a:xfrm>
            <a:off x="6341364"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Apply one explicit rule</a:t>
            </a:r>
          </a:p>
        </p:txBody>
      </p:sp>
      <p:sp>
        <p:nvSpPr>
          <p:cNvPr id="22" name="Rounded Rectangle 21"/>
          <p:cNvSpPr/>
          <p:nvPr/>
        </p:nvSpPr>
        <p:spPr>
          <a:xfrm>
            <a:off x="8931402"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46945"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46945"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4</a:t>
            </a:r>
          </a:p>
        </p:txBody>
      </p:sp>
      <p:sp>
        <p:nvSpPr>
          <p:cNvPr id="25" name="TextBox 24"/>
          <p:cNvSpPr txBox="1"/>
          <p:nvPr/>
        </p:nvSpPr>
        <p:spPr>
          <a:xfrm>
            <a:off x="9041130"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State/evidence</a:t>
            </a:r>
          </a:p>
        </p:txBody>
      </p:sp>
      <p:sp>
        <p:nvSpPr>
          <p:cNvPr id="26" name="TextBox 25"/>
          <p:cNvSpPr txBox="1"/>
          <p:nvPr/>
        </p:nvSpPr>
        <p:spPr>
          <a:xfrm>
            <a:off x="9068562"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Catalog/CRM CRUD and order tests pass, insufficient stock rolls back fully, missing IDs map to 404 and SQL values are parameter-bound.</a:t>
            </a:r>
          </a:p>
        </p:txBody>
      </p:sp>
      <p:sp>
        <p:nvSpPr>
          <p:cNvPr id="27" name="TextBox 26"/>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8" name="TextBox 27"/>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9" name="TextBox 2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165</a:t>
            </a:r>
          </a:p>
        </p:txBody>
      </p:sp>
    </p:spTree>
  </p:cSld>
  <p:transition spd="fast">
    <p:fade/>
  </p:transition>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10 ·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repository.py with catalog, CRM and order transaction functions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01952"/>
            <a:ext cx="6812280" cy="3611880"/>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194560"/>
            <a:ext cx="6144768" cy="3063240"/>
          </a:xfrm>
          <a:prstGeom prst="rect">
            <a:avLst/>
          </a:prstGeom>
          <a:noFill/>
        </p:spPr>
        <p:txBody>
          <a:bodyPr wrap="square" anchor="t" lIns="36576" rIns="36576" tIns="36576" bIns="36576">
            <a:spAutoFit/>
          </a:bodyPr>
          <a:lstStyle/>
          <a:p>
            <a:pPr algn="l">
              <a:spcAft>
                <a:spcPts val="0"/>
              </a:spcAft>
            </a:pPr>
            <a:r>
              <a:rPr sz="1250" b="0">
                <a:solidFill>
                  <a:srgbClr val="A7F3D0"/>
                </a:solidFill>
                <a:latin typeface="Consolas"/>
              </a:rPr>
              <a:t>REQUEST
  lab: 10
  objective: Connect product, customer and order operations to
             parameterized SQL and atomic
             transactions.
EXPECTED EVIDENCE
  artifact: repository.py with catalog, CRM and order transaction functions
  codes: A3, A4, A5
  status: verified</a:t>
            </a:r>
          </a:p>
        </p:txBody>
      </p:sp>
      <p:sp>
        <p:nvSpPr>
          <p:cNvPr id="9" name="Rounded Rectangle 8"/>
          <p:cNvSpPr/>
          <p:nvPr/>
        </p:nvSpPr>
        <p:spPr>
          <a:xfrm>
            <a:off x="7882127" y="1901952"/>
            <a:ext cx="3493008" cy="3611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2212848"/>
            <a:ext cx="2880360" cy="310896"/>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ASSESSMENT BRIDGE</a:t>
            </a:r>
          </a:p>
        </p:txBody>
      </p:sp>
      <p:sp>
        <p:nvSpPr>
          <p:cNvPr id="11" name="TextBox 10"/>
          <p:cNvSpPr txBox="1"/>
          <p:nvPr/>
        </p:nvSpPr>
        <p:spPr>
          <a:xfrm>
            <a:off x="8193024" y="2761488"/>
            <a:ext cx="2834640" cy="1051560"/>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Ability codes
A3, A4, A5</a:t>
            </a:r>
          </a:p>
        </p:txBody>
      </p:sp>
      <p:sp>
        <p:nvSpPr>
          <p:cNvPr id="12" name="TextBox 11"/>
          <p:cNvSpPr txBox="1"/>
          <p:nvPr/>
        </p:nvSpPr>
        <p:spPr>
          <a:xfrm>
            <a:off x="8193024" y="4160520"/>
            <a:ext cx="2788920" cy="685800"/>
          </a:xfrm>
          <a:prstGeom prst="rect">
            <a:avLst/>
          </a:prstGeom>
          <a:noFill/>
        </p:spPr>
        <p:txBody>
          <a:bodyPr wrap="square" anchor="t" lIns="36576" rIns="36576" tIns="36576" bIns="36576">
            <a:spAutoFit/>
          </a:bodyPr>
          <a:lstStyle/>
          <a:p>
            <a:pPr algn="l">
              <a:spcAft>
                <a:spcPts val="0"/>
              </a:spcAft>
            </a:pPr>
            <a:r>
              <a:rPr sz="1100" b="0">
                <a:solidFill>
                  <a:srgbClr val="475569"/>
                </a:solidFill>
                <a:latin typeface="Arial"/>
              </a:rPr>
              <a:t>Capture a screenshot, terminal output or test result that proves the acceptance criterion.</a:t>
            </a:r>
          </a:p>
        </p:txBody>
      </p:sp>
      <p:sp>
        <p:nvSpPr>
          <p:cNvPr id="13" name="TextBox 1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4" name="TextBox 1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5" name="TextBox 14"/>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166</a:t>
            </a:r>
          </a:p>
        </p:txBody>
      </p:sp>
    </p:spTree>
  </p:cSld>
  <p:transition spd="fast">
    <p:fade/>
  </p:transition>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10 · VERIFY</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Acceptance and diagnosis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74519"/>
            <a:ext cx="5166360" cy="3611880"/>
          </a:xfrm>
          <a:prstGeom prst="roundRect">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240280"/>
            <a:ext cx="4526280" cy="310896"/>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PASS WHEN</a:t>
            </a:r>
          </a:p>
        </p:txBody>
      </p:sp>
      <p:sp>
        <p:nvSpPr>
          <p:cNvPr id="9" name="TextBox 8"/>
          <p:cNvSpPr txBox="1"/>
          <p:nvPr/>
        </p:nvSpPr>
        <p:spPr>
          <a:xfrm>
            <a:off x="1078992" y="2798064"/>
            <a:ext cx="4498848" cy="1600200"/>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Catalog/CRM CRUD and order tests pass, insufficient stock rolls back fully, missing IDs map to 404 and SQL values are parameter-bound.</a:t>
            </a:r>
          </a:p>
        </p:txBody>
      </p:sp>
      <p:sp>
        <p:nvSpPr>
          <p:cNvPr id="10" name="Rounded Rectangle 9"/>
          <p:cNvSpPr/>
          <p:nvPr/>
        </p:nvSpPr>
        <p:spPr>
          <a:xfrm>
            <a:off x="6217920" y="1874519"/>
            <a:ext cx="5148072" cy="3611880"/>
          </a:xfrm>
          <a:prstGeom prst="roundRect">
            <a:avLst/>
          </a:prstGeom>
          <a:solidFill>
            <a:srgbClr val="FEF2F2"/>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56248" y="2240280"/>
            <a:ext cx="4480560" cy="310896"/>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DIAGNOSE</a:t>
            </a:r>
          </a:p>
        </p:txBody>
      </p:sp>
      <p:sp>
        <p:nvSpPr>
          <p:cNvPr id="12" name="TextBox 11"/>
          <p:cNvSpPr txBox="1"/>
          <p:nvPr/>
        </p:nvSpPr>
        <p:spPr>
          <a:xfrm>
            <a:off x="6556248" y="277063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1. Inspect HTTP status and response body</a:t>
            </a:r>
          </a:p>
        </p:txBody>
      </p:sp>
      <p:sp>
        <p:nvSpPr>
          <p:cNvPr id="13" name="TextBox 12"/>
          <p:cNvSpPr txBox="1"/>
          <p:nvPr/>
        </p:nvSpPr>
        <p:spPr>
          <a:xfrm>
            <a:off x="6556248" y="327355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2. Check request fields and headers</a:t>
            </a:r>
          </a:p>
        </p:txBody>
      </p:sp>
      <p:sp>
        <p:nvSpPr>
          <p:cNvPr id="14" name="TextBox 13"/>
          <p:cNvSpPr txBox="1"/>
          <p:nvPr/>
        </p:nvSpPr>
        <p:spPr>
          <a:xfrm>
            <a:off x="6556248" y="377647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3. Follow request ID into logs</a:t>
            </a:r>
          </a:p>
        </p:txBody>
      </p:sp>
      <p:sp>
        <p:nvSpPr>
          <p:cNvPr id="15" name="TextBox 14"/>
          <p:cNvSpPr txBox="1"/>
          <p:nvPr/>
        </p:nvSpPr>
        <p:spPr>
          <a:xfrm>
            <a:off x="6556248" y="427939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4. Re-run the smallest failing test</a:t>
            </a:r>
          </a:p>
        </p:txBody>
      </p:sp>
      <p:sp>
        <p:nvSpPr>
          <p:cNvPr id="16" name="TextBox 1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7" name="TextBox 1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8" name="TextBox 17"/>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167</a:t>
            </a:r>
          </a:p>
        </p:txBody>
      </p:sp>
    </p:spTree>
  </p:cSld>
  <p:transition spd="fast">
    <p:fade/>
  </p:transition>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LAB 10 · CONTRACT REVIEW</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Prompt output must preserve the API boundary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02352" cy="3730752"/>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176272"/>
            <a:ext cx="4434840" cy="420624"/>
          </a:xfrm>
          <a:prstGeom prst="rect">
            <a:avLst/>
          </a:prstGeom>
          <a:noFill/>
        </p:spPr>
        <p:txBody>
          <a:bodyPr wrap="square" anchor="t" lIns="36576" rIns="36576" tIns="36576" bIns="36576">
            <a:spAutoFit/>
          </a:bodyPr>
          <a:lstStyle/>
          <a:p>
            <a:pPr algn="l">
              <a:spcAft>
                <a:spcPts val="0"/>
              </a:spcAft>
            </a:pPr>
            <a:r>
              <a:rPr sz="1000" b="1">
                <a:solidFill>
                  <a:srgbClr val="D1FAE5"/>
                </a:solidFill>
                <a:latin typeface="Arial"/>
              </a:rPr>
              <a:t>TARGET FILES</a:t>
            </a:r>
          </a:p>
        </p:txBody>
      </p:sp>
      <p:sp>
        <p:nvSpPr>
          <p:cNvPr id="9" name="TextBox 8"/>
          <p:cNvSpPr txBox="1"/>
          <p:nvPr/>
        </p:nvSpPr>
        <p:spPr>
          <a:xfrm>
            <a:off x="1078992" y="2743200"/>
            <a:ext cx="4434840" cy="420624"/>
          </a:xfrm>
          <a:prstGeom prst="rect">
            <a:avLst/>
          </a:prstGeom>
          <a:noFill/>
        </p:spPr>
        <p:txBody>
          <a:bodyPr wrap="square" anchor="t" lIns="36576" rIns="36576" tIns="36576" bIns="36576">
            <a:spAutoFit/>
          </a:bodyPr>
          <a:lstStyle/>
          <a:p>
            <a:pPr algn="l">
              <a:spcAft>
                <a:spcPts val="0"/>
              </a:spcAft>
            </a:pPr>
            <a:r>
              <a:rPr sz="1100" b="0">
                <a:solidFill>
                  <a:srgbClr val="D1FAE5"/>
                </a:solidFill>
                <a:latin typeface="Consolas"/>
              </a:rPr>
              <a:t>app/repository.py</a:t>
            </a:r>
          </a:p>
        </p:txBody>
      </p:sp>
      <p:sp>
        <p:nvSpPr>
          <p:cNvPr id="10" name="TextBox 9"/>
          <p:cNvSpPr txBox="1"/>
          <p:nvPr/>
        </p:nvSpPr>
        <p:spPr>
          <a:xfrm>
            <a:off x="1078992" y="3310128"/>
            <a:ext cx="4434840" cy="420624"/>
          </a:xfrm>
          <a:prstGeom prst="rect">
            <a:avLst/>
          </a:prstGeom>
          <a:noFill/>
        </p:spPr>
        <p:txBody>
          <a:bodyPr wrap="square" anchor="t" lIns="36576" rIns="36576" tIns="36576" bIns="36576">
            <a:spAutoFit/>
          </a:bodyPr>
          <a:lstStyle/>
          <a:p>
            <a:pPr algn="l">
              <a:spcAft>
                <a:spcPts val="0"/>
              </a:spcAft>
            </a:pPr>
            <a:r>
              <a:rPr sz="1100" b="0">
                <a:solidFill>
                  <a:srgbClr val="D1FAE5"/>
                </a:solidFill>
                <a:latin typeface="Consolas"/>
              </a:rPr>
              <a:t>tests/test_repository.py</a:t>
            </a:r>
          </a:p>
        </p:txBody>
      </p:sp>
      <p:sp>
        <p:nvSpPr>
          <p:cNvPr id="11" name="Rounded Rectangle 10"/>
          <p:cNvSpPr/>
          <p:nvPr/>
        </p:nvSpPr>
        <p:spPr>
          <a:xfrm>
            <a:off x="6144768" y="1847088"/>
            <a:ext cx="5230368" cy="373075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2176272"/>
            <a:ext cx="4526280" cy="237744"/>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ACCEPTANCE</a:t>
            </a:r>
          </a:p>
        </p:txBody>
      </p:sp>
      <p:sp>
        <p:nvSpPr>
          <p:cNvPr id="13" name="TextBox 12"/>
          <p:cNvSpPr txBox="1"/>
          <p:nvPr/>
        </p:nvSpPr>
        <p:spPr>
          <a:xfrm>
            <a:off x="6473952" y="2578608"/>
            <a:ext cx="4526280" cy="1417320"/>
          </a:xfrm>
          <a:prstGeom prst="rect">
            <a:avLst/>
          </a:prstGeom>
          <a:noFill/>
        </p:spPr>
        <p:txBody>
          <a:bodyPr wrap="square" anchor="t" lIns="36576" rIns="36576" tIns="36576" bIns="36576">
            <a:spAutoFit/>
          </a:bodyPr>
          <a:lstStyle/>
          <a:p>
            <a:pPr algn="l">
              <a:spcAft>
                <a:spcPts val="0"/>
              </a:spcAft>
            </a:pPr>
            <a:r>
              <a:rPr sz="1500" b="1">
                <a:solidFill>
                  <a:srgbClr val="172433"/>
                </a:solidFill>
                <a:latin typeface="Arial"/>
              </a:rPr>
              <a:t>Catalog/CRM CRUD and order tests pass, insufficient stock rolls back fully, missing IDs map to 404 and SQL values are parameter-bound.</a:t>
            </a:r>
          </a:p>
        </p:txBody>
      </p:sp>
      <p:sp>
        <p:nvSpPr>
          <p:cNvPr id="14" name="TextBox 13"/>
          <p:cNvSpPr txBox="1"/>
          <p:nvPr/>
        </p:nvSpPr>
        <p:spPr>
          <a:xfrm>
            <a:off x="6473952" y="4279392"/>
            <a:ext cx="4526280" cy="237744"/>
          </a:xfrm>
          <a:prstGeom prst="rect">
            <a:avLst/>
          </a:prstGeom>
          <a:noFill/>
        </p:spPr>
        <p:txBody>
          <a:bodyPr wrap="square" anchor="t" lIns="36576" rIns="36576" tIns="36576" bIns="36576">
            <a:spAutoFit/>
          </a:bodyPr>
          <a:lstStyle/>
          <a:p>
            <a:pPr algn="l">
              <a:spcAft>
                <a:spcPts val="0"/>
              </a:spcAft>
            </a:pPr>
            <a:r>
              <a:rPr sz="1000" b="1">
                <a:solidFill>
                  <a:srgbClr val="7C3AED"/>
                </a:solidFill>
                <a:latin typeface="Arial"/>
              </a:rPr>
              <a:t>ABILITY TRACE</a:t>
            </a:r>
          </a:p>
        </p:txBody>
      </p:sp>
      <p:sp>
        <p:nvSpPr>
          <p:cNvPr id="15" name="TextBox 14"/>
          <p:cNvSpPr txBox="1"/>
          <p:nvPr/>
        </p:nvSpPr>
        <p:spPr>
          <a:xfrm>
            <a:off x="6473952" y="4645152"/>
            <a:ext cx="4526280" cy="438912"/>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A3, A4, A5</a:t>
            </a:r>
          </a:p>
        </p:txBody>
      </p:sp>
      <p:sp>
        <p:nvSpPr>
          <p:cNvPr id="16" name="TextBox 1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7" name="TextBox 1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8" name="TextBox 17"/>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OpenAPI contract + lab prompt</a:t>
            </a:r>
          </a:p>
        </p:txBody>
      </p:sp>
      <p:sp>
        <p:nvSpPr>
          <p:cNvPr id="19" name="TextBox 1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168</a:t>
            </a:r>
          </a:p>
        </p:txBody>
      </p:sp>
    </p:spTree>
  </p:cSld>
  <p:transition spd="fast">
    <p:fade/>
  </p:transition>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hero-v1.png"/>
          <p:cNvPicPr>
            <a:picLocks noChangeAspect="1"/>
          </p:cNvPicPr>
          <p:nvPr/>
        </p:nvPicPr>
        <p:blipFill>
          <a:blip r:embed="rId2"/>
          <a:stretch>
            <a:fillRect/>
          </a:stretch>
        </p:blipFill>
        <p:spPr>
          <a:xfrm>
            <a:off x="6812280" y="0"/>
            <a:ext cx="5376672" cy="6858000"/>
          </a:xfrm>
          <a:prstGeom prst="rect">
            <a:avLst/>
          </a:prstGeom>
        </p:spPr>
      </p:pic>
      <p:sp>
        <p:nvSpPr>
          <p:cNvPr id="4" name="Rectangle 3"/>
          <p:cNvSpPr/>
          <p:nvPr/>
        </p:nvSpPr>
        <p:spPr>
          <a:xfrm>
            <a:off x="6812280" y="0"/>
            <a:ext cx="5376672"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024128"/>
            <a:ext cx="5212080" cy="274320"/>
          </a:xfrm>
          <a:prstGeom prst="rect">
            <a:avLst/>
          </a:prstGeom>
          <a:noFill/>
        </p:spPr>
        <p:txBody>
          <a:bodyPr wrap="square" anchor="t" lIns="36576" rIns="36576" tIns="36576" bIns="36576">
            <a:spAutoFit/>
          </a:bodyPr>
          <a:lstStyle/>
          <a:p>
            <a:pPr algn="l">
              <a:spcAft>
                <a:spcPts val="0"/>
              </a:spcAft>
            </a:pPr>
            <a:r>
              <a:rPr sz="1200" b="1">
                <a:solidFill>
                  <a:srgbClr val="06B6D4"/>
                </a:solidFill>
                <a:latin typeface="Arial"/>
              </a:rPr>
              <a:t>TOPIC 06</a:t>
            </a:r>
          </a:p>
        </p:txBody>
      </p:sp>
      <p:sp>
        <p:nvSpPr>
          <p:cNvPr id="6" name="TextBox 5"/>
          <p:cNvSpPr txBox="1"/>
          <p:nvPr/>
        </p:nvSpPr>
        <p:spPr>
          <a:xfrm>
            <a:off x="777240" y="1481328"/>
            <a:ext cx="5943600" cy="1874519"/>
          </a:xfrm>
          <a:prstGeom prst="rect">
            <a:avLst/>
          </a:prstGeom>
          <a:noFill/>
        </p:spPr>
        <p:txBody>
          <a:bodyPr wrap="square" anchor="t" lIns="36576" rIns="36576" tIns="36576" bIns="36576">
            <a:spAutoFit/>
          </a:bodyPr>
          <a:lstStyle/>
          <a:p>
            <a:pPr algn="l">
              <a:spcAft>
                <a:spcPts val="0"/>
              </a:spcAft>
            </a:pPr>
            <a:r>
              <a:rPr sz="3000" b="1">
                <a:solidFill>
                  <a:srgbClr val="FFFFFF"/>
                </a:solidFill>
                <a:latin typeface="Arial"/>
              </a:rPr>
              <a:t>REST API Documentation, Integration and Deployment</a:t>
            </a:r>
          </a:p>
        </p:txBody>
      </p:sp>
      <p:sp>
        <p:nvSpPr>
          <p:cNvPr id="7" name="TextBox 6"/>
          <p:cNvSpPr txBox="1"/>
          <p:nvPr/>
        </p:nvSpPr>
        <p:spPr>
          <a:xfrm>
            <a:off x="804672" y="3822191"/>
            <a:ext cx="5623560" cy="749808"/>
          </a:xfrm>
          <a:prstGeom prst="rect">
            <a:avLst/>
          </a:prstGeom>
          <a:noFill/>
        </p:spPr>
        <p:txBody>
          <a:bodyPr wrap="square" anchor="t" lIns="36576" rIns="36576" tIns="36576" bIns="36576">
            <a:spAutoFit/>
          </a:bodyPr>
          <a:lstStyle/>
          <a:p>
            <a:pPr algn="l">
              <a:spcAft>
                <a:spcPts val="0"/>
              </a:spcAft>
            </a:pPr>
            <a:r>
              <a:rPr sz="1600" b="0">
                <a:solidFill>
                  <a:srgbClr val="CBD5E1"/>
                </a:solidFill>
                <a:latin typeface="Arial"/>
              </a:rPr>
              <a:t>OpenAPI · browser fetch · static frontend · versioning · packaging</a:t>
            </a:r>
          </a:p>
        </p:txBody>
      </p:sp>
      <p:sp>
        <p:nvSpPr>
          <p:cNvPr id="8" name="TextBox 7"/>
          <p:cNvSpPr txBox="1"/>
          <p:nvPr/>
        </p:nvSpPr>
        <p:spPr>
          <a:xfrm>
            <a:off x="731520" y="5074920"/>
            <a:ext cx="2194560" cy="822960"/>
          </a:xfrm>
          <a:prstGeom prst="rect">
            <a:avLst/>
          </a:prstGeom>
          <a:noFill/>
        </p:spPr>
        <p:txBody>
          <a:bodyPr wrap="square" anchor="t" lIns="36576" rIns="36576" tIns="36576" bIns="36576">
            <a:spAutoFit/>
          </a:bodyPr>
          <a:lstStyle/>
          <a:p>
            <a:pPr algn="l">
              <a:spcAft>
                <a:spcPts val="0"/>
              </a:spcAft>
            </a:pPr>
            <a:r>
              <a:rPr sz="6400" b="1">
                <a:solidFill>
                  <a:srgbClr val="06B6D4"/>
                </a:solidFill>
                <a:latin typeface="Arial"/>
              </a:rPr>
              <a:t>06</a:t>
            </a:r>
          </a:p>
        </p:txBody>
      </p:sp>
      <p:sp>
        <p:nvSpPr>
          <p:cNvPr id="9" name="TextBox 8"/>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0" name="TextBox 9"/>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1" name="TextBox 10"/>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169</a:t>
            </a:r>
          </a:p>
        </p:txBody>
      </p:sp>
    </p:spTree>
  </p:cSld>
  <p:transition spd="med">
    <p:push/>
  </p:transition>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TOPIC 06 · ARCH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OpenAPI is an executable interface inventory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FastAPI derives paths, parameters, schemas, responses and security metadata from code.</a:t>
            </a:r>
          </a:p>
        </p:txBody>
      </p:sp>
      <p:sp>
        <p:nvSpPr>
          <p:cNvPr id="8" name="Rounded Rectangle 7"/>
          <p:cNvSpPr/>
          <p:nvPr/>
        </p:nvSpPr>
        <p:spPr>
          <a:xfrm>
            <a:off x="749808"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498701" y="2724912"/>
            <a:ext cx="512064"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98701"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1</a:t>
            </a:r>
          </a:p>
        </p:txBody>
      </p:sp>
      <p:sp>
        <p:nvSpPr>
          <p:cNvPr id="11" name="TextBox 10"/>
          <p:cNvSpPr txBox="1"/>
          <p:nvPr/>
        </p:nvSpPr>
        <p:spPr>
          <a:xfrm>
            <a:off x="822960"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/openapi.json</a:t>
            </a:r>
          </a:p>
        </p:txBody>
      </p:sp>
      <p:cxnSp>
        <p:nvCxnSpPr>
          <p:cNvPr id="12" name="Connector 11"/>
          <p:cNvCxnSpPr/>
          <p:nvPr/>
        </p:nvCxnSpPr>
        <p:spPr>
          <a:xfrm>
            <a:off x="2759659" y="3520440"/>
            <a:ext cx="146304" cy="0"/>
          </a:xfrm>
          <a:prstGeom prst="line">
            <a:avLst/>
          </a:prstGeom>
          <a:ln>
            <a:solidFill>
              <a:srgbClr val="2563EB"/>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05963"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654856" y="2724912"/>
            <a:ext cx="512064"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4856"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2</a:t>
            </a:r>
          </a:p>
        </p:txBody>
      </p:sp>
      <p:sp>
        <p:nvSpPr>
          <p:cNvPr id="16" name="TextBox 15"/>
          <p:cNvSpPr txBox="1"/>
          <p:nvPr/>
        </p:nvSpPr>
        <p:spPr>
          <a:xfrm>
            <a:off x="2979115"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/docs Swagger UI</a:t>
            </a:r>
          </a:p>
        </p:txBody>
      </p:sp>
      <p:cxnSp>
        <p:nvCxnSpPr>
          <p:cNvPr id="17" name="Connector 16"/>
          <p:cNvCxnSpPr/>
          <p:nvPr/>
        </p:nvCxnSpPr>
        <p:spPr>
          <a:xfrm>
            <a:off x="4915814" y="3520440"/>
            <a:ext cx="146304" cy="0"/>
          </a:xfrm>
          <a:prstGeom prst="line">
            <a:avLst/>
          </a:prstGeom>
          <a:ln>
            <a:solidFill>
              <a:srgbClr val="2563EB"/>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062118"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811012" y="2724912"/>
            <a:ext cx="512064"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11012"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3</a:t>
            </a:r>
          </a:p>
        </p:txBody>
      </p:sp>
      <p:sp>
        <p:nvSpPr>
          <p:cNvPr id="21" name="TextBox 20"/>
          <p:cNvSpPr txBox="1"/>
          <p:nvPr/>
        </p:nvSpPr>
        <p:spPr>
          <a:xfrm>
            <a:off x="5135270"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/redoc</a:t>
            </a:r>
          </a:p>
        </p:txBody>
      </p:sp>
      <p:cxnSp>
        <p:nvCxnSpPr>
          <p:cNvPr id="22" name="Connector 21"/>
          <p:cNvCxnSpPr/>
          <p:nvPr/>
        </p:nvCxnSpPr>
        <p:spPr>
          <a:xfrm>
            <a:off x="7071969" y="3520440"/>
            <a:ext cx="146304" cy="0"/>
          </a:xfrm>
          <a:prstGeom prst="line">
            <a:avLst/>
          </a:prstGeom>
          <a:ln>
            <a:solidFill>
              <a:srgbClr val="2563EB"/>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218273"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967167" y="2724912"/>
            <a:ext cx="512064"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67167"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4</a:t>
            </a:r>
          </a:p>
        </p:txBody>
      </p:sp>
      <p:sp>
        <p:nvSpPr>
          <p:cNvPr id="26" name="TextBox 25"/>
          <p:cNvSpPr txBox="1"/>
          <p:nvPr/>
        </p:nvSpPr>
        <p:spPr>
          <a:xfrm>
            <a:off x="7291425"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client generation</a:t>
            </a:r>
          </a:p>
        </p:txBody>
      </p:sp>
      <p:cxnSp>
        <p:nvCxnSpPr>
          <p:cNvPr id="27" name="Connector 26"/>
          <p:cNvCxnSpPr/>
          <p:nvPr/>
        </p:nvCxnSpPr>
        <p:spPr>
          <a:xfrm>
            <a:off x="9228124" y="3520440"/>
            <a:ext cx="146304" cy="0"/>
          </a:xfrm>
          <a:prstGeom prst="line">
            <a:avLst/>
          </a:prstGeom>
          <a:ln>
            <a:solidFill>
              <a:srgbClr val="2563EB"/>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374428" y="2487168"/>
            <a:ext cx="2009851"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0123322" y="2724912"/>
            <a:ext cx="512064"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23322"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5</a:t>
            </a:r>
          </a:p>
        </p:txBody>
      </p:sp>
      <p:sp>
        <p:nvSpPr>
          <p:cNvPr id="31" name="TextBox 30"/>
          <p:cNvSpPr txBox="1"/>
          <p:nvPr/>
        </p:nvSpPr>
        <p:spPr>
          <a:xfrm>
            <a:off x="9447580" y="3502152"/>
            <a:ext cx="1863547"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contract review</a:t>
            </a:r>
          </a:p>
        </p:txBody>
      </p:sp>
      <p:sp>
        <p:nvSpPr>
          <p:cNvPr id="32" name="Rounded Rectangle 31"/>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34" name="TextBox 33"/>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Code annotations → OpenAPI → interactive docs</a:t>
            </a:r>
          </a:p>
        </p:txBody>
      </p:sp>
      <p:sp>
        <p:nvSpPr>
          <p:cNvPr id="35" name="Rounded Rectangle 34"/>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37" name="TextBox 36"/>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Undocumented exceptions and security rules make docs misleading.</a:t>
            </a:r>
          </a:p>
        </p:txBody>
      </p:sp>
      <p:sp>
        <p:nvSpPr>
          <p:cNvPr id="38" name="Rounded Rectangle 37"/>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40" name="TextBox 39"/>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A reviewer can execute every public operation from /docs.</a:t>
            </a:r>
          </a:p>
        </p:txBody>
      </p:sp>
      <p:sp>
        <p:nvSpPr>
          <p:cNvPr id="41" name="TextBox 40"/>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42" name="TextBox 41"/>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43" name="TextBox 42"/>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FastAPI Tutorial</a:t>
            </a:r>
          </a:p>
        </p:txBody>
      </p:sp>
      <p:sp>
        <p:nvSpPr>
          <p:cNvPr id="44" name="TextBox 43"/>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170</a:t>
            </a:r>
          </a:p>
        </p:txBody>
      </p:sp>
    </p:spTree>
  </p:cSld>
  <p:transition spd="fast">
    <p:fade/>
  </p:transition>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TOPIC 06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OpenAPI is an executable interface inventory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/openapi.json</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FastAPI derives paths, parameters, schemas, responses and security metadata from code.</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Undocumented exceptions and security rules make docs misleading.</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A reviewer can execute every public operation from /docs.</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Code annotations → OpenAPI → interactive docs</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FastAPI Tutorial</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171</a:t>
            </a:r>
          </a:p>
        </p:txBody>
      </p:sp>
    </p:spTree>
  </p:cSld>
  <p:transition spd="fast">
    <p:fade/>
  </p:transition>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TOPIC 06 · CODE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Operation metadata improves usability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Tags, summaries, descriptions, response codes and examples turn generated docs into a usable contract.</a:t>
            </a:r>
          </a:p>
        </p:txBody>
      </p:sp>
      <p:sp>
        <p:nvSpPr>
          <p:cNvPr id="8" name="Rounded Rectangle 7"/>
          <p:cNvSpPr/>
          <p:nvPr/>
        </p:nvSpPr>
        <p:spPr>
          <a:xfrm>
            <a:off x="749808" y="2331720"/>
            <a:ext cx="6766560" cy="2697480"/>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2615184"/>
            <a:ext cx="6199632" cy="2057400"/>
          </a:xfrm>
          <a:prstGeom prst="rect">
            <a:avLst/>
          </a:prstGeom>
          <a:noFill/>
        </p:spPr>
        <p:txBody>
          <a:bodyPr wrap="square" anchor="t" lIns="36576" rIns="36576" tIns="36576" bIns="36576">
            <a:spAutoFit/>
          </a:bodyPr>
          <a:lstStyle/>
          <a:p>
            <a:pPr algn="l">
              <a:spcAft>
                <a:spcPts val="0"/>
              </a:spcAft>
            </a:pPr>
            <a:r>
              <a:rPr sz="1500" b="0">
                <a:solidFill>
                  <a:srgbClr val="A7F3D0"/>
                </a:solidFill>
                <a:latin typeface="Consolas"/>
              </a:rPr>
              <a:t>@router.post("/", response_model=ProductRead, status_code=201,
    summary="Create a product", responses={409:{"description":"Duplicate"}})</a:t>
            </a:r>
          </a:p>
        </p:txBody>
      </p:sp>
      <p:sp>
        <p:nvSpPr>
          <p:cNvPr id="10" name="Rounded Rectangle 9"/>
          <p:cNvSpPr/>
          <p:nvPr/>
        </p:nvSpPr>
        <p:spPr>
          <a:xfrm>
            <a:off x="7799831" y="2331720"/>
            <a:ext cx="3584448" cy="26974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65008" y="2624328"/>
            <a:ext cx="219456" cy="219456"/>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30768" y="2551176"/>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tags</a:t>
            </a:r>
          </a:p>
        </p:txBody>
      </p:sp>
      <p:sp>
        <p:nvSpPr>
          <p:cNvPr id="13" name="Rounded Rectangle 12"/>
          <p:cNvSpPr/>
          <p:nvPr/>
        </p:nvSpPr>
        <p:spPr>
          <a:xfrm>
            <a:off x="8065008" y="3136392"/>
            <a:ext cx="219456" cy="219456"/>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30768" y="3063240"/>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summary</a:t>
            </a:r>
          </a:p>
        </p:txBody>
      </p:sp>
      <p:sp>
        <p:nvSpPr>
          <p:cNvPr id="15" name="Rounded Rectangle 14"/>
          <p:cNvSpPr/>
          <p:nvPr/>
        </p:nvSpPr>
        <p:spPr>
          <a:xfrm>
            <a:off x="8065008" y="3648456"/>
            <a:ext cx="219456" cy="219456"/>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30768" y="3575304"/>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status_code</a:t>
            </a:r>
          </a:p>
        </p:txBody>
      </p:sp>
      <p:sp>
        <p:nvSpPr>
          <p:cNvPr id="17" name="Rounded Rectangle 16"/>
          <p:cNvSpPr/>
          <p:nvPr/>
        </p:nvSpPr>
        <p:spPr>
          <a:xfrm>
            <a:off x="8065008" y="4160520"/>
            <a:ext cx="219456" cy="219456"/>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30768" y="4087368"/>
            <a:ext cx="2606040" cy="384048"/>
          </a:xfrm>
          <a:prstGeom prst="rect">
            <a:avLst/>
          </a:prstGeom>
          <a:noFill/>
        </p:spPr>
        <p:txBody>
          <a:bodyPr wrap="square" anchor="t" lIns="36576" rIns="36576" tIns="36576" bIns="36576">
            <a:spAutoFit/>
          </a:bodyPr>
          <a:lstStyle/>
          <a:p>
            <a:pPr algn="l">
              <a:spcAft>
                <a:spcPts val="0"/>
              </a:spcAft>
            </a:pPr>
            <a:r>
              <a:rPr sz="1120" b="0">
                <a:solidFill>
                  <a:srgbClr val="172433"/>
                </a:solidFill>
                <a:latin typeface="Arial"/>
              </a:rPr>
              <a:t>responses</a:t>
            </a:r>
          </a:p>
        </p:txBody>
      </p:sp>
      <p:sp>
        <p:nvSpPr>
          <p:cNvPr id="19" name="Rounded Rectangle 18"/>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21" name="TextBox 20"/>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Annotated create-product operation</a:t>
            </a:r>
          </a:p>
        </p:txBody>
      </p:sp>
      <p:sp>
        <p:nvSpPr>
          <p:cNvPr id="22" name="Rounded Rectangle 21"/>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24" name="TextBox 23"/>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Generic function names and missing response descriptions force guesswork.</a:t>
            </a:r>
          </a:p>
        </p:txBody>
      </p:sp>
      <p:sp>
        <p:nvSpPr>
          <p:cNvPr id="25" name="Rounded Rectangle 24"/>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27" name="TextBox 26"/>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The docs distinguish create, validation, conflict and authorization outcomes.</a:t>
            </a:r>
          </a:p>
        </p:txBody>
      </p:sp>
      <p:sp>
        <p:nvSpPr>
          <p:cNvPr id="28" name="TextBox 27"/>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9" name="TextBox 28"/>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0" name="TextBox 29"/>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FastAPI Tutorial</a:t>
            </a:r>
          </a:p>
        </p:txBody>
      </p:sp>
      <p:sp>
        <p:nvSpPr>
          <p:cNvPr id="31" name="TextBox 30"/>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172</a:t>
            </a:r>
          </a:p>
        </p:txBody>
      </p:sp>
    </p:spTree>
  </p:cSld>
  <p:transition spd="fast">
    <p:fade/>
  </p:transition>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TOPIC 06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Operation metadata improves usability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tags</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Tags, summaries, descriptions, response codes and examples turn generated docs into a usable contract.</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Generic function names and missing response descriptions force guesswork.</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The docs distinguish create, validation, conflict and authorization outcomes.</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Annotated create-product operation</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FastAPI Tutorial</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173</a:t>
            </a:r>
          </a:p>
        </p:txBody>
      </p:sp>
    </p:spTree>
  </p:cSld>
  <p:transition spd="fast">
    <p:fade/>
  </p:transition>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TOPIC 06 · FLOW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The browser client uses fetch as an API adapter</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JavaScript serializes JSON, sends HTTP, checks status, parses JSON and renders DOM state.</a:t>
            </a:r>
          </a:p>
        </p:txBody>
      </p:sp>
      <p:sp>
        <p:nvSpPr>
          <p:cNvPr id="8" name="Rounded Rectangle 7"/>
          <p:cNvSpPr/>
          <p:nvPr/>
        </p:nvSpPr>
        <p:spPr>
          <a:xfrm>
            <a:off x="749808" y="2487168"/>
            <a:ext cx="1650492"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319022" y="2724912"/>
            <a:ext cx="512064"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19022"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1</a:t>
            </a:r>
          </a:p>
        </p:txBody>
      </p:sp>
      <p:sp>
        <p:nvSpPr>
          <p:cNvPr id="11" name="TextBox 10"/>
          <p:cNvSpPr txBox="1"/>
          <p:nvPr/>
        </p:nvSpPr>
        <p:spPr>
          <a:xfrm>
            <a:off x="822960" y="3502152"/>
            <a:ext cx="1504188"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form event</a:t>
            </a:r>
          </a:p>
        </p:txBody>
      </p:sp>
      <p:cxnSp>
        <p:nvCxnSpPr>
          <p:cNvPr id="12" name="Connector 11"/>
          <p:cNvCxnSpPr/>
          <p:nvPr/>
        </p:nvCxnSpPr>
        <p:spPr>
          <a:xfrm>
            <a:off x="2400300" y="3520440"/>
            <a:ext cx="146304" cy="0"/>
          </a:xfrm>
          <a:prstGeom prst="line">
            <a:avLst/>
          </a:prstGeom>
          <a:ln>
            <a:solidFill>
              <a:srgbClr val="2563EB"/>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46604" y="2487168"/>
            <a:ext cx="1650492"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115818" y="2724912"/>
            <a:ext cx="512064"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15818"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2</a:t>
            </a:r>
          </a:p>
        </p:txBody>
      </p:sp>
      <p:sp>
        <p:nvSpPr>
          <p:cNvPr id="16" name="TextBox 15"/>
          <p:cNvSpPr txBox="1"/>
          <p:nvPr/>
        </p:nvSpPr>
        <p:spPr>
          <a:xfrm>
            <a:off x="2619756" y="3502152"/>
            <a:ext cx="1504188"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fetch</a:t>
            </a:r>
          </a:p>
        </p:txBody>
      </p:sp>
      <p:cxnSp>
        <p:nvCxnSpPr>
          <p:cNvPr id="17" name="Connector 16"/>
          <p:cNvCxnSpPr/>
          <p:nvPr/>
        </p:nvCxnSpPr>
        <p:spPr>
          <a:xfrm>
            <a:off x="4197096" y="3520440"/>
            <a:ext cx="146304" cy="0"/>
          </a:xfrm>
          <a:prstGeom prst="line">
            <a:avLst/>
          </a:prstGeom>
          <a:ln>
            <a:solidFill>
              <a:srgbClr val="2563EB"/>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343400" y="2487168"/>
            <a:ext cx="1650492"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12614" y="2724912"/>
            <a:ext cx="512064"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12614"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3</a:t>
            </a:r>
          </a:p>
        </p:txBody>
      </p:sp>
      <p:sp>
        <p:nvSpPr>
          <p:cNvPr id="21" name="TextBox 20"/>
          <p:cNvSpPr txBox="1"/>
          <p:nvPr/>
        </p:nvSpPr>
        <p:spPr>
          <a:xfrm>
            <a:off x="4416552" y="3502152"/>
            <a:ext cx="1504188"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response.ok</a:t>
            </a:r>
          </a:p>
        </p:txBody>
      </p:sp>
      <p:cxnSp>
        <p:nvCxnSpPr>
          <p:cNvPr id="22" name="Connector 21"/>
          <p:cNvCxnSpPr/>
          <p:nvPr/>
        </p:nvCxnSpPr>
        <p:spPr>
          <a:xfrm>
            <a:off x="5993892" y="3520440"/>
            <a:ext cx="146304" cy="0"/>
          </a:xfrm>
          <a:prstGeom prst="line">
            <a:avLst/>
          </a:prstGeom>
          <a:ln>
            <a:solidFill>
              <a:srgbClr val="2563EB"/>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140196" y="2487168"/>
            <a:ext cx="1650492"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709410" y="2724912"/>
            <a:ext cx="512064"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09410"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4</a:t>
            </a:r>
          </a:p>
        </p:txBody>
      </p:sp>
      <p:sp>
        <p:nvSpPr>
          <p:cNvPr id="26" name="TextBox 25"/>
          <p:cNvSpPr txBox="1"/>
          <p:nvPr/>
        </p:nvSpPr>
        <p:spPr>
          <a:xfrm>
            <a:off x="6213348" y="3502152"/>
            <a:ext cx="1504188"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response.json</a:t>
            </a:r>
          </a:p>
        </p:txBody>
      </p:sp>
      <p:cxnSp>
        <p:nvCxnSpPr>
          <p:cNvPr id="27" name="Connector 26"/>
          <p:cNvCxnSpPr/>
          <p:nvPr/>
        </p:nvCxnSpPr>
        <p:spPr>
          <a:xfrm>
            <a:off x="7790688" y="3520440"/>
            <a:ext cx="146304" cy="0"/>
          </a:xfrm>
          <a:prstGeom prst="line">
            <a:avLst/>
          </a:prstGeom>
          <a:ln>
            <a:solidFill>
              <a:srgbClr val="2563EB"/>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936992" y="2487168"/>
            <a:ext cx="1650492"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506206" y="2724912"/>
            <a:ext cx="512064"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6206"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5</a:t>
            </a:r>
          </a:p>
        </p:txBody>
      </p:sp>
      <p:sp>
        <p:nvSpPr>
          <p:cNvPr id="31" name="TextBox 30"/>
          <p:cNvSpPr txBox="1"/>
          <p:nvPr/>
        </p:nvSpPr>
        <p:spPr>
          <a:xfrm>
            <a:off x="8010144" y="3502152"/>
            <a:ext cx="1504188"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render</a:t>
            </a:r>
          </a:p>
        </p:txBody>
      </p:sp>
      <p:cxnSp>
        <p:nvCxnSpPr>
          <p:cNvPr id="32" name="Connector 31"/>
          <p:cNvCxnSpPr/>
          <p:nvPr/>
        </p:nvCxnSpPr>
        <p:spPr>
          <a:xfrm>
            <a:off x="9587484" y="3520440"/>
            <a:ext cx="146304" cy="0"/>
          </a:xfrm>
          <a:prstGeom prst="line">
            <a:avLst/>
          </a:prstGeom>
          <a:ln>
            <a:solidFill>
              <a:srgbClr val="2563EB"/>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9733788" y="2487168"/>
            <a:ext cx="1650492"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0303002" y="2724912"/>
            <a:ext cx="512064"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03002"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6</a:t>
            </a:r>
          </a:p>
        </p:txBody>
      </p:sp>
      <p:sp>
        <p:nvSpPr>
          <p:cNvPr id="36" name="TextBox 35"/>
          <p:cNvSpPr txBox="1"/>
          <p:nvPr/>
        </p:nvSpPr>
        <p:spPr>
          <a:xfrm>
            <a:off x="9806940" y="3502152"/>
            <a:ext cx="1504188"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error banner</a:t>
            </a:r>
          </a:p>
        </p:txBody>
      </p:sp>
      <p:sp>
        <p:nvSpPr>
          <p:cNvPr id="37" name="Rounded Rectangle 36"/>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39" name="TextBox 38"/>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HTML form → JS adapter → FastAPI → SQLite</a:t>
            </a:r>
          </a:p>
        </p:txBody>
      </p:sp>
      <p:sp>
        <p:nvSpPr>
          <p:cNvPr id="40" name="Rounded Rectangle 39"/>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42" name="TextBox 41"/>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Calling response.json() before checking 204 or non-JSON errors causes secondary failures.</a:t>
            </a:r>
          </a:p>
        </p:txBody>
      </p:sp>
      <p:sp>
        <p:nvSpPr>
          <p:cNvPr id="43" name="Rounded Rectangle 42"/>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45" name="TextBox 44"/>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Network panel and visible UI agree on status and payload.</a:t>
            </a:r>
          </a:p>
        </p:txBody>
      </p:sp>
      <p:sp>
        <p:nvSpPr>
          <p:cNvPr id="46" name="TextBox 4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47" name="TextBox 4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48" name="TextBox 47"/>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FastAPI Tutorial</a:t>
            </a:r>
          </a:p>
        </p:txBody>
      </p:sp>
      <p:sp>
        <p:nvSpPr>
          <p:cNvPr id="49" name="TextBox 4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174</a:t>
            </a:r>
          </a:p>
        </p:txBody>
      </p:sp>
    </p:spTree>
  </p:cSld>
  <p:transition spd="fast">
    <p:fade/>
  </p:transition>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TOPIC 06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The browser client uses fetch as an API adapter</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form event</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JavaScript serializes JSON, sends HTTP, checks status, parses JSON and renders DOM state.</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Calling response.json() before checking 204 or non-JSON errors causes secondary failures.</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Network panel and visible UI agree on status and payload.</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HTML form → JS adapter → FastAPI → SQLite</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FastAPI Tutorial</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175</a:t>
            </a:r>
          </a:p>
        </p:txBody>
      </p:sp>
    </p:spTree>
  </p:cSld>
  <p:transition spd="fast">
    <p:fade/>
  </p:transition>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TOPIC 06 · MODEL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Keep the frontend state derived from API responses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Render the server-returned product instead of assuming the requested change succeeded.</a:t>
            </a:r>
          </a:p>
        </p:txBody>
      </p:sp>
      <p:sp>
        <p:nvSpPr>
          <p:cNvPr id="8" name="Rounded Rectangle 7"/>
          <p:cNvSpPr/>
          <p:nvPr/>
        </p:nvSpPr>
        <p:spPr>
          <a:xfrm>
            <a:off x="749808"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50976" y="2596896"/>
            <a:ext cx="502920" cy="50292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1</a:t>
            </a:r>
          </a:p>
        </p:txBody>
      </p:sp>
      <p:sp>
        <p:nvSpPr>
          <p:cNvPr id="11" name="TextBox 10"/>
          <p:cNvSpPr txBox="1"/>
          <p:nvPr/>
        </p:nvSpPr>
        <p:spPr>
          <a:xfrm>
            <a:off x="1682496"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disable during request</a:t>
            </a:r>
          </a:p>
        </p:txBody>
      </p:sp>
      <p:sp>
        <p:nvSpPr>
          <p:cNvPr id="12" name="Rounded Rectangle 11"/>
          <p:cNvSpPr/>
          <p:nvPr/>
        </p:nvSpPr>
        <p:spPr>
          <a:xfrm>
            <a:off x="6172200"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73368" y="2596896"/>
            <a:ext cx="502920" cy="502920"/>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2</a:t>
            </a:r>
          </a:p>
        </p:txBody>
      </p:sp>
      <p:sp>
        <p:nvSpPr>
          <p:cNvPr id="15" name="TextBox 14"/>
          <p:cNvSpPr txBox="1"/>
          <p:nvPr/>
        </p:nvSpPr>
        <p:spPr>
          <a:xfrm>
            <a:off x="7104888"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use response body</a:t>
            </a:r>
          </a:p>
        </p:txBody>
      </p:sp>
      <p:sp>
        <p:nvSpPr>
          <p:cNvPr id="16" name="Rounded Rectangle 15"/>
          <p:cNvSpPr/>
          <p:nvPr/>
        </p:nvSpPr>
        <p:spPr>
          <a:xfrm>
            <a:off x="749808" y="3639311"/>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50976" y="3904487"/>
            <a:ext cx="502920" cy="50292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0976" y="4032503"/>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3</a:t>
            </a:r>
          </a:p>
        </p:txBody>
      </p:sp>
      <p:sp>
        <p:nvSpPr>
          <p:cNvPr id="19" name="TextBox 18"/>
          <p:cNvSpPr txBox="1"/>
          <p:nvPr/>
        </p:nvSpPr>
        <p:spPr>
          <a:xfrm>
            <a:off x="1682496" y="3840479"/>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refresh list</a:t>
            </a:r>
          </a:p>
        </p:txBody>
      </p:sp>
      <p:sp>
        <p:nvSpPr>
          <p:cNvPr id="20" name="Rounded Rectangle 19"/>
          <p:cNvSpPr/>
          <p:nvPr/>
        </p:nvSpPr>
        <p:spPr>
          <a:xfrm>
            <a:off x="6172200" y="3639311"/>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73368" y="3904487"/>
            <a:ext cx="502920" cy="50292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3368" y="4032503"/>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4</a:t>
            </a:r>
          </a:p>
        </p:txBody>
      </p:sp>
      <p:sp>
        <p:nvSpPr>
          <p:cNvPr id="23" name="TextBox 22"/>
          <p:cNvSpPr txBox="1"/>
          <p:nvPr/>
        </p:nvSpPr>
        <p:spPr>
          <a:xfrm>
            <a:off x="7104888" y="3840479"/>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show error detail</a:t>
            </a:r>
          </a:p>
        </p:txBody>
      </p:sp>
      <p:sp>
        <p:nvSpPr>
          <p:cNvPr id="24" name="Rounded Rectangle 23"/>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26" name="TextBox 25"/>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UI state transition model</a:t>
            </a:r>
          </a:p>
        </p:txBody>
      </p:sp>
      <p:sp>
        <p:nvSpPr>
          <p:cNvPr id="27" name="Rounded Rectangle 26"/>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29" name="TextBox 28"/>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Optimistic updates without rollback leave the page inconsistent.</a:t>
            </a:r>
          </a:p>
        </p:txBody>
      </p:sp>
      <p:sp>
        <p:nvSpPr>
          <p:cNvPr id="30" name="Rounded Rectangle 29"/>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32" name="TextBox 31"/>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Simulated 409/500 responses do not corrupt the visible product list.</a:t>
            </a:r>
          </a:p>
        </p:txBody>
      </p:sp>
      <p:sp>
        <p:nvSpPr>
          <p:cNvPr id="33" name="TextBox 3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4" name="TextBox 3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5" name="TextBox 34"/>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FastAPI Tutorial</a:t>
            </a:r>
          </a:p>
        </p:txBody>
      </p:sp>
      <p:sp>
        <p:nvSpPr>
          <p:cNvPr id="36" name="TextBox 35"/>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176</a:t>
            </a:r>
          </a:p>
        </p:txBody>
      </p:sp>
    </p:spTree>
  </p:cSld>
  <p:transition spd="fast">
    <p:fade/>
  </p:transition>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TOPIC 06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Keep the frontend state derived from API responses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disable during request</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Render the server-returned product instead of assuming the requested change succeeded.</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Optimistic updates without rollback leave the page inconsistent.</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Simulated 409/500 responses do not corrupt the visible product list.</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UI state transition model</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FastAPI Tutorial</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177</a:t>
            </a:r>
          </a:p>
        </p:txBody>
      </p:sp>
    </p:spTree>
  </p:cSld>
  <p:transition spd="fast">
    <p:fade/>
  </p:transition>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TOPIC 06 · COMPARE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Same-origin hosting removes demo CORS friction</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Mount static files in FastAPI for a single-origin demo; configure explicit CORS only when origins differ.</a:t>
            </a:r>
          </a:p>
        </p:txBody>
      </p:sp>
      <p:sp>
        <p:nvSpPr>
          <p:cNvPr id="8" name="Rounded Rectangle 7"/>
          <p:cNvSpPr/>
          <p:nvPr/>
        </p:nvSpPr>
        <p:spPr>
          <a:xfrm>
            <a:off x="749808"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50976" y="2596896"/>
            <a:ext cx="502920" cy="50292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1</a:t>
            </a:r>
          </a:p>
        </p:txBody>
      </p:sp>
      <p:sp>
        <p:nvSpPr>
          <p:cNvPr id="11" name="TextBox 10"/>
          <p:cNvSpPr txBox="1"/>
          <p:nvPr/>
        </p:nvSpPr>
        <p:spPr>
          <a:xfrm>
            <a:off x="1682496"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Same origin: / + /api</a:t>
            </a:r>
          </a:p>
        </p:txBody>
      </p:sp>
      <p:sp>
        <p:nvSpPr>
          <p:cNvPr id="12" name="Rounded Rectangle 11"/>
          <p:cNvSpPr/>
          <p:nvPr/>
        </p:nvSpPr>
        <p:spPr>
          <a:xfrm>
            <a:off x="6172200"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73368" y="2596896"/>
            <a:ext cx="502920" cy="502920"/>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2</a:t>
            </a:r>
          </a:p>
        </p:txBody>
      </p:sp>
      <p:sp>
        <p:nvSpPr>
          <p:cNvPr id="15" name="TextBox 14"/>
          <p:cNvSpPr txBox="1"/>
          <p:nvPr/>
        </p:nvSpPr>
        <p:spPr>
          <a:xfrm>
            <a:off x="7104888"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Separate dev origin: 5500 + 8000</a:t>
            </a:r>
          </a:p>
        </p:txBody>
      </p:sp>
      <p:sp>
        <p:nvSpPr>
          <p:cNvPr id="16" name="Rounded Rectangle 15"/>
          <p:cNvSpPr/>
          <p:nvPr/>
        </p:nvSpPr>
        <p:spPr>
          <a:xfrm>
            <a:off x="749808" y="3639311"/>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50976" y="3904487"/>
            <a:ext cx="502920" cy="50292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0976" y="4032503"/>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3</a:t>
            </a:r>
          </a:p>
        </p:txBody>
      </p:sp>
      <p:sp>
        <p:nvSpPr>
          <p:cNvPr id="19" name="TextBox 18"/>
          <p:cNvSpPr txBox="1"/>
          <p:nvPr/>
        </p:nvSpPr>
        <p:spPr>
          <a:xfrm>
            <a:off x="1682496" y="3840479"/>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Explicit allow list</a:t>
            </a:r>
          </a:p>
        </p:txBody>
      </p:sp>
      <p:sp>
        <p:nvSpPr>
          <p:cNvPr id="20" name="Rounded Rectangle 19"/>
          <p:cNvSpPr/>
          <p:nvPr/>
        </p:nvSpPr>
        <p:spPr>
          <a:xfrm>
            <a:off x="6172200" y="3639311"/>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73368" y="3904487"/>
            <a:ext cx="502920" cy="50292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3368" y="4032503"/>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4</a:t>
            </a:r>
          </a:p>
        </p:txBody>
      </p:sp>
      <p:sp>
        <p:nvSpPr>
          <p:cNvPr id="23" name="TextBox 22"/>
          <p:cNvSpPr txBox="1"/>
          <p:nvPr/>
        </p:nvSpPr>
        <p:spPr>
          <a:xfrm>
            <a:off x="7104888" y="3840479"/>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never put secret in browser</a:t>
            </a:r>
          </a:p>
        </p:txBody>
      </p:sp>
      <p:sp>
        <p:nvSpPr>
          <p:cNvPr id="24" name="Rounded Rectangle 23"/>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26" name="TextBox 25"/>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Deployment topology comparison</a:t>
            </a:r>
          </a:p>
        </p:txBody>
      </p:sp>
      <p:sp>
        <p:nvSpPr>
          <p:cNvPr id="27" name="Rounded Rectangle 26"/>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29" name="TextBox 28"/>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A frontend API key embedded in JavaScript is public by definition.</a:t>
            </a:r>
          </a:p>
        </p:txBody>
      </p:sp>
      <p:sp>
        <p:nvSpPr>
          <p:cNvPr id="30" name="Rounded Rectangle 29"/>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32" name="TextBox 31"/>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Browser loads assets and API calls without blocked preflight or exposed secrets.</a:t>
            </a:r>
          </a:p>
        </p:txBody>
      </p:sp>
      <p:sp>
        <p:nvSpPr>
          <p:cNvPr id="33" name="TextBox 3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4" name="TextBox 3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5" name="TextBox 34"/>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CORS</a:t>
            </a:r>
          </a:p>
        </p:txBody>
      </p:sp>
      <p:sp>
        <p:nvSpPr>
          <p:cNvPr id="36" name="TextBox 35"/>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178</a:t>
            </a:r>
          </a:p>
        </p:txBody>
      </p:sp>
    </p:spTree>
  </p:cSld>
  <p:transition spd="fast">
    <p:fade/>
  </p:transition>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TOPIC 06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Same-origin hosting removes demo CORS friction</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Same origin: / + /api</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Mount static files in FastAPI for a single-origin demo; configure explicit CORS only when origins differ.</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A frontend API key embedded in JavaScript is public by definition.</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Browser loads assets and API calls without blocked preflight or exposed secrets.</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Deployment topology comparison</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CORS</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179</a:t>
            </a:r>
          </a:p>
        </p:txBody>
      </p:sp>
    </p:spTree>
  </p:cSld>
  <p:transition spd="fast">
    <p:fade/>
  </p:transition>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TOPIC 06 · TABLE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Health endpoints separate liveness from readiness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Liveness says the process responds; readiness proves required dependencies can serve traffic.</a:t>
            </a:r>
          </a:p>
        </p:txBody>
      </p:sp>
      <p:sp>
        <p:nvSpPr>
          <p:cNvPr id="8" name="Rounded Rectangle 7"/>
          <p:cNvSpPr/>
          <p:nvPr/>
        </p:nvSpPr>
        <p:spPr>
          <a:xfrm>
            <a:off x="749808"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50976" y="2596896"/>
            <a:ext cx="502920" cy="50292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1</a:t>
            </a:r>
          </a:p>
        </p:txBody>
      </p:sp>
      <p:sp>
        <p:nvSpPr>
          <p:cNvPr id="11" name="TextBox 10"/>
          <p:cNvSpPr txBox="1"/>
          <p:nvPr/>
        </p:nvSpPr>
        <p:spPr>
          <a:xfrm>
            <a:off x="1682496"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/health/live → process</a:t>
            </a:r>
          </a:p>
        </p:txBody>
      </p:sp>
      <p:sp>
        <p:nvSpPr>
          <p:cNvPr id="12" name="Rounded Rectangle 11"/>
          <p:cNvSpPr/>
          <p:nvPr/>
        </p:nvSpPr>
        <p:spPr>
          <a:xfrm>
            <a:off x="6172200" y="2331720"/>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73368" y="2596896"/>
            <a:ext cx="502920" cy="502920"/>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2724912"/>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2</a:t>
            </a:r>
          </a:p>
        </p:txBody>
      </p:sp>
      <p:sp>
        <p:nvSpPr>
          <p:cNvPr id="15" name="TextBox 14"/>
          <p:cNvSpPr txBox="1"/>
          <p:nvPr/>
        </p:nvSpPr>
        <p:spPr>
          <a:xfrm>
            <a:off x="7104888" y="2532888"/>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/health/ready → database SELECT 1</a:t>
            </a:r>
          </a:p>
        </p:txBody>
      </p:sp>
      <p:sp>
        <p:nvSpPr>
          <p:cNvPr id="16" name="Rounded Rectangle 15"/>
          <p:cNvSpPr/>
          <p:nvPr/>
        </p:nvSpPr>
        <p:spPr>
          <a:xfrm>
            <a:off x="749808" y="3639311"/>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50976" y="3904487"/>
            <a:ext cx="502920" cy="50292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0976" y="4032503"/>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3</a:t>
            </a:r>
          </a:p>
        </p:txBody>
      </p:sp>
      <p:sp>
        <p:nvSpPr>
          <p:cNvPr id="19" name="TextBox 18"/>
          <p:cNvSpPr txBox="1"/>
          <p:nvPr/>
        </p:nvSpPr>
        <p:spPr>
          <a:xfrm>
            <a:off x="1682496" y="3840479"/>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fast and dependency-light</a:t>
            </a:r>
          </a:p>
        </p:txBody>
      </p:sp>
      <p:sp>
        <p:nvSpPr>
          <p:cNvPr id="20" name="Rounded Rectangle 19"/>
          <p:cNvSpPr/>
          <p:nvPr/>
        </p:nvSpPr>
        <p:spPr>
          <a:xfrm>
            <a:off x="6172200" y="3639311"/>
            <a:ext cx="5102352" cy="107899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73368" y="3904487"/>
            <a:ext cx="502920" cy="50292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3368" y="4032503"/>
            <a:ext cx="502920"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4</a:t>
            </a:r>
          </a:p>
        </p:txBody>
      </p:sp>
      <p:sp>
        <p:nvSpPr>
          <p:cNvPr id="23" name="TextBox 22"/>
          <p:cNvSpPr txBox="1"/>
          <p:nvPr/>
        </p:nvSpPr>
        <p:spPr>
          <a:xfrm>
            <a:off x="7104888" y="3840479"/>
            <a:ext cx="3886200" cy="640080"/>
          </a:xfrm>
          <a:prstGeom prst="rect">
            <a:avLst/>
          </a:prstGeom>
          <a:noFill/>
        </p:spPr>
        <p:txBody>
          <a:bodyPr wrap="square" anchor="ctr" lIns="36576" rIns="36576" tIns="36576" bIns="36576">
            <a:spAutoFit/>
          </a:bodyPr>
          <a:lstStyle/>
          <a:p>
            <a:pPr algn="l">
              <a:spcAft>
                <a:spcPts val="0"/>
              </a:spcAft>
            </a:pPr>
            <a:r>
              <a:rPr sz="1280" b="0">
                <a:solidFill>
                  <a:srgbClr val="172433"/>
                </a:solidFill>
                <a:latin typeface="Arial"/>
              </a:rPr>
              <a:t>no sensitive details</a:t>
            </a:r>
          </a:p>
        </p:txBody>
      </p:sp>
      <p:sp>
        <p:nvSpPr>
          <p:cNvPr id="24" name="Rounded Rectangle 23"/>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26" name="TextBox 25"/>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Health-check contract</a:t>
            </a:r>
          </a:p>
        </p:txBody>
      </p:sp>
      <p:sp>
        <p:nvSpPr>
          <p:cNvPr id="27" name="Rounded Rectangle 26"/>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29" name="TextBox 28"/>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A single ‘OK’ endpoint can report healthy while the database is unavailable.</a:t>
            </a:r>
          </a:p>
        </p:txBody>
      </p:sp>
      <p:sp>
        <p:nvSpPr>
          <p:cNvPr id="30" name="Rounded Rectangle 29"/>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32" name="TextBox 31"/>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Stopping database access changes readiness but not liveness.</a:t>
            </a:r>
          </a:p>
        </p:txBody>
      </p:sp>
      <p:sp>
        <p:nvSpPr>
          <p:cNvPr id="33" name="TextBox 3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4" name="TextBox 3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5" name="TextBox 34"/>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Deployment</a:t>
            </a:r>
          </a:p>
        </p:txBody>
      </p:sp>
      <p:sp>
        <p:nvSpPr>
          <p:cNvPr id="36" name="TextBox 35"/>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180</a:t>
            </a:r>
          </a:p>
        </p:txBody>
      </p:sp>
    </p:spTree>
  </p:cSld>
  <p:transition spd="fast">
    <p:fade/>
  </p:transition>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TOPIC 06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Health endpoints separate liveness from readiness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/health/live → process</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Liveness says the process responds; readiness proves required dependencies can serve traffic.</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A single ‘OK’ endpoint can report healthy while the database is unavailable.</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Stopping database access changes readiness but not liveness.</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Health-check contract</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Deployment</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181</a:t>
            </a:r>
          </a:p>
        </p:txBody>
      </p:sp>
    </p:spTree>
  </p:cSld>
  <p:transition spd="fast">
    <p:fade/>
  </p:transition>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TOPIC 06 · PROCESS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Package a reproducible release</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Pin dependencies, ignore secrets/data, initialise schema deterministically and document one start command.</a:t>
            </a:r>
          </a:p>
        </p:txBody>
      </p:sp>
      <p:sp>
        <p:nvSpPr>
          <p:cNvPr id="8" name="Rounded Rectangle 7"/>
          <p:cNvSpPr/>
          <p:nvPr/>
        </p:nvSpPr>
        <p:spPr>
          <a:xfrm>
            <a:off x="749808" y="2487168"/>
            <a:ext cx="1650492"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319022" y="2724912"/>
            <a:ext cx="512064"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19022"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1</a:t>
            </a:r>
          </a:p>
        </p:txBody>
      </p:sp>
      <p:sp>
        <p:nvSpPr>
          <p:cNvPr id="11" name="TextBox 10"/>
          <p:cNvSpPr txBox="1"/>
          <p:nvPr/>
        </p:nvSpPr>
        <p:spPr>
          <a:xfrm>
            <a:off x="822960" y="3502152"/>
            <a:ext cx="1504188"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requirements.txt</a:t>
            </a:r>
          </a:p>
        </p:txBody>
      </p:sp>
      <p:cxnSp>
        <p:nvCxnSpPr>
          <p:cNvPr id="12" name="Connector 11"/>
          <p:cNvCxnSpPr/>
          <p:nvPr/>
        </p:nvCxnSpPr>
        <p:spPr>
          <a:xfrm>
            <a:off x="2400300" y="3520440"/>
            <a:ext cx="146304" cy="0"/>
          </a:xfrm>
          <a:prstGeom prst="line">
            <a:avLst/>
          </a:prstGeom>
          <a:ln>
            <a:solidFill>
              <a:srgbClr val="2563EB"/>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46604" y="2487168"/>
            <a:ext cx="1650492"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115818" y="2724912"/>
            <a:ext cx="512064"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15818"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2</a:t>
            </a:r>
          </a:p>
        </p:txBody>
      </p:sp>
      <p:sp>
        <p:nvSpPr>
          <p:cNvPr id="16" name="TextBox 15"/>
          <p:cNvSpPr txBox="1"/>
          <p:nvPr/>
        </p:nvSpPr>
        <p:spPr>
          <a:xfrm>
            <a:off x="2619756" y="3502152"/>
            <a:ext cx="1504188"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.env.example</a:t>
            </a:r>
          </a:p>
        </p:txBody>
      </p:sp>
      <p:cxnSp>
        <p:nvCxnSpPr>
          <p:cNvPr id="17" name="Connector 16"/>
          <p:cNvCxnSpPr/>
          <p:nvPr/>
        </p:nvCxnSpPr>
        <p:spPr>
          <a:xfrm>
            <a:off x="4197096" y="3520440"/>
            <a:ext cx="146304" cy="0"/>
          </a:xfrm>
          <a:prstGeom prst="line">
            <a:avLst/>
          </a:prstGeom>
          <a:ln>
            <a:solidFill>
              <a:srgbClr val="2563EB"/>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343400" y="2487168"/>
            <a:ext cx="1650492"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12614" y="2724912"/>
            <a:ext cx="512064"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12614"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3</a:t>
            </a:r>
          </a:p>
        </p:txBody>
      </p:sp>
      <p:sp>
        <p:nvSpPr>
          <p:cNvPr id="21" name="TextBox 20"/>
          <p:cNvSpPr txBox="1"/>
          <p:nvPr/>
        </p:nvSpPr>
        <p:spPr>
          <a:xfrm>
            <a:off x="4416552" y="3502152"/>
            <a:ext cx="1504188"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.gitignore</a:t>
            </a:r>
          </a:p>
        </p:txBody>
      </p:sp>
      <p:cxnSp>
        <p:nvCxnSpPr>
          <p:cNvPr id="22" name="Connector 21"/>
          <p:cNvCxnSpPr/>
          <p:nvPr/>
        </p:nvCxnSpPr>
        <p:spPr>
          <a:xfrm>
            <a:off x="5993892" y="3520440"/>
            <a:ext cx="146304" cy="0"/>
          </a:xfrm>
          <a:prstGeom prst="line">
            <a:avLst/>
          </a:prstGeom>
          <a:ln>
            <a:solidFill>
              <a:srgbClr val="2563EB"/>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140196" y="2487168"/>
            <a:ext cx="1650492"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709410" y="2724912"/>
            <a:ext cx="512064"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09410"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4</a:t>
            </a:r>
          </a:p>
        </p:txBody>
      </p:sp>
      <p:sp>
        <p:nvSpPr>
          <p:cNvPr id="26" name="TextBox 25"/>
          <p:cNvSpPr txBox="1"/>
          <p:nvPr/>
        </p:nvSpPr>
        <p:spPr>
          <a:xfrm>
            <a:off x="6213348" y="3502152"/>
            <a:ext cx="1504188"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schema init</a:t>
            </a:r>
          </a:p>
        </p:txBody>
      </p:sp>
      <p:cxnSp>
        <p:nvCxnSpPr>
          <p:cNvPr id="27" name="Connector 26"/>
          <p:cNvCxnSpPr/>
          <p:nvPr/>
        </p:nvCxnSpPr>
        <p:spPr>
          <a:xfrm>
            <a:off x="7790688" y="3520440"/>
            <a:ext cx="146304" cy="0"/>
          </a:xfrm>
          <a:prstGeom prst="line">
            <a:avLst/>
          </a:prstGeom>
          <a:ln>
            <a:solidFill>
              <a:srgbClr val="2563EB"/>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936992" y="2487168"/>
            <a:ext cx="1650492"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506206" y="2724912"/>
            <a:ext cx="512064"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6206"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5</a:t>
            </a:r>
          </a:p>
        </p:txBody>
      </p:sp>
      <p:sp>
        <p:nvSpPr>
          <p:cNvPr id="31" name="TextBox 30"/>
          <p:cNvSpPr txBox="1"/>
          <p:nvPr/>
        </p:nvSpPr>
        <p:spPr>
          <a:xfrm>
            <a:off x="8010144" y="3502152"/>
            <a:ext cx="1504188"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tests</a:t>
            </a:r>
          </a:p>
        </p:txBody>
      </p:sp>
      <p:cxnSp>
        <p:nvCxnSpPr>
          <p:cNvPr id="32" name="Connector 31"/>
          <p:cNvCxnSpPr/>
          <p:nvPr/>
        </p:nvCxnSpPr>
        <p:spPr>
          <a:xfrm>
            <a:off x="9587484" y="3520440"/>
            <a:ext cx="146304" cy="0"/>
          </a:xfrm>
          <a:prstGeom prst="line">
            <a:avLst/>
          </a:prstGeom>
          <a:ln>
            <a:solidFill>
              <a:srgbClr val="2563EB"/>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9733788" y="2487168"/>
            <a:ext cx="1650492" cy="205740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0303002" y="2724912"/>
            <a:ext cx="512064"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03002" y="2852928"/>
            <a:ext cx="512064" cy="219456"/>
          </a:xfrm>
          <a:prstGeom prst="rect">
            <a:avLst/>
          </a:prstGeom>
          <a:noFill/>
        </p:spPr>
        <p:txBody>
          <a:bodyPr wrap="square" anchor="t" lIns="36576" rIns="36576" tIns="36576" bIns="36576">
            <a:spAutoFit/>
          </a:bodyPr>
          <a:lstStyle/>
          <a:p>
            <a:pPr algn="ctr">
              <a:spcAft>
                <a:spcPts val="0"/>
              </a:spcAft>
            </a:pPr>
            <a:r>
              <a:rPr sz="1400" b="1">
                <a:solidFill>
                  <a:srgbClr val="FFFFFF"/>
                </a:solidFill>
                <a:latin typeface="Arial"/>
              </a:rPr>
              <a:t>6</a:t>
            </a:r>
          </a:p>
        </p:txBody>
      </p:sp>
      <p:sp>
        <p:nvSpPr>
          <p:cNvPr id="36" name="TextBox 35"/>
          <p:cNvSpPr txBox="1"/>
          <p:nvPr/>
        </p:nvSpPr>
        <p:spPr>
          <a:xfrm>
            <a:off x="9806940" y="3502152"/>
            <a:ext cx="1504188" cy="731520"/>
          </a:xfrm>
          <a:prstGeom prst="rect">
            <a:avLst/>
          </a:prstGeom>
          <a:noFill/>
        </p:spPr>
        <p:txBody>
          <a:bodyPr wrap="square" anchor="ctr" lIns="36576" rIns="36576" tIns="36576" bIns="36576">
            <a:spAutoFit/>
          </a:bodyPr>
          <a:lstStyle/>
          <a:p>
            <a:pPr algn="ctr">
              <a:spcAft>
                <a:spcPts val="0"/>
              </a:spcAft>
            </a:pPr>
            <a:r>
              <a:rPr sz="1080" b="0">
                <a:solidFill>
                  <a:srgbClr val="172433"/>
                </a:solidFill>
                <a:latin typeface="Arial"/>
              </a:rPr>
              <a:t>README</a:t>
            </a:r>
          </a:p>
        </p:txBody>
      </p:sp>
      <p:sp>
        <p:nvSpPr>
          <p:cNvPr id="37" name="Rounded Rectangle 36"/>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39" name="TextBox 38"/>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Release bundle checklist</a:t>
            </a:r>
          </a:p>
        </p:txBody>
      </p:sp>
      <p:sp>
        <p:nvSpPr>
          <p:cNvPr id="40" name="Rounded Rectangle 39"/>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42" name="TextBox 41"/>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Shipping a local .env or northstar.db leaks secrets and test data.</a:t>
            </a:r>
          </a:p>
        </p:txBody>
      </p:sp>
      <p:sp>
        <p:nvSpPr>
          <p:cNvPr id="43" name="Rounded Rectangle 42"/>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45" name="TextBox 44"/>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A clean clone installs, tests and starts using only documented steps.</a:t>
            </a:r>
          </a:p>
        </p:txBody>
      </p:sp>
      <p:sp>
        <p:nvSpPr>
          <p:cNvPr id="46" name="TextBox 4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47" name="TextBox 4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48" name="TextBox 47"/>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Deployment</a:t>
            </a:r>
          </a:p>
        </p:txBody>
      </p:sp>
      <p:sp>
        <p:nvSpPr>
          <p:cNvPr id="49" name="TextBox 4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182</a:t>
            </a:r>
          </a:p>
        </p:txBody>
      </p:sp>
    </p:spTree>
  </p:cSld>
  <p:transition spd="fast">
    <p:fade/>
  </p:transition>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TOPIC 06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Package a reproducible release</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requirements.txt</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Pin dependencies, ignore secrets/data, initialise schema deterministically and document one start command.</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Shipping a local .env or northstar.db leaks secrets and test data.</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A clean clone installs, tests and starts using only documented steps.</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Release bundle checklist</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Deployment</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183</a:t>
            </a:r>
          </a:p>
        </p:txBody>
      </p:sp>
    </p:spTree>
  </p:cSld>
  <p:transition spd="fast">
    <p:fade/>
  </p:transition>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TOPIC 06 · CHART ANCHOR</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API versioning manages breaking change</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73352"/>
            <a:ext cx="10698480" cy="566928"/>
          </a:xfrm>
          <a:prstGeom prst="rect">
            <a:avLst/>
          </a:prstGeom>
          <a:noFill/>
        </p:spPr>
        <p:txBody>
          <a:bodyPr wrap="square" anchor="t" lIns="36576" rIns="36576" tIns="36576" bIns="36576">
            <a:spAutoFit/>
          </a:bodyPr>
          <a:lstStyle/>
          <a:p>
            <a:pPr algn="l">
              <a:spcAft>
                <a:spcPts val="0"/>
              </a:spcAft>
            </a:pPr>
            <a:r>
              <a:rPr sz="1700" b="1">
                <a:solidFill>
                  <a:srgbClr val="172433"/>
                </a:solidFill>
                <a:latin typeface="Arial"/>
              </a:rPr>
              <a:t>Use /api/v1 for a stable contract and introduce v2 only when compatibility cannot be preserved.</a:t>
            </a:r>
          </a:p>
        </p:txBody>
      </p:sp>
      <p:graphicFrame>
        <p:nvGraphicFramePr>
          <p:cNvPr id="8" name="Chart 7"/>
          <p:cNvGraphicFramePr>
            <a:graphicFrameLocks noGrp="1"/>
          </p:cNvGraphicFramePr>
          <p:nvPr/>
        </p:nvGraphicFramePr>
        <p:xfrm>
          <a:off x="749808" y="2340864"/>
          <a:ext cx="6492240" cy="2697480"/>
        </p:xfrm>
        <a:graphic>
          <a:graphicData uri="http://schemas.openxmlformats.org/drawingml/2006/chart">
            <c:chart xmlns:c="http://schemas.openxmlformats.org/drawingml/2006/chart" r:id="rId2"/>
          </a:graphicData>
        </a:graphic>
      </p:graphicFrame>
      <p:sp>
        <p:nvSpPr>
          <p:cNvPr id="9" name="Rounded Rectangle 8"/>
          <p:cNvSpPr/>
          <p:nvPr/>
        </p:nvSpPr>
        <p:spPr>
          <a:xfrm>
            <a:off x="7543800" y="2340864"/>
            <a:ext cx="3840480" cy="26974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18120" y="2578608"/>
            <a:ext cx="3246120" cy="365760"/>
          </a:xfrm>
          <a:prstGeom prst="rect">
            <a:avLst/>
          </a:prstGeom>
          <a:noFill/>
        </p:spPr>
        <p:txBody>
          <a:bodyPr wrap="square" anchor="t" lIns="36576" rIns="36576" tIns="36576" bIns="36576">
            <a:spAutoFit/>
          </a:bodyPr>
          <a:lstStyle/>
          <a:p>
            <a:pPr algn="l">
              <a:spcAft>
                <a:spcPts val="0"/>
              </a:spcAft>
            </a:pPr>
            <a:r>
              <a:rPr sz="1150" b="1">
                <a:solidFill>
                  <a:srgbClr val="172433"/>
                </a:solidFill>
                <a:latin typeface="Arial"/>
              </a:rPr>
              <a:t>01  additive change first</a:t>
            </a:r>
          </a:p>
        </p:txBody>
      </p:sp>
      <p:sp>
        <p:nvSpPr>
          <p:cNvPr id="11" name="TextBox 10"/>
          <p:cNvSpPr txBox="1"/>
          <p:nvPr/>
        </p:nvSpPr>
        <p:spPr>
          <a:xfrm>
            <a:off x="7818120" y="3090672"/>
            <a:ext cx="3246120" cy="365760"/>
          </a:xfrm>
          <a:prstGeom prst="rect">
            <a:avLst/>
          </a:prstGeom>
          <a:noFill/>
        </p:spPr>
        <p:txBody>
          <a:bodyPr wrap="square" anchor="t" lIns="36576" rIns="36576" tIns="36576" bIns="36576">
            <a:spAutoFit/>
          </a:bodyPr>
          <a:lstStyle/>
          <a:p>
            <a:pPr algn="l">
              <a:spcAft>
                <a:spcPts val="0"/>
              </a:spcAft>
            </a:pPr>
            <a:r>
              <a:rPr sz="1150" b="0">
                <a:solidFill>
                  <a:srgbClr val="172433"/>
                </a:solidFill>
                <a:latin typeface="Arial"/>
              </a:rPr>
              <a:t>02  deprecation window</a:t>
            </a:r>
          </a:p>
        </p:txBody>
      </p:sp>
      <p:sp>
        <p:nvSpPr>
          <p:cNvPr id="12" name="TextBox 11"/>
          <p:cNvSpPr txBox="1"/>
          <p:nvPr/>
        </p:nvSpPr>
        <p:spPr>
          <a:xfrm>
            <a:off x="7818120" y="3602736"/>
            <a:ext cx="3246120" cy="365760"/>
          </a:xfrm>
          <a:prstGeom prst="rect">
            <a:avLst/>
          </a:prstGeom>
          <a:noFill/>
        </p:spPr>
        <p:txBody>
          <a:bodyPr wrap="square" anchor="t" lIns="36576" rIns="36576" tIns="36576" bIns="36576">
            <a:spAutoFit/>
          </a:bodyPr>
          <a:lstStyle/>
          <a:p>
            <a:pPr algn="l">
              <a:spcAft>
                <a:spcPts val="0"/>
              </a:spcAft>
            </a:pPr>
            <a:r>
              <a:rPr sz="1150" b="0">
                <a:solidFill>
                  <a:srgbClr val="172433"/>
                </a:solidFill>
                <a:latin typeface="Arial"/>
              </a:rPr>
              <a:t>03  usage telemetry</a:t>
            </a:r>
          </a:p>
        </p:txBody>
      </p:sp>
      <p:sp>
        <p:nvSpPr>
          <p:cNvPr id="13" name="TextBox 12"/>
          <p:cNvSpPr txBox="1"/>
          <p:nvPr/>
        </p:nvSpPr>
        <p:spPr>
          <a:xfrm>
            <a:off x="7818120" y="4114800"/>
            <a:ext cx="3246120" cy="365760"/>
          </a:xfrm>
          <a:prstGeom prst="rect">
            <a:avLst/>
          </a:prstGeom>
          <a:noFill/>
        </p:spPr>
        <p:txBody>
          <a:bodyPr wrap="square" anchor="t" lIns="36576" rIns="36576" tIns="36576" bIns="36576">
            <a:spAutoFit/>
          </a:bodyPr>
          <a:lstStyle/>
          <a:p>
            <a:pPr algn="l">
              <a:spcAft>
                <a:spcPts val="0"/>
              </a:spcAft>
            </a:pPr>
            <a:r>
              <a:rPr sz="1150" b="0">
                <a:solidFill>
                  <a:srgbClr val="172433"/>
                </a:solidFill>
                <a:latin typeface="Arial"/>
              </a:rPr>
              <a:t>04  migration guide</a:t>
            </a:r>
          </a:p>
        </p:txBody>
      </p:sp>
      <p:sp>
        <p:nvSpPr>
          <p:cNvPr id="14" name="Rounded Rectangle 13"/>
          <p:cNvSpPr/>
          <p:nvPr/>
        </p:nvSpPr>
        <p:spPr>
          <a:xfrm>
            <a:off x="74980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ARTIFACT</a:t>
            </a:r>
          </a:p>
        </p:txBody>
      </p:sp>
      <p:sp>
        <p:nvSpPr>
          <p:cNvPr id="16" name="TextBox 15"/>
          <p:cNvSpPr txBox="1"/>
          <p:nvPr/>
        </p:nvSpPr>
        <p:spPr>
          <a:xfrm>
            <a:off x="184708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Client adoption across a deprecation window</a:t>
            </a:r>
          </a:p>
        </p:txBody>
      </p:sp>
      <p:sp>
        <p:nvSpPr>
          <p:cNvPr id="17" name="Rounded Rectangle 16"/>
          <p:cNvSpPr/>
          <p:nvPr/>
        </p:nvSpPr>
        <p:spPr>
          <a:xfrm>
            <a:off x="436168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970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FAILURE</a:t>
            </a:r>
          </a:p>
        </p:txBody>
      </p:sp>
      <p:sp>
        <p:nvSpPr>
          <p:cNvPr id="19" name="TextBox 18"/>
          <p:cNvSpPr txBox="1"/>
          <p:nvPr/>
        </p:nvSpPr>
        <p:spPr>
          <a:xfrm>
            <a:off x="545896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Changing v1 response fields in place silently breaks consumers.</a:t>
            </a:r>
          </a:p>
        </p:txBody>
      </p:sp>
      <p:sp>
        <p:nvSpPr>
          <p:cNvPr id="20" name="Rounded Rectangle 19"/>
          <p:cNvSpPr/>
          <p:nvPr/>
        </p:nvSpPr>
        <p:spPr>
          <a:xfrm>
            <a:off x="7973568" y="4937760"/>
            <a:ext cx="3401568" cy="1170432"/>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01584" y="5056632"/>
            <a:ext cx="932688" cy="274320"/>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VERIFY</a:t>
            </a:r>
          </a:p>
        </p:txBody>
      </p:sp>
      <p:sp>
        <p:nvSpPr>
          <p:cNvPr id="22" name="TextBox 21"/>
          <p:cNvSpPr txBox="1"/>
          <p:nvPr/>
        </p:nvSpPr>
        <p:spPr>
          <a:xfrm>
            <a:off x="9070848" y="5010912"/>
            <a:ext cx="2103120" cy="950976"/>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Both versions pass their contract suites until v1 retirement.</a:t>
            </a:r>
          </a:p>
        </p:txBody>
      </p:sp>
      <p:sp>
        <p:nvSpPr>
          <p:cNvPr id="23" name="TextBox 2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4" name="TextBox 2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5" name="TextBox 24"/>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Deployment</a:t>
            </a:r>
          </a:p>
        </p:txBody>
      </p:sp>
      <p:sp>
        <p:nvSpPr>
          <p:cNvPr id="26" name="TextBox 25"/>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184</a:t>
            </a:r>
          </a:p>
        </p:txBody>
      </p:sp>
    </p:spTree>
  </p:cSld>
  <p:transition spd="fast">
    <p:fade/>
  </p:transition>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2563EB"/>
                </a:solidFill>
                <a:latin typeface="Arial"/>
              </a:rPr>
              <a:t>TOPIC 06 · IMPLEMENTATION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Prove: API versioning manages breaking change</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INPUT</a:t>
            </a:r>
          </a:p>
        </p:txBody>
      </p:sp>
      <p:sp>
        <p:nvSpPr>
          <p:cNvPr id="9" name="TextBox 8"/>
          <p:cNvSpPr txBox="1"/>
          <p:nvPr/>
        </p:nvSpPr>
        <p:spPr>
          <a:xfrm>
            <a:off x="978408" y="2459736"/>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additive change first</a:t>
            </a:r>
          </a:p>
        </p:txBody>
      </p:sp>
      <p:sp>
        <p:nvSpPr>
          <p:cNvPr id="10" name="Rounded Rectangle 9"/>
          <p:cNvSpPr/>
          <p:nvPr/>
        </p:nvSpPr>
        <p:spPr>
          <a:xfrm>
            <a:off x="6181344" y="1847088"/>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2048256"/>
            <a:ext cx="1143000" cy="256032"/>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MECHANISM</a:t>
            </a:r>
          </a:p>
        </p:txBody>
      </p:sp>
      <p:sp>
        <p:nvSpPr>
          <p:cNvPr id="12" name="TextBox 11"/>
          <p:cNvSpPr txBox="1"/>
          <p:nvPr/>
        </p:nvSpPr>
        <p:spPr>
          <a:xfrm>
            <a:off x="6409944" y="2459736"/>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Use /api/v1 for a stable contract and introduce v2 only when compatibility cannot be preserved.</a:t>
            </a:r>
          </a:p>
        </p:txBody>
      </p:sp>
      <p:sp>
        <p:nvSpPr>
          <p:cNvPr id="13" name="Rounded Rectangle 12"/>
          <p:cNvSpPr/>
          <p:nvPr/>
        </p:nvSpPr>
        <p:spPr>
          <a:xfrm>
            <a:off x="749808" y="3840480"/>
            <a:ext cx="5138928" cy="1700784"/>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DC2626"/>
                </a:solidFill>
                <a:latin typeface="Arial"/>
              </a:rPr>
              <a:t>FAILURE</a:t>
            </a:r>
          </a:p>
        </p:txBody>
      </p:sp>
      <p:sp>
        <p:nvSpPr>
          <p:cNvPr id="15" name="TextBox 14"/>
          <p:cNvSpPr txBox="1"/>
          <p:nvPr/>
        </p:nvSpPr>
        <p:spPr>
          <a:xfrm>
            <a:off x="978408" y="4453128"/>
            <a:ext cx="4617720" cy="841248"/>
          </a:xfrm>
          <a:prstGeom prst="rect">
            <a:avLst/>
          </a:prstGeom>
          <a:noFill/>
        </p:spPr>
        <p:txBody>
          <a:bodyPr wrap="square" anchor="t" lIns="36576" rIns="36576" tIns="36576" bIns="36576">
            <a:spAutoFit/>
          </a:bodyPr>
          <a:lstStyle/>
          <a:p>
            <a:pPr algn="l">
              <a:spcAft>
                <a:spcPts val="0"/>
              </a:spcAft>
            </a:pPr>
            <a:r>
              <a:rPr sz="1320" b="0">
                <a:solidFill>
                  <a:srgbClr val="172433"/>
                </a:solidFill>
                <a:latin typeface="Arial"/>
              </a:rPr>
              <a:t>Changing v1 response fields in place silently breaks consumers.</a:t>
            </a:r>
          </a:p>
        </p:txBody>
      </p:sp>
      <p:sp>
        <p:nvSpPr>
          <p:cNvPr id="16" name="Rounded Rectangle 15"/>
          <p:cNvSpPr/>
          <p:nvPr/>
        </p:nvSpPr>
        <p:spPr>
          <a:xfrm>
            <a:off x="6181344" y="3840480"/>
            <a:ext cx="5138928" cy="1700784"/>
          </a:xfrm>
          <a:prstGeom prst="roundRect">
            <a:avLst/>
          </a:prstGeom>
          <a:solidFill>
            <a:srgbClr val="ECFDF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4041648"/>
            <a:ext cx="1143000" cy="256032"/>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PROOF</a:t>
            </a:r>
          </a:p>
        </p:txBody>
      </p:sp>
      <p:sp>
        <p:nvSpPr>
          <p:cNvPr id="18" name="TextBox 17"/>
          <p:cNvSpPr txBox="1"/>
          <p:nvPr/>
        </p:nvSpPr>
        <p:spPr>
          <a:xfrm>
            <a:off x="6409944" y="4453128"/>
            <a:ext cx="4617720" cy="841248"/>
          </a:xfrm>
          <a:prstGeom prst="rect">
            <a:avLst/>
          </a:prstGeom>
          <a:noFill/>
        </p:spPr>
        <p:txBody>
          <a:bodyPr wrap="square" anchor="t" lIns="36576" rIns="36576" tIns="36576" bIns="36576">
            <a:spAutoFit/>
          </a:bodyPr>
          <a:lstStyle/>
          <a:p>
            <a:pPr algn="l">
              <a:spcAft>
                <a:spcPts val="0"/>
              </a:spcAft>
            </a:pPr>
            <a:r>
              <a:rPr sz="1320" b="1">
                <a:solidFill>
                  <a:srgbClr val="172433"/>
                </a:solidFill>
                <a:latin typeface="Arial"/>
              </a:rPr>
              <a:t>Both versions pass their contract suites until v1 retirement.</a:t>
            </a:r>
          </a:p>
        </p:txBody>
      </p:sp>
      <p:sp>
        <p:nvSpPr>
          <p:cNvPr id="19" name="TextBox 18"/>
          <p:cNvSpPr txBox="1"/>
          <p:nvPr/>
        </p:nvSpPr>
        <p:spPr>
          <a:xfrm>
            <a:off x="786384" y="5925312"/>
            <a:ext cx="9875520" cy="256032"/>
          </a:xfrm>
          <a:prstGeom prst="rect">
            <a:avLst/>
          </a:prstGeom>
          <a:noFill/>
        </p:spPr>
        <p:txBody>
          <a:bodyPr wrap="square" anchor="t" lIns="36576" rIns="36576" tIns="36576" bIns="36576">
            <a:spAutoFit/>
          </a:bodyPr>
          <a:lstStyle/>
          <a:p>
            <a:pPr algn="l">
              <a:spcAft>
                <a:spcPts val="0"/>
              </a:spcAft>
            </a:pPr>
            <a:r>
              <a:rPr sz="1150" b="1">
                <a:solidFill>
                  <a:srgbClr val="475569"/>
                </a:solidFill>
                <a:latin typeface="Arial"/>
              </a:rPr>
              <a:t>Evidence artifact: Client adoption across a deprecation window</a:t>
            </a:r>
          </a:p>
        </p:txBody>
      </p:sp>
      <p:sp>
        <p:nvSpPr>
          <p:cNvPr id="20" name="TextBox 19"/>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1" name="TextBox 20"/>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2" name="TextBox 21"/>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Deployment</a:t>
            </a:r>
          </a:p>
        </p:txBody>
      </p:sp>
      <p:sp>
        <p:nvSpPr>
          <p:cNvPr id="23" name="TextBox 2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185</a:t>
            </a:r>
          </a:p>
        </p:txBody>
      </p:sp>
    </p:spTree>
  </p:cSld>
  <p:transition spd="fast">
    <p:fade/>
  </p:transition>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11 · SCENARIO</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Connect the Commerce Web App</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74519"/>
            <a:ext cx="6675120" cy="3611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212848"/>
            <a:ext cx="6035040" cy="34747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DESIGN CHALLENGE</a:t>
            </a:r>
          </a:p>
        </p:txBody>
      </p:sp>
      <p:sp>
        <p:nvSpPr>
          <p:cNvPr id="9" name="TextBox 8"/>
          <p:cNvSpPr txBox="1"/>
          <p:nvPr/>
        </p:nvSpPr>
        <p:spPr>
          <a:xfrm>
            <a:off x="1078992" y="2743200"/>
            <a:ext cx="5989320" cy="1097280"/>
          </a:xfrm>
          <a:prstGeom prst="rect">
            <a:avLst/>
          </a:prstGeom>
          <a:noFill/>
        </p:spPr>
        <p:txBody>
          <a:bodyPr wrap="square" anchor="t" lIns="36576" rIns="36576" tIns="36576" bIns="36576">
            <a:spAutoFit/>
          </a:bodyPr>
          <a:lstStyle/>
          <a:p>
            <a:pPr algn="l">
              <a:spcAft>
                <a:spcPts val="0"/>
              </a:spcAft>
            </a:pPr>
            <a:r>
              <a:rPr sz="2200" b="1">
                <a:solidFill>
                  <a:srgbClr val="172433"/>
                </a:solidFill>
                <a:latin typeface="Arial"/>
              </a:rPr>
              <a:t>Use fetch to power a responsive dashboard for products, customers and orders through FastAPI.</a:t>
            </a:r>
          </a:p>
        </p:txBody>
      </p:sp>
      <p:sp>
        <p:nvSpPr>
          <p:cNvPr id="10" name="TextBox 9"/>
          <p:cNvSpPr txBox="1"/>
          <p:nvPr/>
        </p:nvSpPr>
        <p:spPr>
          <a:xfrm>
            <a:off x="1078992" y="4187952"/>
            <a:ext cx="5989320" cy="731520"/>
          </a:xfrm>
          <a:prstGeom prst="rect">
            <a:avLst/>
          </a:prstGeom>
          <a:noFill/>
        </p:spPr>
        <p:txBody>
          <a:bodyPr wrap="square" anchor="t" lIns="36576" rIns="36576" tIns="36576" bIns="36576">
            <a:spAutoFit/>
          </a:bodyPr>
          <a:lstStyle/>
          <a:p>
            <a:pPr algn="l">
              <a:spcAft>
                <a:spcPts val="0"/>
              </a:spcAft>
            </a:pPr>
            <a:r>
              <a:rPr sz="1400" b="0">
                <a:solidFill>
                  <a:srgbClr val="475569"/>
                </a:solidFill>
                <a:latin typeface="Arial"/>
              </a:rPr>
              <a:t>Build: static/index.html, styles.css and app.js</a:t>
            </a:r>
          </a:p>
        </p:txBody>
      </p:sp>
      <p:sp>
        <p:nvSpPr>
          <p:cNvPr id="11" name="Rounded Rectangle 10"/>
          <p:cNvSpPr/>
          <p:nvPr/>
        </p:nvSpPr>
        <p:spPr>
          <a:xfrm>
            <a:off x="7754112" y="1874519"/>
            <a:ext cx="3611880" cy="3611880"/>
          </a:xfrm>
          <a:prstGeom prst="roundRect">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19872" y="2249424"/>
            <a:ext cx="2880360" cy="274320"/>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TOOLS</a:t>
            </a:r>
          </a:p>
        </p:txBody>
      </p:sp>
      <p:sp>
        <p:nvSpPr>
          <p:cNvPr id="13" name="TextBox 12"/>
          <p:cNvSpPr txBox="1"/>
          <p:nvPr/>
        </p:nvSpPr>
        <p:spPr>
          <a:xfrm>
            <a:off x="8119872" y="2724912"/>
            <a:ext cx="2834640" cy="914400"/>
          </a:xfrm>
          <a:prstGeom prst="rect">
            <a:avLst/>
          </a:prstGeom>
          <a:noFill/>
        </p:spPr>
        <p:txBody>
          <a:bodyPr wrap="square" anchor="t" lIns="36576" rIns="36576" tIns="36576" bIns="36576">
            <a:spAutoFit/>
          </a:bodyPr>
          <a:lstStyle/>
          <a:p>
            <a:pPr algn="l">
              <a:spcAft>
                <a:spcPts val="0"/>
              </a:spcAft>
            </a:pPr>
            <a:r>
              <a:rPr sz="1600" b="1">
                <a:solidFill>
                  <a:srgbClr val="172433"/>
                </a:solidFill>
                <a:latin typeface="Arial"/>
              </a:rPr>
              <a:t>HTML, CSS, JavaScript fetch, browser devtools, imagegen UI concept, OpenAI Python SDK</a:t>
            </a:r>
          </a:p>
        </p:txBody>
      </p:sp>
      <p:sp>
        <p:nvSpPr>
          <p:cNvPr id="14" name="TextBox 13"/>
          <p:cNvSpPr txBox="1"/>
          <p:nvPr/>
        </p:nvSpPr>
        <p:spPr>
          <a:xfrm>
            <a:off x="8119872" y="3886200"/>
            <a:ext cx="2834640" cy="786384"/>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Detailed procedure: Learner Guide + lab README</a:t>
            </a:r>
          </a:p>
        </p:txBody>
      </p:sp>
      <p:sp>
        <p:nvSpPr>
          <p:cNvPr id="15" name="TextBox 14"/>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6" name="TextBox 15"/>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7" name="TextBox 16"/>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186</a:t>
            </a:r>
          </a:p>
        </p:txBody>
      </p:sp>
    </p:spTree>
  </p:cSld>
  <p:transition spd="fast">
    <p:fade/>
  </p:transition>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LAB 11 · PROMPT ARTIFACT</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Prompt submitted by ai_vibe.py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7452360" cy="4005072"/>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121408"/>
            <a:ext cx="6858000" cy="274320"/>
          </a:xfrm>
          <a:prstGeom prst="rect">
            <a:avLst/>
          </a:prstGeom>
          <a:noFill/>
        </p:spPr>
        <p:txBody>
          <a:bodyPr wrap="square" anchor="t" lIns="36576" rIns="36576" tIns="36576" bIns="36576">
            <a:spAutoFit/>
          </a:bodyPr>
          <a:lstStyle/>
          <a:p>
            <a:pPr algn="l">
              <a:spcAft>
                <a:spcPts val="0"/>
              </a:spcAft>
            </a:pPr>
            <a:r>
              <a:rPr sz="1000" b="1">
                <a:solidFill>
                  <a:srgbClr val="06B6D4"/>
                </a:solidFill>
                <a:latin typeface="Arial"/>
              </a:rPr>
              <a:t>LEARNER PROMPT</a:t>
            </a:r>
          </a:p>
        </p:txBody>
      </p:sp>
      <p:sp>
        <p:nvSpPr>
          <p:cNvPr id="9" name="TextBox 8"/>
          <p:cNvSpPr txBox="1"/>
          <p:nvPr/>
        </p:nvSpPr>
        <p:spPr>
          <a:xfrm>
            <a:off x="1051560" y="2596896"/>
            <a:ext cx="6821424" cy="2880360"/>
          </a:xfrm>
          <a:prstGeom prst="rect">
            <a:avLst/>
          </a:prstGeom>
          <a:noFill/>
        </p:spPr>
        <p:txBody>
          <a:bodyPr wrap="square" anchor="t" lIns="36576" rIns="36576" tIns="36576" bIns="36576">
            <a:spAutoFit/>
          </a:bodyPr>
          <a:lstStyle/>
          <a:p>
            <a:pPr algn="l">
              <a:spcAft>
                <a:spcPts val="0"/>
              </a:spcAft>
            </a:pPr>
            <a:r>
              <a:rPr sz="1320" b="0">
                <a:solidFill>
                  <a:srgbClr val="D1FAE5"/>
                </a:solidFill>
                <a:latin typeface="Consolas"/>
              </a:rPr>
              <a:t>You are working on Lab 11 of a Northstar Commerce API. Generate an accessible responsive HTML/CSS/JavaScript Northstar Commerce dashboard that uses fetch with the supplied FastAPI contract. Implement product/customer creation, order placement, KPI refresh and inventory rendering without page reload; keep live secrets out of committed code; render structured errors and empty/loading/failure states.</a:t>
            </a:r>
          </a:p>
        </p:txBody>
      </p:sp>
      <p:sp>
        <p:nvSpPr>
          <p:cNvPr id="10" name="Rounded Rectangle 9"/>
          <p:cNvSpPr/>
          <p:nvPr/>
        </p:nvSpPr>
        <p:spPr>
          <a:xfrm>
            <a:off x="8439912" y="1847088"/>
            <a:ext cx="2944368" cy="400507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14232" y="2130552"/>
            <a:ext cx="2377440" cy="256032"/>
          </a:xfrm>
          <a:prstGeom prst="rect">
            <a:avLst/>
          </a:prstGeom>
          <a:noFill/>
        </p:spPr>
        <p:txBody>
          <a:bodyPr wrap="square" anchor="t" lIns="36576" rIns="36576" tIns="36576" bIns="36576">
            <a:spAutoFit/>
          </a:bodyPr>
          <a:lstStyle/>
          <a:p>
            <a:pPr algn="l">
              <a:spcAft>
                <a:spcPts val="0"/>
              </a:spcAft>
            </a:pPr>
            <a:r>
              <a:rPr sz="950" b="1">
                <a:solidFill>
                  <a:srgbClr val="7C3AED"/>
                </a:solidFill>
                <a:latin typeface="Arial"/>
              </a:rPr>
              <a:t>PYTHON SDK ENVELOPE</a:t>
            </a:r>
          </a:p>
        </p:txBody>
      </p:sp>
      <p:sp>
        <p:nvSpPr>
          <p:cNvPr id="12" name="Rounded Rectangle 11"/>
          <p:cNvSpPr/>
          <p:nvPr/>
        </p:nvSpPr>
        <p:spPr>
          <a:xfrm>
            <a:off x="8714232" y="2615184"/>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07424" y="2578608"/>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Prompts.pdf</a:t>
            </a:r>
          </a:p>
        </p:txBody>
      </p:sp>
      <p:sp>
        <p:nvSpPr>
          <p:cNvPr id="14" name="Rounded Rectangle 13"/>
          <p:cNvSpPr/>
          <p:nvPr/>
        </p:nvSpPr>
        <p:spPr>
          <a:xfrm>
            <a:off x="8714232" y="3081528"/>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07424" y="3044952"/>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mock-data.json</a:t>
            </a:r>
          </a:p>
        </p:txBody>
      </p:sp>
      <p:sp>
        <p:nvSpPr>
          <p:cNvPr id="16" name="Rounded Rectangle 15"/>
          <p:cNvSpPr/>
          <p:nvPr/>
        </p:nvSpPr>
        <p:spPr>
          <a:xfrm>
            <a:off x="8714232" y="3547872"/>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07424" y="3511296"/>
            <a:ext cx="1874519" cy="274320"/>
          </a:xfrm>
          <a:prstGeom prst="rect">
            <a:avLst/>
          </a:prstGeom>
          <a:noFill/>
        </p:spPr>
        <p:txBody>
          <a:bodyPr wrap="square" anchor="t" lIns="36576" rIns="36576" tIns="36576" bIns="36576">
            <a:spAutoFit/>
          </a:bodyPr>
          <a:lstStyle/>
          <a:p>
            <a:pPr algn="l">
              <a:spcAft>
                <a:spcPts val="0"/>
              </a:spcAft>
            </a:pPr>
            <a:r>
              <a:rPr sz="1050" b="1">
                <a:solidFill>
                  <a:srgbClr val="172433"/>
                </a:solidFill>
                <a:latin typeface="Arial"/>
              </a:rPr>
              <a:t>responses.parse</a:t>
            </a:r>
          </a:p>
        </p:txBody>
      </p:sp>
      <p:sp>
        <p:nvSpPr>
          <p:cNvPr id="18" name="Rounded Rectangle 17"/>
          <p:cNvSpPr/>
          <p:nvPr/>
        </p:nvSpPr>
        <p:spPr>
          <a:xfrm>
            <a:off x="8714232" y="4014215"/>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07424" y="3977639"/>
            <a:ext cx="1874519" cy="274320"/>
          </a:xfrm>
          <a:prstGeom prst="rect">
            <a:avLst/>
          </a:prstGeom>
          <a:noFill/>
        </p:spPr>
        <p:txBody>
          <a:bodyPr wrap="square" anchor="t" lIns="36576" rIns="36576" tIns="36576" bIns="36576">
            <a:spAutoFit/>
          </a:bodyPr>
          <a:lstStyle/>
          <a:p>
            <a:pPr algn="l">
              <a:spcAft>
                <a:spcPts val="0"/>
              </a:spcAft>
            </a:pPr>
            <a:r>
              <a:rPr sz="1050" b="1">
                <a:solidFill>
                  <a:srgbClr val="172433"/>
                </a:solidFill>
                <a:latin typeface="Arial"/>
              </a:rPr>
              <a:t>CodeBundle</a:t>
            </a:r>
          </a:p>
        </p:txBody>
      </p:sp>
      <p:sp>
        <p:nvSpPr>
          <p:cNvPr id="20" name="Rounded Rectangle 19"/>
          <p:cNvSpPr/>
          <p:nvPr/>
        </p:nvSpPr>
        <p:spPr>
          <a:xfrm>
            <a:off x="8714232" y="4480560"/>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07424" y="4443984"/>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generated/</a:t>
            </a:r>
          </a:p>
        </p:txBody>
      </p:sp>
      <p:sp>
        <p:nvSpPr>
          <p:cNvPr id="22" name="Rounded Rectangle 21"/>
          <p:cNvSpPr/>
          <p:nvPr/>
        </p:nvSpPr>
        <p:spPr>
          <a:xfrm>
            <a:off x="8714232" y="4946904"/>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07424" y="4910328"/>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pytest + review</a:t>
            </a:r>
          </a:p>
        </p:txBody>
      </p:sp>
      <p:sp>
        <p:nvSpPr>
          <p:cNvPr id="24" name="TextBox 23"/>
          <p:cNvSpPr txBox="1"/>
          <p:nvPr/>
        </p:nvSpPr>
        <p:spPr>
          <a:xfrm>
            <a:off x="8714232" y="5468112"/>
            <a:ext cx="2148840" cy="219456"/>
          </a:xfrm>
          <a:prstGeom prst="rect">
            <a:avLst/>
          </a:prstGeom>
          <a:noFill/>
        </p:spPr>
        <p:txBody>
          <a:bodyPr wrap="square" anchor="t" lIns="36576" rIns="36576" tIns="36576" bIns="36576">
            <a:spAutoFit/>
          </a:bodyPr>
          <a:lstStyle/>
          <a:p>
            <a:pPr algn="l">
              <a:spcAft>
                <a:spcPts val="0"/>
              </a:spcAft>
            </a:pPr>
            <a:r>
              <a:rPr sz="950" b="1">
                <a:solidFill>
                  <a:srgbClr val="10B981"/>
                </a:solidFill>
                <a:latin typeface="Arial"/>
              </a:rPr>
              <a:t>Full prompt + refinement</a:t>
            </a:r>
          </a:p>
        </p:txBody>
      </p:sp>
      <p:sp>
        <p:nvSpPr>
          <p:cNvPr id="25" name="TextBox 24"/>
          <p:cNvSpPr txBox="1"/>
          <p:nvPr/>
        </p:nvSpPr>
        <p:spPr>
          <a:xfrm>
            <a:off x="8714232" y="5650992"/>
            <a:ext cx="2148840" cy="219456"/>
          </a:xfrm>
          <a:prstGeom prst="rect">
            <a:avLst/>
          </a:prstGeom>
          <a:noFill/>
        </p:spPr>
        <p:txBody>
          <a:bodyPr wrap="square" anchor="t" lIns="36576" rIns="36576" tIns="36576" bIns="36576">
            <a:spAutoFit/>
          </a:bodyPr>
          <a:lstStyle/>
          <a:p>
            <a:pPr algn="l">
              <a:spcAft>
                <a:spcPts val="0"/>
              </a:spcAft>
            </a:pPr>
            <a:r>
              <a:rPr sz="950" b="0">
                <a:solidFill>
                  <a:srgbClr val="475569"/>
                </a:solidFill>
                <a:latin typeface="Arial"/>
              </a:rPr>
              <a:t>in the lab Prompts.pdf</a:t>
            </a:r>
          </a:p>
        </p:txBody>
      </p:sp>
      <p:sp>
        <p:nvSpPr>
          <p:cNvPr id="26" name="TextBox 2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7" name="TextBox 2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8" name="TextBox 27"/>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OpenAI Python SDK</a:t>
            </a:r>
          </a:p>
        </p:txBody>
      </p:sp>
      <p:sp>
        <p:nvSpPr>
          <p:cNvPr id="29" name="TextBox 2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187</a:t>
            </a:r>
          </a:p>
        </p:txBody>
      </p:sp>
    </p:spTree>
  </p:cSld>
  <p:transition spd="fast">
    <p:fade/>
  </p:transition>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11 · MECHANISM</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How Connect the Commerce Web App works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665351"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5351"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1</a:t>
            </a:r>
          </a:p>
        </p:txBody>
      </p:sp>
      <p:sp>
        <p:nvSpPr>
          <p:cNvPr id="10" name="TextBox 9"/>
          <p:cNvSpPr txBox="1"/>
          <p:nvPr/>
        </p:nvSpPr>
        <p:spPr>
          <a:xfrm>
            <a:off x="859536"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Input contract</a:t>
            </a:r>
          </a:p>
        </p:txBody>
      </p:sp>
      <p:sp>
        <p:nvSpPr>
          <p:cNvPr id="11" name="TextBox 10"/>
          <p:cNvSpPr txBox="1"/>
          <p:nvPr/>
        </p:nvSpPr>
        <p:spPr>
          <a:xfrm>
            <a:off x="886968"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Use fetch to power a responsive dashboard for products, customers and orders through FastAPI.</a:t>
            </a:r>
          </a:p>
        </p:txBody>
      </p:sp>
      <p:sp>
        <p:nvSpPr>
          <p:cNvPr id="12" name="Rounded Rectangle 11"/>
          <p:cNvSpPr/>
          <p:nvPr/>
        </p:nvSpPr>
        <p:spPr>
          <a:xfrm>
            <a:off x="3477006"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92549"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92549"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2</a:t>
            </a:r>
          </a:p>
        </p:txBody>
      </p:sp>
      <p:sp>
        <p:nvSpPr>
          <p:cNvPr id="15" name="TextBox 14"/>
          <p:cNvSpPr txBox="1"/>
          <p:nvPr/>
        </p:nvSpPr>
        <p:spPr>
          <a:xfrm>
            <a:off x="3586734"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Boundary validation</a:t>
            </a:r>
          </a:p>
        </p:txBody>
      </p:sp>
      <p:sp>
        <p:nvSpPr>
          <p:cNvPr id="16" name="TextBox 15"/>
          <p:cNvSpPr txBox="1"/>
          <p:nvPr/>
        </p:nvSpPr>
        <p:spPr>
          <a:xfrm>
            <a:off x="3614166"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Reject invalid or unauthorised input</a:t>
            </a:r>
          </a:p>
        </p:txBody>
      </p:sp>
      <p:sp>
        <p:nvSpPr>
          <p:cNvPr id="17" name="Rounded Rectangle 16"/>
          <p:cNvSpPr/>
          <p:nvPr/>
        </p:nvSpPr>
        <p:spPr>
          <a:xfrm>
            <a:off x="6204204"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119747"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9747"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3</a:t>
            </a:r>
          </a:p>
        </p:txBody>
      </p:sp>
      <p:sp>
        <p:nvSpPr>
          <p:cNvPr id="20" name="TextBox 19"/>
          <p:cNvSpPr txBox="1"/>
          <p:nvPr/>
        </p:nvSpPr>
        <p:spPr>
          <a:xfrm>
            <a:off x="6313932"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Business decision</a:t>
            </a:r>
          </a:p>
        </p:txBody>
      </p:sp>
      <p:sp>
        <p:nvSpPr>
          <p:cNvPr id="21" name="TextBox 20"/>
          <p:cNvSpPr txBox="1"/>
          <p:nvPr/>
        </p:nvSpPr>
        <p:spPr>
          <a:xfrm>
            <a:off x="6341364"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Apply one explicit rule</a:t>
            </a:r>
          </a:p>
        </p:txBody>
      </p:sp>
      <p:sp>
        <p:nvSpPr>
          <p:cNvPr id="22" name="Rounded Rectangle 21"/>
          <p:cNvSpPr/>
          <p:nvPr/>
        </p:nvSpPr>
        <p:spPr>
          <a:xfrm>
            <a:off x="8931402"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46945"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46945"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4</a:t>
            </a:r>
          </a:p>
        </p:txBody>
      </p:sp>
      <p:sp>
        <p:nvSpPr>
          <p:cNvPr id="25" name="TextBox 24"/>
          <p:cNvSpPr txBox="1"/>
          <p:nvPr/>
        </p:nvSpPr>
        <p:spPr>
          <a:xfrm>
            <a:off x="9041130"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State/evidence</a:t>
            </a:r>
          </a:p>
        </p:txBody>
      </p:sp>
      <p:sp>
        <p:nvSpPr>
          <p:cNvPr id="26" name="TextBox 25"/>
          <p:cNvSpPr txBox="1"/>
          <p:nvPr/>
        </p:nvSpPr>
        <p:spPr>
          <a:xfrm>
            <a:off x="9068562"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The browser reads/writes only through FastAPI, SQLite state changes correctly and the UI remains usable at 375px and desktop widths.</a:t>
            </a:r>
          </a:p>
        </p:txBody>
      </p:sp>
      <p:sp>
        <p:nvSpPr>
          <p:cNvPr id="27" name="TextBox 26"/>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8" name="TextBox 27"/>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9" name="TextBox 2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188</a:t>
            </a:r>
          </a:p>
        </p:txBody>
      </p:sp>
    </p:spTree>
  </p:cSld>
  <p:transition spd="fast">
    <p:fade/>
  </p:transition>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11 ·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static/index.html, styles.css and app.js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01952"/>
            <a:ext cx="6812280" cy="3611880"/>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194560"/>
            <a:ext cx="6144768" cy="3063240"/>
          </a:xfrm>
          <a:prstGeom prst="rect">
            <a:avLst/>
          </a:prstGeom>
          <a:noFill/>
        </p:spPr>
        <p:txBody>
          <a:bodyPr wrap="square" anchor="t" lIns="36576" rIns="36576" tIns="36576" bIns="36576">
            <a:spAutoFit/>
          </a:bodyPr>
          <a:lstStyle/>
          <a:p>
            <a:pPr algn="l">
              <a:spcAft>
                <a:spcPts val="0"/>
              </a:spcAft>
            </a:pPr>
            <a:r>
              <a:rPr sz="1250" b="0">
                <a:solidFill>
                  <a:srgbClr val="A7F3D0"/>
                </a:solidFill>
                <a:latin typeface="Consolas"/>
              </a:rPr>
              <a:t>REQUEST
  lab: 11
  objective: Use fetch to power a responsive dashboard for
             products, customers and orders through
             FastAPI.
EXPECTED EVIDENCE
  artifact: static/index.html, styles.css and app.js
  codes: A3, A4, A6
  status: verified</a:t>
            </a:r>
          </a:p>
        </p:txBody>
      </p:sp>
      <p:sp>
        <p:nvSpPr>
          <p:cNvPr id="9" name="Rounded Rectangle 8"/>
          <p:cNvSpPr/>
          <p:nvPr/>
        </p:nvSpPr>
        <p:spPr>
          <a:xfrm>
            <a:off x="7882127" y="1901952"/>
            <a:ext cx="3493008" cy="3611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2212848"/>
            <a:ext cx="2880360" cy="310896"/>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ASSESSMENT BRIDGE</a:t>
            </a:r>
          </a:p>
        </p:txBody>
      </p:sp>
      <p:sp>
        <p:nvSpPr>
          <p:cNvPr id="11" name="TextBox 10"/>
          <p:cNvSpPr txBox="1"/>
          <p:nvPr/>
        </p:nvSpPr>
        <p:spPr>
          <a:xfrm>
            <a:off x="8193024" y="2761488"/>
            <a:ext cx="2834640" cy="1051560"/>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Ability codes
A3, A4, A6</a:t>
            </a:r>
          </a:p>
        </p:txBody>
      </p:sp>
      <p:sp>
        <p:nvSpPr>
          <p:cNvPr id="12" name="TextBox 11"/>
          <p:cNvSpPr txBox="1"/>
          <p:nvPr/>
        </p:nvSpPr>
        <p:spPr>
          <a:xfrm>
            <a:off x="8193024" y="4160520"/>
            <a:ext cx="2788920" cy="685800"/>
          </a:xfrm>
          <a:prstGeom prst="rect">
            <a:avLst/>
          </a:prstGeom>
          <a:noFill/>
        </p:spPr>
        <p:txBody>
          <a:bodyPr wrap="square" anchor="t" lIns="36576" rIns="36576" tIns="36576" bIns="36576">
            <a:spAutoFit/>
          </a:bodyPr>
          <a:lstStyle/>
          <a:p>
            <a:pPr algn="l">
              <a:spcAft>
                <a:spcPts val="0"/>
              </a:spcAft>
            </a:pPr>
            <a:r>
              <a:rPr sz="1100" b="0">
                <a:solidFill>
                  <a:srgbClr val="475569"/>
                </a:solidFill>
                <a:latin typeface="Arial"/>
              </a:rPr>
              <a:t>Capture a screenshot, terminal output or test result that proves the acceptance criterion.</a:t>
            </a:r>
          </a:p>
        </p:txBody>
      </p:sp>
      <p:sp>
        <p:nvSpPr>
          <p:cNvPr id="13" name="TextBox 1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4" name="TextBox 1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5" name="TextBox 14"/>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189</a:t>
            </a:r>
          </a:p>
        </p:txBody>
      </p:sp>
    </p:spTree>
  </p:cSld>
  <p:transition spd="fast">
    <p:fade/>
  </p:transition>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11 · VERIFY</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Acceptance and diagnosis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74519"/>
            <a:ext cx="5166360" cy="3611880"/>
          </a:xfrm>
          <a:prstGeom prst="roundRect">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240280"/>
            <a:ext cx="4526280" cy="310896"/>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PASS WHEN</a:t>
            </a:r>
          </a:p>
        </p:txBody>
      </p:sp>
      <p:sp>
        <p:nvSpPr>
          <p:cNvPr id="9" name="TextBox 8"/>
          <p:cNvSpPr txBox="1"/>
          <p:nvPr/>
        </p:nvSpPr>
        <p:spPr>
          <a:xfrm>
            <a:off x="1078992" y="2798064"/>
            <a:ext cx="4498848" cy="1600200"/>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The browser reads/writes only through FastAPI, SQLite state changes correctly and the UI remains usable at 375px and desktop widths.</a:t>
            </a:r>
          </a:p>
        </p:txBody>
      </p:sp>
      <p:sp>
        <p:nvSpPr>
          <p:cNvPr id="10" name="Rounded Rectangle 9"/>
          <p:cNvSpPr/>
          <p:nvPr/>
        </p:nvSpPr>
        <p:spPr>
          <a:xfrm>
            <a:off x="6217920" y="1874519"/>
            <a:ext cx="5148072" cy="3611880"/>
          </a:xfrm>
          <a:prstGeom prst="roundRect">
            <a:avLst/>
          </a:prstGeom>
          <a:solidFill>
            <a:srgbClr val="FEF2F2"/>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56248" y="2240280"/>
            <a:ext cx="4480560" cy="310896"/>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DIAGNOSE</a:t>
            </a:r>
          </a:p>
        </p:txBody>
      </p:sp>
      <p:sp>
        <p:nvSpPr>
          <p:cNvPr id="12" name="TextBox 11"/>
          <p:cNvSpPr txBox="1"/>
          <p:nvPr/>
        </p:nvSpPr>
        <p:spPr>
          <a:xfrm>
            <a:off x="6556248" y="277063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1. Inspect HTTP status and response body</a:t>
            </a:r>
          </a:p>
        </p:txBody>
      </p:sp>
      <p:sp>
        <p:nvSpPr>
          <p:cNvPr id="13" name="TextBox 12"/>
          <p:cNvSpPr txBox="1"/>
          <p:nvPr/>
        </p:nvSpPr>
        <p:spPr>
          <a:xfrm>
            <a:off x="6556248" y="327355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2. Check request fields and headers</a:t>
            </a:r>
          </a:p>
        </p:txBody>
      </p:sp>
      <p:sp>
        <p:nvSpPr>
          <p:cNvPr id="14" name="TextBox 13"/>
          <p:cNvSpPr txBox="1"/>
          <p:nvPr/>
        </p:nvSpPr>
        <p:spPr>
          <a:xfrm>
            <a:off x="6556248" y="377647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3. Follow request ID into logs</a:t>
            </a:r>
          </a:p>
        </p:txBody>
      </p:sp>
      <p:sp>
        <p:nvSpPr>
          <p:cNvPr id="15" name="TextBox 14"/>
          <p:cNvSpPr txBox="1"/>
          <p:nvPr/>
        </p:nvSpPr>
        <p:spPr>
          <a:xfrm>
            <a:off x="6556248" y="427939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4. Re-run the smallest failing test</a:t>
            </a:r>
          </a:p>
        </p:txBody>
      </p:sp>
      <p:sp>
        <p:nvSpPr>
          <p:cNvPr id="16" name="TextBox 1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7" name="TextBox 1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8" name="TextBox 17"/>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190</a:t>
            </a:r>
          </a:p>
        </p:txBody>
      </p:sp>
    </p:spTree>
  </p:cSld>
  <p:transition spd="fast">
    <p:fade/>
  </p:transition>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LAB 11 · CONTRACT REVIEW</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Prompt output must preserve the API boundary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02352" cy="3730752"/>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176272"/>
            <a:ext cx="4434840" cy="420624"/>
          </a:xfrm>
          <a:prstGeom prst="rect">
            <a:avLst/>
          </a:prstGeom>
          <a:noFill/>
        </p:spPr>
        <p:txBody>
          <a:bodyPr wrap="square" anchor="t" lIns="36576" rIns="36576" tIns="36576" bIns="36576">
            <a:spAutoFit/>
          </a:bodyPr>
          <a:lstStyle/>
          <a:p>
            <a:pPr algn="l">
              <a:spcAft>
                <a:spcPts val="0"/>
              </a:spcAft>
            </a:pPr>
            <a:r>
              <a:rPr sz="1000" b="1">
                <a:solidFill>
                  <a:srgbClr val="D1FAE5"/>
                </a:solidFill>
                <a:latin typeface="Arial"/>
              </a:rPr>
              <a:t>TARGET FILES</a:t>
            </a:r>
          </a:p>
        </p:txBody>
      </p:sp>
      <p:sp>
        <p:nvSpPr>
          <p:cNvPr id="9" name="TextBox 8"/>
          <p:cNvSpPr txBox="1"/>
          <p:nvPr/>
        </p:nvSpPr>
        <p:spPr>
          <a:xfrm>
            <a:off x="1078992" y="2743200"/>
            <a:ext cx="4434840" cy="420624"/>
          </a:xfrm>
          <a:prstGeom prst="rect">
            <a:avLst/>
          </a:prstGeom>
          <a:noFill/>
        </p:spPr>
        <p:txBody>
          <a:bodyPr wrap="square" anchor="t" lIns="36576" rIns="36576" tIns="36576" bIns="36576">
            <a:spAutoFit/>
          </a:bodyPr>
          <a:lstStyle/>
          <a:p>
            <a:pPr algn="l">
              <a:spcAft>
                <a:spcPts val="0"/>
              </a:spcAft>
            </a:pPr>
            <a:r>
              <a:rPr sz="1100" b="0">
                <a:solidFill>
                  <a:srgbClr val="D1FAE5"/>
                </a:solidFill>
                <a:latin typeface="Consolas"/>
              </a:rPr>
              <a:t>static/index.html</a:t>
            </a:r>
          </a:p>
        </p:txBody>
      </p:sp>
      <p:sp>
        <p:nvSpPr>
          <p:cNvPr id="10" name="TextBox 9"/>
          <p:cNvSpPr txBox="1"/>
          <p:nvPr/>
        </p:nvSpPr>
        <p:spPr>
          <a:xfrm>
            <a:off x="1078992" y="3310128"/>
            <a:ext cx="4434840" cy="420624"/>
          </a:xfrm>
          <a:prstGeom prst="rect">
            <a:avLst/>
          </a:prstGeom>
          <a:noFill/>
        </p:spPr>
        <p:txBody>
          <a:bodyPr wrap="square" anchor="t" lIns="36576" rIns="36576" tIns="36576" bIns="36576">
            <a:spAutoFit/>
          </a:bodyPr>
          <a:lstStyle/>
          <a:p>
            <a:pPr algn="l">
              <a:spcAft>
                <a:spcPts val="0"/>
              </a:spcAft>
            </a:pPr>
            <a:r>
              <a:rPr sz="1100" b="0">
                <a:solidFill>
                  <a:srgbClr val="D1FAE5"/>
                </a:solidFill>
                <a:latin typeface="Consolas"/>
              </a:rPr>
              <a:t>static/styles.css</a:t>
            </a:r>
          </a:p>
        </p:txBody>
      </p:sp>
      <p:sp>
        <p:nvSpPr>
          <p:cNvPr id="11" name="TextBox 10"/>
          <p:cNvSpPr txBox="1"/>
          <p:nvPr/>
        </p:nvSpPr>
        <p:spPr>
          <a:xfrm>
            <a:off x="1078992" y="3877056"/>
            <a:ext cx="4434840" cy="420624"/>
          </a:xfrm>
          <a:prstGeom prst="rect">
            <a:avLst/>
          </a:prstGeom>
          <a:noFill/>
        </p:spPr>
        <p:txBody>
          <a:bodyPr wrap="square" anchor="t" lIns="36576" rIns="36576" tIns="36576" bIns="36576">
            <a:spAutoFit/>
          </a:bodyPr>
          <a:lstStyle/>
          <a:p>
            <a:pPr algn="l">
              <a:spcAft>
                <a:spcPts val="0"/>
              </a:spcAft>
            </a:pPr>
            <a:r>
              <a:rPr sz="1100" b="0">
                <a:solidFill>
                  <a:srgbClr val="D1FAE5"/>
                </a:solidFill>
                <a:latin typeface="Consolas"/>
              </a:rPr>
              <a:t>static/app.js</a:t>
            </a:r>
          </a:p>
        </p:txBody>
      </p:sp>
      <p:sp>
        <p:nvSpPr>
          <p:cNvPr id="12" name="Rounded Rectangle 11"/>
          <p:cNvSpPr/>
          <p:nvPr/>
        </p:nvSpPr>
        <p:spPr>
          <a:xfrm>
            <a:off x="6144768" y="1847088"/>
            <a:ext cx="5230368" cy="373075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2176272"/>
            <a:ext cx="4526280" cy="237744"/>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ACCEPTANCE</a:t>
            </a:r>
          </a:p>
        </p:txBody>
      </p:sp>
      <p:sp>
        <p:nvSpPr>
          <p:cNvPr id="14" name="TextBox 13"/>
          <p:cNvSpPr txBox="1"/>
          <p:nvPr/>
        </p:nvSpPr>
        <p:spPr>
          <a:xfrm>
            <a:off x="6473952" y="2578608"/>
            <a:ext cx="4526280" cy="1417320"/>
          </a:xfrm>
          <a:prstGeom prst="rect">
            <a:avLst/>
          </a:prstGeom>
          <a:noFill/>
        </p:spPr>
        <p:txBody>
          <a:bodyPr wrap="square" anchor="t" lIns="36576" rIns="36576" tIns="36576" bIns="36576">
            <a:spAutoFit/>
          </a:bodyPr>
          <a:lstStyle/>
          <a:p>
            <a:pPr algn="l">
              <a:spcAft>
                <a:spcPts val="0"/>
              </a:spcAft>
            </a:pPr>
            <a:r>
              <a:rPr sz="1500" b="1">
                <a:solidFill>
                  <a:srgbClr val="172433"/>
                </a:solidFill>
                <a:latin typeface="Arial"/>
              </a:rPr>
              <a:t>The browser reads/writes only through FastAPI, SQLite state changes correctly and the UI remains usable at 375px and desktop widths.</a:t>
            </a:r>
          </a:p>
        </p:txBody>
      </p:sp>
      <p:sp>
        <p:nvSpPr>
          <p:cNvPr id="15" name="TextBox 14"/>
          <p:cNvSpPr txBox="1"/>
          <p:nvPr/>
        </p:nvSpPr>
        <p:spPr>
          <a:xfrm>
            <a:off x="6473952" y="4279392"/>
            <a:ext cx="4526280" cy="237744"/>
          </a:xfrm>
          <a:prstGeom prst="rect">
            <a:avLst/>
          </a:prstGeom>
          <a:noFill/>
        </p:spPr>
        <p:txBody>
          <a:bodyPr wrap="square" anchor="t" lIns="36576" rIns="36576" tIns="36576" bIns="36576">
            <a:spAutoFit/>
          </a:bodyPr>
          <a:lstStyle/>
          <a:p>
            <a:pPr algn="l">
              <a:spcAft>
                <a:spcPts val="0"/>
              </a:spcAft>
            </a:pPr>
            <a:r>
              <a:rPr sz="1000" b="1">
                <a:solidFill>
                  <a:srgbClr val="7C3AED"/>
                </a:solidFill>
                <a:latin typeface="Arial"/>
              </a:rPr>
              <a:t>ABILITY TRACE</a:t>
            </a:r>
          </a:p>
        </p:txBody>
      </p:sp>
      <p:sp>
        <p:nvSpPr>
          <p:cNvPr id="16" name="TextBox 15"/>
          <p:cNvSpPr txBox="1"/>
          <p:nvPr/>
        </p:nvSpPr>
        <p:spPr>
          <a:xfrm>
            <a:off x="6473952" y="4645152"/>
            <a:ext cx="4526280" cy="438912"/>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A3, A4, A6</a:t>
            </a:r>
          </a:p>
        </p:txBody>
      </p:sp>
      <p:sp>
        <p:nvSpPr>
          <p:cNvPr id="17" name="TextBox 16"/>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8" name="TextBox 17"/>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9" name="TextBox 18"/>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OpenAPI contract + lab prompt</a:t>
            </a:r>
          </a:p>
        </p:txBody>
      </p:sp>
      <p:sp>
        <p:nvSpPr>
          <p:cNvPr id="20" name="TextBox 19"/>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191</a:t>
            </a:r>
          </a:p>
        </p:txBody>
      </p:sp>
    </p:spTree>
  </p:cSld>
  <p:transition spd="fast">
    <p:fade/>
  </p:transition>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12 · SCENARIO</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Document and Bundle the Capstone</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74519"/>
            <a:ext cx="6675120" cy="3611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212848"/>
            <a:ext cx="6035040" cy="34747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DESIGN CHALLENGE</a:t>
            </a:r>
          </a:p>
        </p:txBody>
      </p:sp>
      <p:sp>
        <p:nvSpPr>
          <p:cNvPr id="9" name="TextBox 8"/>
          <p:cNvSpPr txBox="1"/>
          <p:nvPr/>
        </p:nvSpPr>
        <p:spPr>
          <a:xfrm>
            <a:off x="1078992" y="2743200"/>
            <a:ext cx="5989320" cy="1097280"/>
          </a:xfrm>
          <a:prstGeom prst="rect">
            <a:avLst/>
          </a:prstGeom>
          <a:noFill/>
        </p:spPr>
        <p:txBody>
          <a:bodyPr wrap="square" anchor="t" lIns="36576" rIns="36576" tIns="36576" bIns="36576">
            <a:spAutoFit/>
          </a:bodyPr>
          <a:lstStyle/>
          <a:p>
            <a:pPr algn="l">
              <a:spcAft>
                <a:spcPts val="0"/>
              </a:spcAft>
            </a:pPr>
            <a:r>
              <a:rPr sz="2200" b="1">
                <a:solidFill>
                  <a:srgbClr val="172433"/>
                </a:solidFill>
                <a:latin typeface="Arial"/>
              </a:rPr>
              <a:t>Produce a clean, testable release bundle with API docs, frontend assets and operational instructions.</a:t>
            </a:r>
          </a:p>
        </p:txBody>
      </p:sp>
      <p:sp>
        <p:nvSpPr>
          <p:cNvPr id="10" name="TextBox 9"/>
          <p:cNvSpPr txBox="1"/>
          <p:nvPr/>
        </p:nvSpPr>
        <p:spPr>
          <a:xfrm>
            <a:off x="1078992" y="4187952"/>
            <a:ext cx="5989320" cy="731520"/>
          </a:xfrm>
          <a:prstGeom prst="rect">
            <a:avLst/>
          </a:prstGeom>
          <a:noFill/>
        </p:spPr>
        <p:txBody>
          <a:bodyPr wrap="square" anchor="t" lIns="36576" rIns="36576" tIns="36576" bIns="36576">
            <a:spAutoFit/>
          </a:bodyPr>
          <a:lstStyle/>
          <a:p>
            <a:pPr algn="l">
              <a:spcAft>
                <a:spcPts val="0"/>
              </a:spcAft>
            </a:pPr>
            <a:r>
              <a:rPr sz="1400" b="0">
                <a:solidFill>
                  <a:srgbClr val="475569"/>
                </a:solidFill>
                <a:latin typeface="Arial"/>
              </a:rPr>
              <a:t>Build: release-ready Northstar Commerce API</a:t>
            </a:r>
          </a:p>
        </p:txBody>
      </p:sp>
      <p:sp>
        <p:nvSpPr>
          <p:cNvPr id="11" name="Rounded Rectangle 10"/>
          <p:cNvSpPr/>
          <p:nvPr/>
        </p:nvSpPr>
        <p:spPr>
          <a:xfrm>
            <a:off x="7754112" y="1874519"/>
            <a:ext cx="3611880" cy="3611880"/>
          </a:xfrm>
          <a:prstGeom prst="roundRect">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19872" y="2249424"/>
            <a:ext cx="2880360" cy="274320"/>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TOOLS</a:t>
            </a:r>
          </a:p>
        </p:txBody>
      </p:sp>
      <p:sp>
        <p:nvSpPr>
          <p:cNvPr id="13" name="TextBox 12"/>
          <p:cNvSpPr txBox="1"/>
          <p:nvPr/>
        </p:nvSpPr>
        <p:spPr>
          <a:xfrm>
            <a:off x="8119872" y="2724912"/>
            <a:ext cx="2834640" cy="914400"/>
          </a:xfrm>
          <a:prstGeom prst="rect">
            <a:avLst/>
          </a:prstGeom>
          <a:noFill/>
        </p:spPr>
        <p:txBody>
          <a:bodyPr wrap="square" anchor="t" lIns="36576" rIns="36576" tIns="36576" bIns="36576">
            <a:spAutoFit/>
          </a:bodyPr>
          <a:lstStyle/>
          <a:p>
            <a:pPr algn="l">
              <a:spcAft>
                <a:spcPts val="0"/>
              </a:spcAft>
            </a:pPr>
            <a:r>
              <a:rPr sz="1600" b="1">
                <a:solidFill>
                  <a:srgbClr val="172433"/>
                </a:solidFill>
                <a:latin typeface="Arial"/>
              </a:rPr>
              <a:t>OpenAPI, pytest, Git, Uvicorn, OpenAI Python SDK</a:t>
            </a:r>
          </a:p>
        </p:txBody>
      </p:sp>
      <p:sp>
        <p:nvSpPr>
          <p:cNvPr id="14" name="TextBox 13"/>
          <p:cNvSpPr txBox="1"/>
          <p:nvPr/>
        </p:nvSpPr>
        <p:spPr>
          <a:xfrm>
            <a:off x="8119872" y="3886200"/>
            <a:ext cx="2834640" cy="786384"/>
          </a:xfrm>
          <a:prstGeom prst="rect">
            <a:avLst/>
          </a:prstGeom>
          <a:noFill/>
        </p:spPr>
        <p:txBody>
          <a:bodyPr wrap="square" anchor="t" lIns="36576" rIns="36576" tIns="36576" bIns="36576">
            <a:spAutoFit/>
          </a:bodyPr>
          <a:lstStyle/>
          <a:p>
            <a:pPr algn="l">
              <a:spcAft>
                <a:spcPts val="0"/>
              </a:spcAft>
            </a:pPr>
            <a:r>
              <a:rPr sz="1200" b="0">
                <a:solidFill>
                  <a:srgbClr val="475569"/>
                </a:solidFill>
                <a:latin typeface="Arial"/>
              </a:rPr>
              <a:t>Detailed procedure: Learner Guide + lab README</a:t>
            </a:r>
          </a:p>
        </p:txBody>
      </p:sp>
      <p:sp>
        <p:nvSpPr>
          <p:cNvPr id="15" name="TextBox 14"/>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6" name="TextBox 15"/>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7" name="TextBox 16"/>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192</a:t>
            </a:r>
          </a:p>
        </p:txBody>
      </p:sp>
    </p:spTree>
  </p:cSld>
  <p:transition spd="fast">
    <p:fade/>
  </p:transition>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LAB 12 · PROMPT ARTIFACT</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Prompt submitted by ai_vibe.py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7452360" cy="4005072"/>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121408"/>
            <a:ext cx="6858000" cy="274320"/>
          </a:xfrm>
          <a:prstGeom prst="rect">
            <a:avLst/>
          </a:prstGeom>
          <a:noFill/>
        </p:spPr>
        <p:txBody>
          <a:bodyPr wrap="square" anchor="t" lIns="36576" rIns="36576" tIns="36576" bIns="36576">
            <a:spAutoFit/>
          </a:bodyPr>
          <a:lstStyle/>
          <a:p>
            <a:pPr algn="l">
              <a:spcAft>
                <a:spcPts val="0"/>
              </a:spcAft>
            </a:pPr>
            <a:r>
              <a:rPr sz="1000" b="1">
                <a:solidFill>
                  <a:srgbClr val="06B6D4"/>
                </a:solidFill>
                <a:latin typeface="Arial"/>
              </a:rPr>
              <a:t>LEARNER PROMPT</a:t>
            </a:r>
          </a:p>
        </p:txBody>
      </p:sp>
      <p:sp>
        <p:nvSpPr>
          <p:cNvPr id="9" name="TextBox 8"/>
          <p:cNvSpPr txBox="1"/>
          <p:nvPr/>
        </p:nvSpPr>
        <p:spPr>
          <a:xfrm>
            <a:off x="1051560" y="2596896"/>
            <a:ext cx="6821424" cy="2880360"/>
          </a:xfrm>
          <a:prstGeom prst="rect">
            <a:avLst/>
          </a:prstGeom>
          <a:noFill/>
        </p:spPr>
        <p:txBody>
          <a:bodyPr wrap="square" anchor="t" lIns="36576" rIns="36576" tIns="36576" bIns="36576">
            <a:spAutoFit/>
          </a:bodyPr>
          <a:lstStyle/>
          <a:p>
            <a:pPr algn="l">
              <a:spcAft>
                <a:spcPts val="0"/>
              </a:spcAft>
            </a:pPr>
            <a:r>
              <a:rPr sz="1320" b="0">
                <a:solidFill>
                  <a:srgbClr val="D1FAE5"/>
                </a:solidFill>
                <a:latin typeface="Consolas"/>
              </a:rPr>
              <a:t>You are working on Lab 12 of a Northstar Commerce API. Review the complete FastAPI/SQLite/browser project and generate release documentation only. Include clean setup, test, run and verification commands; OpenAPI and environment notes; a bundle inventory; and a checklist excluding .env, databases, caches and virtual environments. Do not invent passing evidence.</a:t>
            </a:r>
          </a:p>
        </p:txBody>
      </p:sp>
      <p:sp>
        <p:nvSpPr>
          <p:cNvPr id="10" name="Rounded Rectangle 9"/>
          <p:cNvSpPr/>
          <p:nvPr/>
        </p:nvSpPr>
        <p:spPr>
          <a:xfrm>
            <a:off x="8439912" y="1847088"/>
            <a:ext cx="2944368" cy="400507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14232" y="2130552"/>
            <a:ext cx="2377440" cy="256032"/>
          </a:xfrm>
          <a:prstGeom prst="rect">
            <a:avLst/>
          </a:prstGeom>
          <a:noFill/>
        </p:spPr>
        <p:txBody>
          <a:bodyPr wrap="square" anchor="t" lIns="36576" rIns="36576" tIns="36576" bIns="36576">
            <a:spAutoFit/>
          </a:bodyPr>
          <a:lstStyle/>
          <a:p>
            <a:pPr algn="l">
              <a:spcAft>
                <a:spcPts val="0"/>
              </a:spcAft>
            </a:pPr>
            <a:r>
              <a:rPr sz="950" b="1">
                <a:solidFill>
                  <a:srgbClr val="7C3AED"/>
                </a:solidFill>
                <a:latin typeface="Arial"/>
              </a:rPr>
              <a:t>PYTHON SDK ENVELOPE</a:t>
            </a:r>
          </a:p>
        </p:txBody>
      </p:sp>
      <p:sp>
        <p:nvSpPr>
          <p:cNvPr id="12" name="Rounded Rectangle 11"/>
          <p:cNvSpPr/>
          <p:nvPr/>
        </p:nvSpPr>
        <p:spPr>
          <a:xfrm>
            <a:off x="8714232" y="2615184"/>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07424" y="2578608"/>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Prompts.pdf</a:t>
            </a:r>
          </a:p>
        </p:txBody>
      </p:sp>
      <p:sp>
        <p:nvSpPr>
          <p:cNvPr id="14" name="Rounded Rectangle 13"/>
          <p:cNvSpPr/>
          <p:nvPr/>
        </p:nvSpPr>
        <p:spPr>
          <a:xfrm>
            <a:off x="8714232" y="3081528"/>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07424" y="3044952"/>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mock-data.json</a:t>
            </a:r>
          </a:p>
        </p:txBody>
      </p:sp>
      <p:sp>
        <p:nvSpPr>
          <p:cNvPr id="16" name="Rounded Rectangle 15"/>
          <p:cNvSpPr/>
          <p:nvPr/>
        </p:nvSpPr>
        <p:spPr>
          <a:xfrm>
            <a:off x="8714232" y="3547872"/>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07424" y="3511296"/>
            <a:ext cx="1874519" cy="274320"/>
          </a:xfrm>
          <a:prstGeom prst="rect">
            <a:avLst/>
          </a:prstGeom>
          <a:noFill/>
        </p:spPr>
        <p:txBody>
          <a:bodyPr wrap="square" anchor="t" lIns="36576" rIns="36576" tIns="36576" bIns="36576">
            <a:spAutoFit/>
          </a:bodyPr>
          <a:lstStyle/>
          <a:p>
            <a:pPr algn="l">
              <a:spcAft>
                <a:spcPts val="0"/>
              </a:spcAft>
            </a:pPr>
            <a:r>
              <a:rPr sz="1050" b="1">
                <a:solidFill>
                  <a:srgbClr val="172433"/>
                </a:solidFill>
                <a:latin typeface="Arial"/>
              </a:rPr>
              <a:t>responses.parse</a:t>
            </a:r>
          </a:p>
        </p:txBody>
      </p:sp>
      <p:sp>
        <p:nvSpPr>
          <p:cNvPr id="18" name="Rounded Rectangle 17"/>
          <p:cNvSpPr/>
          <p:nvPr/>
        </p:nvSpPr>
        <p:spPr>
          <a:xfrm>
            <a:off x="8714232" y="4014215"/>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07424" y="3977639"/>
            <a:ext cx="1874519" cy="274320"/>
          </a:xfrm>
          <a:prstGeom prst="rect">
            <a:avLst/>
          </a:prstGeom>
          <a:noFill/>
        </p:spPr>
        <p:txBody>
          <a:bodyPr wrap="square" anchor="t" lIns="36576" rIns="36576" tIns="36576" bIns="36576">
            <a:spAutoFit/>
          </a:bodyPr>
          <a:lstStyle/>
          <a:p>
            <a:pPr algn="l">
              <a:spcAft>
                <a:spcPts val="0"/>
              </a:spcAft>
            </a:pPr>
            <a:r>
              <a:rPr sz="1050" b="1">
                <a:solidFill>
                  <a:srgbClr val="172433"/>
                </a:solidFill>
                <a:latin typeface="Arial"/>
              </a:rPr>
              <a:t>CodeBundle</a:t>
            </a:r>
          </a:p>
        </p:txBody>
      </p:sp>
      <p:sp>
        <p:nvSpPr>
          <p:cNvPr id="20" name="Rounded Rectangle 19"/>
          <p:cNvSpPr/>
          <p:nvPr/>
        </p:nvSpPr>
        <p:spPr>
          <a:xfrm>
            <a:off x="8714232" y="4480560"/>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07424" y="4443984"/>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generated/</a:t>
            </a:r>
          </a:p>
        </p:txBody>
      </p:sp>
      <p:sp>
        <p:nvSpPr>
          <p:cNvPr id="22" name="Rounded Rectangle 21"/>
          <p:cNvSpPr/>
          <p:nvPr/>
        </p:nvSpPr>
        <p:spPr>
          <a:xfrm>
            <a:off x="8714232" y="4946904"/>
            <a:ext cx="246888" cy="2468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07424" y="4910328"/>
            <a:ext cx="1874519" cy="274320"/>
          </a:xfrm>
          <a:prstGeom prst="rect">
            <a:avLst/>
          </a:prstGeom>
          <a:noFill/>
        </p:spPr>
        <p:txBody>
          <a:bodyPr wrap="square" anchor="t" lIns="36576" rIns="36576" tIns="36576" bIns="36576">
            <a:spAutoFit/>
          </a:bodyPr>
          <a:lstStyle/>
          <a:p>
            <a:pPr algn="l">
              <a:spcAft>
                <a:spcPts val="0"/>
              </a:spcAft>
            </a:pPr>
            <a:r>
              <a:rPr sz="1050" b="0">
                <a:solidFill>
                  <a:srgbClr val="172433"/>
                </a:solidFill>
                <a:latin typeface="Arial"/>
              </a:rPr>
              <a:t>pytest + review</a:t>
            </a:r>
          </a:p>
        </p:txBody>
      </p:sp>
      <p:sp>
        <p:nvSpPr>
          <p:cNvPr id="24" name="TextBox 23"/>
          <p:cNvSpPr txBox="1"/>
          <p:nvPr/>
        </p:nvSpPr>
        <p:spPr>
          <a:xfrm>
            <a:off x="8714232" y="5468112"/>
            <a:ext cx="2148840" cy="219456"/>
          </a:xfrm>
          <a:prstGeom prst="rect">
            <a:avLst/>
          </a:prstGeom>
          <a:noFill/>
        </p:spPr>
        <p:txBody>
          <a:bodyPr wrap="square" anchor="t" lIns="36576" rIns="36576" tIns="36576" bIns="36576">
            <a:spAutoFit/>
          </a:bodyPr>
          <a:lstStyle/>
          <a:p>
            <a:pPr algn="l">
              <a:spcAft>
                <a:spcPts val="0"/>
              </a:spcAft>
            </a:pPr>
            <a:r>
              <a:rPr sz="950" b="1">
                <a:solidFill>
                  <a:srgbClr val="10B981"/>
                </a:solidFill>
                <a:latin typeface="Arial"/>
              </a:rPr>
              <a:t>Full prompt + refinement</a:t>
            </a:r>
          </a:p>
        </p:txBody>
      </p:sp>
      <p:sp>
        <p:nvSpPr>
          <p:cNvPr id="25" name="TextBox 24"/>
          <p:cNvSpPr txBox="1"/>
          <p:nvPr/>
        </p:nvSpPr>
        <p:spPr>
          <a:xfrm>
            <a:off x="8714232" y="5650992"/>
            <a:ext cx="2148840" cy="219456"/>
          </a:xfrm>
          <a:prstGeom prst="rect">
            <a:avLst/>
          </a:prstGeom>
          <a:noFill/>
        </p:spPr>
        <p:txBody>
          <a:bodyPr wrap="square" anchor="t" lIns="36576" rIns="36576" tIns="36576" bIns="36576">
            <a:spAutoFit/>
          </a:bodyPr>
          <a:lstStyle/>
          <a:p>
            <a:pPr algn="l">
              <a:spcAft>
                <a:spcPts val="0"/>
              </a:spcAft>
            </a:pPr>
            <a:r>
              <a:rPr sz="950" b="0">
                <a:solidFill>
                  <a:srgbClr val="475569"/>
                </a:solidFill>
                <a:latin typeface="Arial"/>
              </a:rPr>
              <a:t>in the lab Prompts.pdf</a:t>
            </a:r>
          </a:p>
        </p:txBody>
      </p:sp>
      <p:sp>
        <p:nvSpPr>
          <p:cNvPr id="26" name="TextBox 2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7" name="TextBox 2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8" name="TextBox 27"/>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OpenAI Python SDK</a:t>
            </a:r>
          </a:p>
        </p:txBody>
      </p:sp>
      <p:sp>
        <p:nvSpPr>
          <p:cNvPr id="29" name="TextBox 2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193</a:t>
            </a:r>
          </a:p>
        </p:txBody>
      </p:sp>
    </p:spTree>
  </p:cSld>
  <p:transition spd="fast">
    <p:fade/>
  </p:transition>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12 · MECHANISM</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How Document and Bundle the Capstone works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665351"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5351"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1</a:t>
            </a:r>
          </a:p>
        </p:txBody>
      </p:sp>
      <p:sp>
        <p:nvSpPr>
          <p:cNvPr id="10" name="TextBox 9"/>
          <p:cNvSpPr txBox="1"/>
          <p:nvPr/>
        </p:nvSpPr>
        <p:spPr>
          <a:xfrm>
            <a:off x="859536"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Input contract</a:t>
            </a:r>
          </a:p>
        </p:txBody>
      </p:sp>
      <p:sp>
        <p:nvSpPr>
          <p:cNvPr id="11" name="TextBox 10"/>
          <p:cNvSpPr txBox="1"/>
          <p:nvPr/>
        </p:nvSpPr>
        <p:spPr>
          <a:xfrm>
            <a:off x="886968"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Produce a clean, testable release bundle with API docs, frontend assets and operational instructions.</a:t>
            </a:r>
          </a:p>
        </p:txBody>
      </p:sp>
      <p:sp>
        <p:nvSpPr>
          <p:cNvPr id="12" name="Rounded Rectangle 11"/>
          <p:cNvSpPr/>
          <p:nvPr/>
        </p:nvSpPr>
        <p:spPr>
          <a:xfrm>
            <a:off x="3477006"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92549"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92549"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2</a:t>
            </a:r>
          </a:p>
        </p:txBody>
      </p:sp>
      <p:sp>
        <p:nvSpPr>
          <p:cNvPr id="15" name="TextBox 14"/>
          <p:cNvSpPr txBox="1"/>
          <p:nvPr/>
        </p:nvSpPr>
        <p:spPr>
          <a:xfrm>
            <a:off x="3586734"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Boundary validation</a:t>
            </a:r>
          </a:p>
        </p:txBody>
      </p:sp>
      <p:sp>
        <p:nvSpPr>
          <p:cNvPr id="16" name="TextBox 15"/>
          <p:cNvSpPr txBox="1"/>
          <p:nvPr/>
        </p:nvSpPr>
        <p:spPr>
          <a:xfrm>
            <a:off x="3614166"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Reject invalid or unauthorised input</a:t>
            </a:r>
          </a:p>
        </p:txBody>
      </p:sp>
      <p:sp>
        <p:nvSpPr>
          <p:cNvPr id="17" name="Rounded Rectangle 16"/>
          <p:cNvSpPr/>
          <p:nvPr/>
        </p:nvSpPr>
        <p:spPr>
          <a:xfrm>
            <a:off x="6204204"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119747"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9747"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3</a:t>
            </a:r>
          </a:p>
        </p:txBody>
      </p:sp>
      <p:sp>
        <p:nvSpPr>
          <p:cNvPr id="20" name="TextBox 19"/>
          <p:cNvSpPr txBox="1"/>
          <p:nvPr/>
        </p:nvSpPr>
        <p:spPr>
          <a:xfrm>
            <a:off x="6313932"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Business decision</a:t>
            </a:r>
          </a:p>
        </p:txBody>
      </p:sp>
      <p:sp>
        <p:nvSpPr>
          <p:cNvPr id="21" name="TextBox 20"/>
          <p:cNvSpPr txBox="1"/>
          <p:nvPr/>
        </p:nvSpPr>
        <p:spPr>
          <a:xfrm>
            <a:off x="6341364"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Apply one explicit rule</a:t>
            </a:r>
          </a:p>
        </p:txBody>
      </p:sp>
      <p:sp>
        <p:nvSpPr>
          <p:cNvPr id="22" name="Rounded Rectangle 21"/>
          <p:cNvSpPr/>
          <p:nvPr/>
        </p:nvSpPr>
        <p:spPr>
          <a:xfrm>
            <a:off x="8931402" y="2148840"/>
            <a:ext cx="2471166" cy="288036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46945" y="2514600"/>
            <a:ext cx="640080" cy="6400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46945" y="2679192"/>
            <a:ext cx="640080" cy="274320"/>
          </a:xfrm>
          <a:prstGeom prst="rect">
            <a:avLst/>
          </a:prstGeom>
          <a:noFill/>
        </p:spPr>
        <p:txBody>
          <a:bodyPr wrap="square" anchor="t" lIns="36576" rIns="36576" tIns="36576" bIns="36576">
            <a:spAutoFit/>
          </a:bodyPr>
          <a:lstStyle/>
          <a:p>
            <a:pPr algn="ctr">
              <a:spcAft>
                <a:spcPts val="0"/>
              </a:spcAft>
            </a:pPr>
            <a:r>
              <a:rPr sz="1700" b="1">
                <a:solidFill>
                  <a:srgbClr val="FFFFFF"/>
                </a:solidFill>
                <a:latin typeface="Arial"/>
              </a:rPr>
              <a:t>4</a:t>
            </a:r>
          </a:p>
        </p:txBody>
      </p:sp>
      <p:sp>
        <p:nvSpPr>
          <p:cNvPr id="25" name="TextBox 24"/>
          <p:cNvSpPr txBox="1"/>
          <p:nvPr/>
        </p:nvSpPr>
        <p:spPr>
          <a:xfrm>
            <a:off x="9041130" y="3401568"/>
            <a:ext cx="2251710" cy="502920"/>
          </a:xfrm>
          <a:prstGeom prst="rect">
            <a:avLst/>
          </a:prstGeom>
          <a:noFill/>
        </p:spPr>
        <p:txBody>
          <a:bodyPr wrap="square" anchor="t" lIns="36576" rIns="36576" tIns="36576" bIns="36576">
            <a:spAutoFit/>
          </a:bodyPr>
          <a:lstStyle/>
          <a:p>
            <a:pPr algn="ctr">
              <a:spcAft>
                <a:spcPts val="0"/>
              </a:spcAft>
            </a:pPr>
            <a:r>
              <a:rPr sz="1300" b="1">
                <a:solidFill>
                  <a:srgbClr val="172433"/>
                </a:solidFill>
                <a:latin typeface="Arial"/>
              </a:rPr>
              <a:t>State/evidence</a:t>
            </a:r>
          </a:p>
        </p:txBody>
      </p:sp>
      <p:sp>
        <p:nvSpPr>
          <p:cNvPr id="26" name="TextBox 25"/>
          <p:cNvSpPr txBox="1"/>
          <p:nvPr/>
        </p:nvSpPr>
        <p:spPr>
          <a:xfrm>
            <a:off x="9068562" y="3977639"/>
            <a:ext cx="2196846" cy="786384"/>
          </a:xfrm>
          <a:prstGeom prst="rect">
            <a:avLst/>
          </a:prstGeom>
          <a:noFill/>
        </p:spPr>
        <p:txBody>
          <a:bodyPr wrap="square" anchor="t" lIns="36576" rIns="36576" tIns="36576" bIns="36576">
            <a:spAutoFit/>
          </a:bodyPr>
          <a:lstStyle/>
          <a:p>
            <a:pPr algn="ctr">
              <a:spcAft>
                <a:spcPts val="0"/>
              </a:spcAft>
            </a:pPr>
            <a:r>
              <a:rPr sz="969" b="0">
                <a:solidFill>
                  <a:srgbClr val="475569"/>
                </a:solidFill>
                <a:latin typeface="Arial"/>
              </a:rPr>
              <a:t>A clean copy installs, tests, starts, serves the storefront/CRM dashboard, completes catalog/customer/order flows and contains no secret or database file.</a:t>
            </a:r>
          </a:p>
        </p:txBody>
      </p:sp>
      <p:sp>
        <p:nvSpPr>
          <p:cNvPr id="27" name="TextBox 26"/>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28" name="TextBox 27"/>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29" name="TextBox 2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194</a:t>
            </a:r>
          </a:p>
        </p:txBody>
      </p:sp>
    </p:spTree>
  </p:cSld>
  <p:transition spd="fast">
    <p:fade/>
  </p:transition>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12 · EVIDENCE</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release-ready Northstar Commerce API</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901952"/>
            <a:ext cx="6812280" cy="3611880"/>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194560"/>
            <a:ext cx="6144768" cy="3063240"/>
          </a:xfrm>
          <a:prstGeom prst="rect">
            <a:avLst/>
          </a:prstGeom>
          <a:noFill/>
        </p:spPr>
        <p:txBody>
          <a:bodyPr wrap="square" anchor="t" lIns="36576" rIns="36576" tIns="36576" bIns="36576">
            <a:spAutoFit/>
          </a:bodyPr>
          <a:lstStyle/>
          <a:p>
            <a:pPr algn="l">
              <a:spcAft>
                <a:spcPts val="0"/>
              </a:spcAft>
            </a:pPr>
            <a:r>
              <a:rPr sz="1250" b="0">
                <a:solidFill>
                  <a:srgbClr val="A7F3D0"/>
                </a:solidFill>
                <a:latin typeface="Consolas"/>
              </a:rPr>
              <a:t>REQUEST
  lab: 12
  objective: Produce a clean, testable release bundle with API
             docs, frontend assets and operational
             instructions.
EXPECTED EVIDENCE
  artifact: release-ready Northstar Commerce API
  codes: A4, A6, A8
  status: verified</a:t>
            </a:r>
          </a:p>
        </p:txBody>
      </p:sp>
      <p:sp>
        <p:nvSpPr>
          <p:cNvPr id="9" name="Rounded Rectangle 8"/>
          <p:cNvSpPr/>
          <p:nvPr/>
        </p:nvSpPr>
        <p:spPr>
          <a:xfrm>
            <a:off x="7882127" y="1901952"/>
            <a:ext cx="3493008" cy="36118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2212848"/>
            <a:ext cx="2880360" cy="310896"/>
          </a:xfrm>
          <a:prstGeom prst="rect">
            <a:avLst/>
          </a:prstGeom>
          <a:noFill/>
        </p:spPr>
        <p:txBody>
          <a:bodyPr wrap="square" anchor="t" lIns="36576" rIns="36576" tIns="36576" bIns="36576">
            <a:spAutoFit/>
          </a:bodyPr>
          <a:lstStyle/>
          <a:p>
            <a:pPr algn="l">
              <a:spcAft>
                <a:spcPts val="0"/>
              </a:spcAft>
            </a:pPr>
            <a:r>
              <a:rPr sz="1000" b="1">
                <a:solidFill>
                  <a:srgbClr val="2563EB"/>
                </a:solidFill>
                <a:latin typeface="Arial"/>
              </a:rPr>
              <a:t>ASSESSMENT BRIDGE</a:t>
            </a:r>
          </a:p>
        </p:txBody>
      </p:sp>
      <p:sp>
        <p:nvSpPr>
          <p:cNvPr id="11" name="TextBox 10"/>
          <p:cNvSpPr txBox="1"/>
          <p:nvPr/>
        </p:nvSpPr>
        <p:spPr>
          <a:xfrm>
            <a:off x="8193024" y="2761488"/>
            <a:ext cx="2834640" cy="1051560"/>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Ability codes
A4, A6, A8</a:t>
            </a:r>
          </a:p>
        </p:txBody>
      </p:sp>
      <p:sp>
        <p:nvSpPr>
          <p:cNvPr id="12" name="TextBox 11"/>
          <p:cNvSpPr txBox="1"/>
          <p:nvPr/>
        </p:nvSpPr>
        <p:spPr>
          <a:xfrm>
            <a:off x="8193024" y="4160520"/>
            <a:ext cx="2788920" cy="685800"/>
          </a:xfrm>
          <a:prstGeom prst="rect">
            <a:avLst/>
          </a:prstGeom>
          <a:noFill/>
        </p:spPr>
        <p:txBody>
          <a:bodyPr wrap="square" anchor="t" lIns="36576" rIns="36576" tIns="36576" bIns="36576">
            <a:spAutoFit/>
          </a:bodyPr>
          <a:lstStyle/>
          <a:p>
            <a:pPr algn="l">
              <a:spcAft>
                <a:spcPts val="0"/>
              </a:spcAft>
            </a:pPr>
            <a:r>
              <a:rPr sz="1100" b="0">
                <a:solidFill>
                  <a:srgbClr val="475569"/>
                </a:solidFill>
                <a:latin typeface="Arial"/>
              </a:rPr>
              <a:t>Capture a screenshot, terminal output or test result that proves the acceptance criterion.</a:t>
            </a:r>
          </a:p>
        </p:txBody>
      </p:sp>
      <p:sp>
        <p:nvSpPr>
          <p:cNvPr id="13" name="TextBox 12"/>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4" name="TextBox 13"/>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5" name="TextBox 14"/>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195</a:t>
            </a:r>
          </a:p>
        </p:txBody>
      </p:sp>
    </p:spTree>
  </p:cSld>
  <p:transition spd="fast">
    <p:fade/>
  </p:transition>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LAB 12 · VERIFY</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Acceptance and diagnosis</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74519"/>
            <a:ext cx="5166360" cy="3611880"/>
          </a:xfrm>
          <a:prstGeom prst="roundRect">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240280"/>
            <a:ext cx="4526280" cy="310896"/>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PASS WHEN</a:t>
            </a:r>
          </a:p>
        </p:txBody>
      </p:sp>
      <p:sp>
        <p:nvSpPr>
          <p:cNvPr id="9" name="TextBox 8"/>
          <p:cNvSpPr txBox="1"/>
          <p:nvPr/>
        </p:nvSpPr>
        <p:spPr>
          <a:xfrm>
            <a:off x="1078992" y="2798064"/>
            <a:ext cx="4498848" cy="1600200"/>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A clean copy installs, tests, starts, serves the storefront/CRM dashboard, completes catalog/customer/order flows and contains no secret or database file.</a:t>
            </a:r>
          </a:p>
        </p:txBody>
      </p:sp>
      <p:sp>
        <p:nvSpPr>
          <p:cNvPr id="10" name="Rounded Rectangle 9"/>
          <p:cNvSpPr/>
          <p:nvPr/>
        </p:nvSpPr>
        <p:spPr>
          <a:xfrm>
            <a:off x="6217920" y="1874519"/>
            <a:ext cx="5148072" cy="3611880"/>
          </a:xfrm>
          <a:prstGeom prst="roundRect">
            <a:avLst/>
          </a:prstGeom>
          <a:solidFill>
            <a:srgbClr val="FEF2F2"/>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56248" y="2240280"/>
            <a:ext cx="4480560" cy="310896"/>
          </a:xfrm>
          <a:prstGeom prst="rect">
            <a:avLst/>
          </a:prstGeom>
          <a:noFill/>
        </p:spPr>
        <p:txBody>
          <a:bodyPr wrap="square" anchor="t" lIns="36576" rIns="36576" tIns="36576" bIns="36576">
            <a:spAutoFit/>
          </a:bodyPr>
          <a:lstStyle/>
          <a:p>
            <a:pPr algn="l">
              <a:spcAft>
                <a:spcPts val="0"/>
              </a:spcAft>
            </a:pPr>
            <a:r>
              <a:rPr sz="1100" b="1">
                <a:solidFill>
                  <a:srgbClr val="DC2626"/>
                </a:solidFill>
                <a:latin typeface="Arial"/>
              </a:rPr>
              <a:t>DIAGNOSE</a:t>
            </a:r>
          </a:p>
        </p:txBody>
      </p:sp>
      <p:sp>
        <p:nvSpPr>
          <p:cNvPr id="12" name="TextBox 11"/>
          <p:cNvSpPr txBox="1"/>
          <p:nvPr/>
        </p:nvSpPr>
        <p:spPr>
          <a:xfrm>
            <a:off x="6556248" y="277063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1. Inspect HTTP status and response body</a:t>
            </a:r>
          </a:p>
        </p:txBody>
      </p:sp>
      <p:sp>
        <p:nvSpPr>
          <p:cNvPr id="13" name="TextBox 12"/>
          <p:cNvSpPr txBox="1"/>
          <p:nvPr/>
        </p:nvSpPr>
        <p:spPr>
          <a:xfrm>
            <a:off x="6556248" y="327355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2. Check request fields and headers</a:t>
            </a:r>
          </a:p>
        </p:txBody>
      </p:sp>
      <p:sp>
        <p:nvSpPr>
          <p:cNvPr id="14" name="TextBox 13"/>
          <p:cNvSpPr txBox="1"/>
          <p:nvPr/>
        </p:nvSpPr>
        <p:spPr>
          <a:xfrm>
            <a:off x="6556248" y="377647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3. Follow request ID into logs</a:t>
            </a:r>
          </a:p>
        </p:txBody>
      </p:sp>
      <p:sp>
        <p:nvSpPr>
          <p:cNvPr id="15" name="TextBox 14"/>
          <p:cNvSpPr txBox="1"/>
          <p:nvPr/>
        </p:nvSpPr>
        <p:spPr>
          <a:xfrm>
            <a:off x="6556248" y="4279392"/>
            <a:ext cx="4389120" cy="347472"/>
          </a:xfrm>
          <a:prstGeom prst="rect">
            <a:avLst/>
          </a:prstGeom>
          <a:noFill/>
        </p:spPr>
        <p:txBody>
          <a:bodyPr wrap="square" anchor="t" lIns="36576" rIns="36576" tIns="36576" bIns="36576">
            <a:spAutoFit/>
          </a:bodyPr>
          <a:lstStyle/>
          <a:p>
            <a:pPr algn="l">
              <a:spcAft>
                <a:spcPts val="0"/>
              </a:spcAft>
            </a:pPr>
            <a:r>
              <a:rPr sz="1250" b="0">
                <a:solidFill>
                  <a:srgbClr val="172433"/>
                </a:solidFill>
                <a:latin typeface="Arial"/>
              </a:rPr>
              <a:t>4. Re-run the smallest failing test</a:t>
            </a:r>
          </a:p>
        </p:txBody>
      </p:sp>
      <p:sp>
        <p:nvSpPr>
          <p:cNvPr id="16" name="TextBox 15"/>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7" name="TextBox 16"/>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8" name="TextBox 17"/>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196</a:t>
            </a:r>
          </a:p>
        </p:txBody>
      </p:sp>
    </p:spTree>
  </p:cSld>
  <p:transition spd="fast">
    <p:fade/>
  </p:transition>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LAB 12 · CONTRACT REVIEW</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Prompt output must preserve the API boundary</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1847088"/>
            <a:ext cx="5102352" cy="3730752"/>
          </a:xfrm>
          <a:prstGeom prst="round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176272"/>
            <a:ext cx="4434840" cy="420624"/>
          </a:xfrm>
          <a:prstGeom prst="rect">
            <a:avLst/>
          </a:prstGeom>
          <a:noFill/>
        </p:spPr>
        <p:txBody>
          <a:bodyPr wrap="square" anchor="t" lIns="36576" rIns="36576" tIns="36576" bIns="36576">
            <a:spAutoFit/>
          </a:bodyPr>
          <a:lstStyle/>
          <a:p>
            <a:pPr algn="l">
              <a:spcAft>
                <a:spcPts val="0"/>
              </a:spcAft>
            </a:pPr>
            <a:r>
              <a:rPr sz="1000" b="1">
                <a:solidFill>
                  <a:srgbClr val="D1FAE5"/>
                </a:solidFill>
                <a:latin typeface="Arial"/>
              </a:rPr>
              <a:t>TARGET FILES</a:t>
            </a:r>
          </a:p>
        </p:txBody>
      </p:sp>
      <p:sp>
        <p:nvSpPr>
          <p:cNvPr id="9" name="TextBox 8"/>
          <p:cNvSpPr txBox="1"/>
          <p:nvPr/>
        </p:nvSpPr>
        <p:spPr>
          <a:xfrm>
            <a:off x="1078992" y="2743200"/>
            <a:ext cx="4434840" cy="420624"/>
          </a:xfrm>
          <a:prstGeom prst="rect">
            <a:avLst/>
          </a:prstGeom>
          <a:noFill/>
        </p:spPr>
        <p:txBody>
          <a:bodyPr wrap="square" anchor="t" lIns="36576" rIns="36576" tIns="36576" bIns="36576">
            <a:spAutoFit/>
          </a:bodyPr>
          <a:lstStyle/>
          <a:p>
            <a:pPr algn="l">
              <a:spcAft>
                <a:spcPts val="0"/>
              </a:spcAft>
            </a:pPr>
            <a:r>
              <a:rPr sz="1100" b="0">
                <a:solidFill>
                  <a:srgbClr val="D1FAE5"/>
                </a:solidFill>
                <a:latin typeface="Consolas"/>
              </a:rPr>
              <a:t>README.md</a:t>
            </a:r>
          </a:p>
        </p:txBody>
      </p:sp>
      <p:sp>
        <p:nvSpPr>
          <p:cNvPr id="10" name="TextBox 9"/>
          <p:cNvSpPr txBox="1"/>
          <p:nvPr/>
        </p:nvSpPr>
        <p:spPr>
          <a:xfrm>
            <a:off x="1078992" y="3310128"/>
            <a:ext cx="4434840" cy="420624"/>
          </a:xfrm>
          <a:prstGeom prst="rect">
            <a:avLst/>
          </a:prstGeom>
          <a:noFill/>
        </p:spPr>
        <p:txBody>
          <a:bodyPr wrap="square" anchor="t" lIns="36576" rIns="36576" tIns="36576" bIns="36576">
            <a:spAutoFit/>
          </a:bodyPr>
          <a:lstStyle/>
          <a:p>
            <a:pPr algn="l">
              <a:spcAft>
                <a:spcPts val="0"/>
              </a:spcAft>
            </a:pPr>
            <a:r>
              <a:rPr sz="1100" b="0">
                <a:solidFill>
                  <a:srgbClr val="D1FAE5"/>
                </a:solidFill>
                <a:latin typeface="Consolas"/>
              </a:rPr>
              <a:t>.env.example</a:t>
            </a:r>
          </a:p>
        </p:txBody>
      </p:sp>
      <p:sp>
        <p:nvSpPr>
          <p:cNvPr id="11" name="TextBox 10"/>
          <p:cNvSpPr txBox="1"/>
          <p:nvPr/>
        </p:nvSpPr>
        <p:spPr>
          <a:xfrm>
            <a:off x="1078992" y="3877056"/>
            <a:ext cx="4434840" cy="420624"/>
          </a:xfrm>
          <a:prstGeom prst="rect">
            <a:avLst/>
          </a:prstGeom>
          <a:noFill/>
        </p:spPr>
        <p:txBody>
          <a:bodyPr wrap="square" anchor="t" lIns="36576" rIns="36576" tIns="36576" bIns="36576">
            <a:spAutoFit/>
          </a:bodyPr>
          <a:lstStyle/>
          <a:p>
            <a:pPr algn="l">
              <a:spcAft>
                <a:spcPts val="0"/>
              </a:spcAft>
            </a:pPr>
            <a:r>
              <a:rPr sz="1100" b="0">
                <a:solidFill>
                  <a:srgbClr val="D1FAE5"/>
                </a:solidFill>
                <a:latin typeface="Consolas"/>
              </a:rPr>
              <a:t>release-checklist.md</a:t>
            </a:r>
          </a:p>
        </p:txBody>
      </p:sp>
      <p:sp>
        <p:nvSpPr>
          <p:cNvPr id="12" name="Rounded Rectangle 11"/>
          <p:cNvSpPr/>
          <p:nvPr/>
        </p:nvSpPr>
        <p:spPr>
          <a:xfrm>
            <a:off x="6144768" y="1847088"/>
            <a:ext cx="5230368" cy="373075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2176272"/>
            <a:ext cx="4526280" cy="237744"/>
          </a:xfrm>
          <a:prstGeom prst="rect">
            <a:avLst/>
          </a:prstGeom>
          <a:noFill/>
        </p:spPr>
        <p:txBody>
          <a:bodyPr wrap="square" anchor="t" lIns="36576" rIns="36576" tIns="36576" bIns="36576">
            <a:spAutoFit/>
          </a:bodyPr>
          <a:lstStyle/>
          <a:p>
            <a:pPr algn="l">
              <a:spcAft>
                <a:spcPts val="0"/>
              </a:spcAft>
            </a:pPr>
            <a:r>
              <a:rPr sz="1000" b="1">
                <a:solidFill>
                  <a:srgbClr val="10B981"/>
                </a:solidFill>
                <a:latin typeface="Arial"/>
              </a:rPr>
              <a:t>ACCEPTANCE</a:t>
            </a:r>
          </a:p>
        </p:txBody>
      </p:sp>
      <p:sp>
        <p:nvSpPr>
          <p:cNvPr id="14" name="TextBox 13"/>
          <p:cNvSpPr txBox="1"/>
          <p:nvPr/>
        </p:nvSpPr>
        <p:spPr>
          <a:xfrm>
            <a:off x="6473952" y="2578608"/>
            <a:ext cx="4526280" cy="1417320"/>
          </a:xfrm>
          <a:prstGeom prst="rect">
            <a:avLst/>
          </a:prstGeom>
          <a:noFill/>
        </p:spPr>
        <p:txBody>
          <a:bodyPr wrap="square" anchor="t" lIns="36576" rIns="36576" tIns="36576" bIns="36576">
            <a:spAutoFit/>
          </a:bodyPr>
          <a:lstStyle/>
          <a:p>
            <a:pPr algn="l">
              <a:spcAft>
                <a:spcPts val="0"/>
              </a:spcAft>
            </a:pPr>
            <a:r>
              <a:rPr sz="1500" b="1">
                <a:solidFill>
                  <a:srgbClr val="172433"/>
                </a:solidFill>
                <a:latin typeface="Arial"/>
              </a:rPr>
              <a:t>A clean copy installs, tests, starts, serves the storefront/CRM dashboard, completes catalog/customer/order flows and contains no secret or database file.</a:t>
            </a:r>
          </a:p>
        </p:txBody>
      </p:sp>
      <p:sp>
        <p:nvSpPr>
          <p:cNvPr id="15" name="TextBox 14"/>
          <p:cNvSpPr txBox="1"/>
          <p:nvPr/>
        </p:nvSpPr>
        <p:spPr>
          <a:xfrm>
            <a:off x="6473952" y="4279392"/>
            <a:ext cx="4526280" cy="237744"/>
          </a:xfrm>
          <a:prstGeom prst="rect">
            <a:avLst/>
          </a:prstGeom>
          <a:noFill/>
        </p:spPr>
        <p:txBody>
          <a:bodyPr wrap="square" anchor="t" lIns="36576" rIns="36576" tIns="36576" bIns="36576">
            <a:spAutoFit/>
          </a:bodyPr>
          <a:lstStyle/>
          <a:p>
            <a:pPr algn="l">
              <a:spcAft>
                <a:spcPts val="0"/>
              </a:spcAft>
            </a:pPr>
            <a:r>
              <a:rPr sz="1000" b="1">
                <a:solidFill>
                  <a:srgbClr val="7C3AED"/>
                </a:solidFill>
                <a:latin typeface="Arial"/>
              </a:rPr>
              <a:t>ABILITY TRACE</a:t>
            </a:r>
          </a:p>
        </p:txBody>
      </p:sp>
      <p:sp>
        <p:nvSpPr>
          <p:cNvPr id="16" name="TextBox 15"/>
          <p:cNvSpPr txBox="1"/>
          <p:nvPr/>
        </p:nvSpPr>
        <p:spPr>
          <a:xfrm>
            <a:off x="6473952" y="4645152"/>
            <a:ext cx="4526280" cy="438912"/>
          </a:xfrm>
          <a:prstGeom prst="rect">
            <a:avLst/>
          </a:prstGeom>
          <a:noFill/>
        </p:spPr>
        <p:txBody>
          <a:bodyPr wrap="square" anchor="t" lIns="36576" rIns="36576" tIns="36576" bIns="36576">
            <a:spAutoFit/>
          </a:bodyPr>
          <a:lstStyle/>
          <a:p>
            <a:pPr algn="l">
              <a:spcAft>
                <a:spcPts val="0"/>
              </a:spcAft>
            </a:pPr>
            <a:r>
              <a:rPr sz="1800" b="1">
                <a:solidFill>
                  <a:srgbClr val="172433"/>
                </a:solidFill>
                <a:latin typeface="Arial"/>
              </a:rPr>
              <a:t>A4, A6, A8</a:t>
            </a:r>
          </a:p>
        </p:txBody>
      </p:sp>
      <p:sp>
        <p:nvSpPr>
          <p:cNvPr id="17" name="TextBox 16"/>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8" name="TextBox 17"/>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9" name="TextBox 18"/>
          <p:cNvSpPr txBox="1"/>
          <p:nvPr/>
        </p:nvSpPr>
        <p:spPr>
          <a:xfrm>
            <a:off x="7543800" y="6446520"/>
            <a:ext cx="3840480" cy="219456"/>
          </a:xfrm>
          <a:prstGeom prst="rect">
            <a:avLst/>
          </a:prstGeom>
          <a:noFill/>
        </p:spPr>
        <p:txBody>
          <a:bodyPr wrap="square" anchor="t" lIns="36576" rIns="36576" tIns="36576" bIns="36576">
            <a:spAutoFit/>
          </a:bodyPr>
          <a:lstStyle/>
          <a:p>
            <a:pPr algn="r">
              <a:spcAft>
                <a:spcPts val="0"/>
              </a:spcAft>
            </a:pPr>
            <a:r>
              <a:rPr sz="750" b="0">
                <a:solidFill>
                  <a:srgbClr val="64748B"/>
                </a:solidFill>
                <a:latin typeface="Arial"/>
              </a:rPr>
              <a:t>Source: OpenAPI contract + lab prompt</a:t>
            </a:r>
          </a:p>
        </p:txBody>
      </p:sp>
      <p:sp>
        <p:nvSpPr>
          <p:cNvPr id="20" name="TextBox 19"/>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197</a:t>
            </a:r>
          </a:p>
        </p:txBody>
      </p:sp>
    </p:spTree>
  </p:cSld>
  <p:transition spd="fast">
    <p:fade/>
  </p:transition>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hero-v1.png"/>
          <p:cNvPicPr>
            <a:picLocks noChangeAspect="1"/>
          </p:cNvPicPr>
          <p:nvPr/>
        </p:nvPicPr>
        <p:blipFill>
          <a:blip r:embed="rId2"/>
          <a:stretch>
            <a:fillRect/>
          </a:stretch>
        </p:blipFill>
        <p:spPr>
          <a:xfrm>
            <a:off x="6812280" y="0"/>
            <a:ext cx="5376672" cy="6858000"/>
          </a:xfrm>
          <a:prstGeom prst="rect">
            <a:avLst/>
          </a:prstGeom>
        </p:spPr>
      </p:pic>
      <p:sp>
        <p:nvSpPr>
          <p:cNvPr id="4" name="Rectangle 3"/>
          <p:cNvSpPr/>
          <p:nvPr/>
        </p:nvSpPr>
        <p:spPr>
          <a:xfrm>
            <a:off x="6812280" y="0"/>
            <a:ext cx="5376672"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024128"/>
            <a:ext cx="5212080" cy="274320"/>
          </a:xfrm>
          <a:prstGeom prst="rect">
            <a:avLst/>
          </a:prstGeom>
          <a:noFill/>
        </p:spPr>
        <p:txBody>
          <a:bodyPr wrap="square" anchor="t" lIns="36576" rIns="36576" tIns="36576" bIns="36576">
            <a:spAutoFit/>
          </a:bodyPr>
          <a:lstStyle/>
          <a:p>
            <a:pPr algn="l">
              <a:spcAft>
                <a:spcPts val="0"/>
              </a:spcAft>
            </a:pPr>
            <a:r>
              <a:rPr sz="1200" b="1">
                <a:solidFill>
                  <a:srgbClr val="06B6D4"/>
                </a:solidFill>
                <a:latin typeface="Arial"/>
              </a:rPr>
              <a:t>WRAP-UP</a:t>
            </a:r>
          </a:p>
        </p:txBody>
      </p:sp>
      <p:sp>
        <p:nvSpPr>
          <p:cNvPr id="6" name="TextBox 5"/>
          <p:cNvSpPr txBox="1"/>
          <p:nvPr/>
        </p:nvSpPr>
        <p:spPr>
          <a:xfrm>
            <a:off x="777240" y="1481328"/>
            <a:ext cx="5943600" cy="1874519"/>
          </a:xfrm>
          <a:prstGeom prst="rect">
            <a:avLst/>
          </a:prstGeom>
          <a:noFill/>
        </p:spPr>
        <p:txBody>
          <a:bodyPr wrap="square" anchor="t" lIns="36576" rIns="36576" tIns="36576" bIns="36576">
            <a:spAutoFit/>
          </a:bodyPr>
          <a:lstStyle/>
          <a:p>
            <a:pPr algn="l">
              <a:spcAft>
                <a:spcPts val="0"/>
              </a:spcAft>
            </a:pPr>
            <a:r>
              <a:rPr sz="3800" b="1">
                <a:solidFill>
                  <a:srgbClr val="FFFFFF"/>
                </a:solidFill>
                <a:latin typeface="Arial"/>
              </a:rPr>
              <a:t>Course Summary &amp; Assessment</a:t>
            </a:r>
          </a:p>
        </p:txBody>
      </p:sp>
      <p:sp>
        <p:nvSpPr>
          <p:cNvPr id="7" name="TextBox 6"/>
          <p:cNvSpPr txBox="1"/>
          <p:nvPr/>
        </p:nvSpPr>
        <p:spPr>
          <a:xfrm>
            <a:off x="804672" y="3822191"/>
            <a:ext cx="5623560" cy="749808"/>
          </a:xfrm>
          <a:prstGeom prst="rect">
            <a:avLst/>
          </a:prstGeom>
          <a:noFill/>
        </p:spPr>
        <p:txBody>
          <a:bodyPr wrap="square" anchor="t" lIns="36576" rIns="36576" tIns="36576" bIns="36576">
            <a:spAutoFit/>
          </a:bodyPr>
          <a:lstStyle/>
          <a:p>
            <a:pPr algn="l">
              <a:spcAft>
                <a:spcPts val="0"/>
              </a:spcAft>
            </a:pPr>
            <a:r>
              <a:rPr sz="1600" b="0">
                <a:solidFill>
                  <a:srgbClr val="CBD5E1"/>
                </a:solidFill>
                <a:latin typeface="Arial"/>
              </a:rPr>
              <a:t>Evidence first: contract, code, tests, documentation</a:t>
            </a:r>
          </a:p>
        </p:txBody>
      </p:sp>
      <p:sp>
        <p:nvSpPr>
          <p:cNvPr id="8" name="TextBox 7"/>
          <p:cNvSpPr txBox="1"/>
          <p:nvPr/>
        </p:nvSpPr>
        <p:spPr>
          <a:xfrm>
            <a:off x="731520" y="5074920"/>
            <a:ext cx="2194560" cy="822960"/>
          </a:xfrm>
          <a:prstGeom prst="rect">
            <a:avLst/>
          </a:prstGeom>
          <a:noFill/>
        </p:spPr>
        <p:txBody>
          <a:bodyPr wrap="square" anchor="t" lIns="36576" rIns="36576" tIns="36576" bIns="36576">
            <a:spAutoFit/>
          </a:bodyPr>
          <a:lstStyle/>
          <a:p>
            <a:pPr algn="l">
              <a:spcAft>
                <a:spcPts val="0"/>
              </a:spcAft>
            </a:pPr>
            <a:r>
              <a:rPr sz="6400" b="1">
                <a:solidFill>
                  <a:srgbClr val="06B6D4"/>
                </a:solidFill>
                <a:latin typeface="Arial"/>
              </a:rPr>
              <a:t>—</a:t>
            </a:r>
          </a:p>
        </p:txBody>
      </p:sp>
      <p:sp>
        <p:nvSpPr>
          <p:cNvPr id="9" name="TextBox 8"/>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10" name="TextBox 9"/>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11" name="TextBox 10"/>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198</a:t>
            </a:r>
          </a:p>
        </p:txBody>
      </p:sp>
    </p:spTree>
  </p:cSld>
  <p:transition spd="med">
    <p:push/>
  </p:transition>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10B981"/>
                </a:solidFill>
                <a:latin typeface="Arial"/>
              </a:rPr>
              <a:t>LEARNING OUTCOMES</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What You Can Now Build</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37360"/>
            <a:ext cx="5289804" cy="132283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37360"/>
            <a:ext cx="73152" cy="132283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938528"/>
            <a:ext cx="475488" cy="475488"/>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993392"/>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1</a:t>
            </a:r>
          </a:p>
        </p:txBody>
      </p:sp>
      <p:sp>
        <p:nvSpPr>
          <p:cNvPr id="11" name="TextBox 10"/>
          <p:cNvSpPr txBox="1"/>
          <p:nvPr/>
        </p:nvSpPr>
        <p:spPr>
          <a:xfrm>
            <a:off x="1554480" y="1901952"/>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LO1</a:t>
            </a:r>
          </a:p>
        </p:txBody>
      </p:sp>
      <p:sp>
        <p:nvSpPr>
          <p:cNvPr id="12" name="TextBox 11"/>
          <p:cNvSpPr txBox="1"/>
          <p:nvPr/>
        </p:nvSpPr>
        <p:spPr>
          <a:xfrm>
            <a:off x="1554480" y="2304288"/>
            <a:ext cx="4238244" cy="664464"/>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Identify and assess FastAPI as middleware for creating connections between web clients, applications and data stores.</a:t>
            </a:r>
          </a:p>
        </p:txBody>
      </p:sp>
      <p:sp>
        <p:nvSpPr>
          <p:cNvPr id="13" name="Rounded Rectangle 12"/>
          <p:cNvSpPr/>
          <p:nvPr/>
        </p:nvSpPr>
        <p:spPr>
          <a:xfrm>
            <a:off x="6259068" y="1737360"/>
            <a:ext cx="5289804" cy="132283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59068" y="1737360"/>
            <a:ext cx="73152" cy="132283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60236" y="1938528"/>
            <a:ext cx="475488" cy="475488"/>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0236" y="1993392"/>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2</a:t>
            </a:r>
          </a:p>
        </p:txBody>
      </p:sp>
      <p:sp>
        <p:nvSpPr>
          <p:cNvPr id="17" name="TextBox 16"/>
          <p:cNvSpPr txBox="1"/>
          <p:nvPr/>
        </p:nvSpPr>
        <p:spPr>
          <a:xfrm>
            <a:off x="7100316" y="1901952"/>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LO2</a:t>
            </a:r>
          </a:p>
        </p:txBody>
      </p:sp>
      <p:sp>
        <p:nvSpPr>
          <p:cNvPr id="18" name="TextBox 17"/>
          <p:cNvSpPr txBox="1"/>
          <p:nvPr/>
        </p:nvSpPr>
        <p:spPr>
          <a:xfrm>
            <a:off x="7100316" y="2304288"/>
            <a:ext cx="4238244" cy="664464"/>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Integrate data and functions into a browser web app through typed FastAPI routes and reusable Python services.</a:t>
            </a:r>
          </a:p>
        </p:txBody>
      </p:sp>
      <p:sp>
        <p:nvSpPr>
          <p:cNvPr id="19" name="Rounded Rectangle 18"/>
          <p:cNvSpPr/>
          <p:nvPr/>
        </p:nvSpPr>
        <p:spPr>
          <a:xfrm>
            <a:off x="713232" y="3279648"/>
            <a:ext cx="5289804" cy="132283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13232" y="3279648"/>
            <a:ext cx="73152"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4400" y="3480816"/>
            <a:ext cx="475488" cy="47548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3535680"/>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3</a:t>
            </a:r>
          </a:p>
        </p:txBody>
      </p:sp>
      <p:sp>
        <p:nvSpPr>
          <p:cNvPr id="23" name="TextBox 22"/>
          <p:cNvSpPr txBox="1"/>
          <p:nvPr/>
        </p:nvSpPr>
        <p:spPr>
          <a:xfrm>
            <a:off x="1554480" y="3444240"/>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LO3</a:t>
            </a:r>
          </a:p>
        </p:txBody>
      </p:sp>
      <p:sp>
        <p:nvSpPr>
          <p:cNvPr id="24" name="TextBox 23"/>
          <p:cNvSpPr txBox="1"/>
          <p:nvPr/>
        </p:nvSpPr>
        <p:spPr>
          <a:xfrm>
            <a:off x="1554480" y="3846576"/>
            <a:ext cx="4238244" cy="664464"/>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Support API-level integration using REST semantics, JSON and an OpenAPI 3.1 contract.</a:t>
            </a:r>
          </a:p>
        </p:txBody>
      </p:sp>
      <p:sp>
        <p:nvSpPr>
          <p:cNvPr id="25" name="Rounded Rectangle 24"/>
          <p:cNvSpPr/>
          <p:nvPr/>
        </p:nvSpPr>
        <p:spPr>
          <a:xfrm>
            <a:off x="6259068" y="3279648"/>
            <a:ext cx="5289804" cy="132283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59068" y="3279648"/>
            <a:ext cx="73152" cy="1322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460236" y="3480816"/>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60236" y="3535680"/>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4</a:t>
            </a:r>
          </a:p>
        </p:txBody>
      </p:sp>
      <p:sp>
        <p:nvSpPr>
          <p:cNvPr id="29" name="TextBox 28"/>
          <p:cNvSpPr txBox="1"/>
          <p:nvPr/>
        </p:nvSpPr>
        <p:spPr>
          <a:xfrm>
            <a:off x="7100316" y="3444240"/>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LO4</a:t>
            </a:r>
          </a:p>
        </p:txBody>
      </p:sp>
      <p:sp>
        <p:nvSpPr>
          <p:cNvPr id="30" name="TextBox 29"/>
          <p:cNvSpPr txBox="1"/>
          <p:nvPr/>
        </p:nvSpPr>
        <p:spPr>
          <a:xfrm>
            <a:off x="7100316" y="3846576"/>
            <a:ext cx="4238244" cy="664464"/>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Perform tests and checks on FastAPI-to-SQLite connections using Swagger UI, pytest, logs and VS Code debugging.</a:t>
            </a:r>
          </a:p>
        </p:txBody>
      </p:sp>
      <p:sp>
        <p:nvSpPr>
          <p:cNvPr id="31" name="Rounded Rectangle 30"/>
          <p:cNvSpPr/>
          <p:nvPr/>
        </p:nvSpPr>
        <p:spPr>
          <a:xfrm>
            <a:off x="713232" y="4821936"/>
            <a:ext cx="5289804" cy="1322832"/>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13232" y="4821936"/>
            <a:ext cx="73152" cy="1322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14400" y="5023104"/>
            <a:ext cx="475488" cy="475488"/>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5077968"/>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5</a:t>
            </a:r>
          </a:p>
        </p:txBody>
      </p:sp>
      <p:sp>
        <p:nvSpPr>
          <p:cNvPr id="35" name="TextBox 34"/>
          <p:cNvSpPr txBox="1"/>
          <p:nvPr/>
        </p:nvSpPr>
        <p:spPr>
          <a:xfrm>
            <a:off x="1554480" y="4986528"/>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LO5</a:t>
            </a:r>
          </a:p>
        </p:txBody>
      </p:sp>
      <p:sp>
        <p:nvSpPr>
          <p:cNvPr id="36" name="TextBox 35"/>
          <p:cNvSpPr txBox="1"/>
          <p:nvPr/>
        </p:nvSpPr>
        <p:spPr>
          <a:xfrm>
            <a:off x="1554480" y="5388864"/>
            <a:ext cx="4238244" cy="664464"/>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Modify a FastAPI service to improve integration, validation, compatibility, performance and security.</a:t>
            </a:r>
          </a:p>
        </p:txBody>
      </p:sp>
      <p:sp>
        <p:nvSpPr>
          <p:cNvPr id="37" name="TextBox 36"/>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8" name="TextBox 37"/>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9" name="TextBox 38"/>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199</a:t>
            </a:r>
          </a:p>
        </p:txBody>
      </p:sp>
    </p:spTree>
  </p:cSld>
  <p:transition spd="fast">
    <p:fade/>
  </p:transition>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ASSESSMENT</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Final Assessment</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37360"/>
            <a:ext cx="5289804" cy="2093976"/>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37360"/>
            <a:ext cx="73152" cy="209397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938528"/>
            <a:ext cx="475488" cy="475488"/>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993392"/>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1</a:t>
            </a:r>
          </a:p>
        </p:txBody>
      </p:sp>
      <p:sp>
        <p:nvSpPr>
          <p:cNvPr id="11" name="TextBox 10"/>
          <p:cNvSpPr txBox="1"/>
          <p:nvPr/>
        </p:nvSpPr>
        <p:spPr>
          <a:xfrm>
            <a:off x="1554480" y="1901952"/>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WA (SAQ)</a:t>
            </a:r>
          </a:p>
        </p:txBody>
      </p:sp>
      <p:sp>
        <p:nvSpPr>
          <p:cNvPr id="12" name="TextBox 11"/>
          <p:cNvSpPr txBox="1"/>
          <p:nvPr/>
        </p:nvSpPr>
        <p:spPr>
          <a:xfrm>
            <a:off x="1554480" y="2304288"/>
            <a:ext cx="4238244" cy="1435608"/>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10 open-ended questions · K1-K5 · 60 minutes</a:t>
            </a:r>
          </a:p>
        </p:txBody>
      </p:sp>
      <p:sp>
        <p:nvSpPr>
          <p:cNvPr id="13" name="Rounded Rectangle 12"/>
          <p:cNvSpPr/>
          <p:nvPr/>
        </p:nvSpPr>
        <p:spPr>
          <a:xfrm>
            <a:off x="6259068" y="1737360"/>
            <a:ext cx="5289804" cy="2093976"/>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59068" y="1737360"/>
            <a:ext cx="73152" cy="20939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60236" y="1938528"/>
            <a:ext cx="475488" cy="475488"/>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0236" y="1993392"/>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2</a:t>
            </a:r>
          </a:p>
        </p:txBody>
      </p:sp>
      <p:sp>
        <p:nvSpPr>
          <p:cNvPr id="17" name="TextBox 16"/>
          <p:cNvSpPr txBox="1"/>
          <p:nvPr/>
        </p:nvSpPr>
        <p:spPr>
          <a:xfrm>
            <a:off x="7100316" y="1901952"/>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Practical Performance</a:t>
            </a:r>
          </a:p>
        </p:txBody>
      </p:sp>
      <p:sp>
        <p:nvSpPr>
          <p:cNvPr id="18" name="TextBox 17"/>
          <p:cNvSpPr txBox="1"/>
          <p:nvPr/>
        </p:nvSpPr>
        <p:spPr>
          <a:xfrm>
            <a:off x="7100316" y="2304288"/>
            <a:ext cx="4238244" cy="1435608"/>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6 FastAPI/OpenAPI/SQLite tasks · A1-A8 · 90 minutes</a:t>
            </a:r>
          </a:p>
        </p:txBody>
      </p:sp>
      <p:sp>
        <p:nvSpPr>
          <p:cNvPr id="19" name="Rounded Rectangle 18"/>
          <p:cNvSpPr/>
          <p:nvPr/>
        </p:nvSpPr>
        <p:spPr>
          <a:xfrm>
            <a:off x="713232" y="4050792"/>
            <a:ext cx="5289804" cy="2093976"/>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13232" y="4050792"/>
            <a:ext cx="73152" cy="20939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4400" y="4251960"/>
            <a:ext cx="475488" cy="47548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306824"/>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3</a:t>
            </a:r>
          </a:p>
        </p:txBody>
      </p:sp>
      <p:sp>
        <p:nvSpPr>
          <p:cNvPr id="23" name="TextBox 22"/>
          <p:cNvSpPr txBox="1"/>
          <p:nvPr/>
        </p:nvSpPr>
        <p:spPr>
          <a:xfrm>
            <a:off x="1554480" y="4215384"/>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Open book</a:t>
            </a:r>
          </a:p>
        </p:txBody>
      </p:sp>
      <p:sp>
        <p:nvSpPr>
          <p:cNvPr id="24" name="TextBox 23"/>
          <p:cNvSpPr txBox="1"/>
          <p:nvPr/>
        </p:nvSpPr>
        <p:spPr>
          <a:xfrm>
            <a:off x="1554480" y="4617720"/>
            <a:ext cx="4238244" cy="1435608"/>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Slides, Learner Guide and approved lab files</a:t>
            </a:r>
          </a:p>
        </p:txBody>
      </p:sp>
      <p:sp>
        <p:nvSpPr>
          <p:cNvPr id="25" name="Rounded Rectangle 24"/>
          <p:cNvSpPr/>
          <p:nvPr/>
        </p:nvSpPr>
        <p:spPr>
          <a:xfrm>
            <a:off x="6259068" y="4050792"/>
            <a:ext cx="5289804" cy="2093976"/>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59068" y="4050792"/>
            <a:ext cx="73152" cy="209397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460236" y="4251960"/>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60236" y="4306824"/>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4</a:t>
            </a:r>
          </a:p>
        </p:txBody>
      </p:sp>
      <p:sp>
        <p:nvSpPr>
          <p:cNvPr id="29" name="TextBox 28"/>
          <p:cNvSpPr txBox="1"/>
          <p:nvPr/>
        </p:nvSpPr>
        <p:spPr>
          <a:xfrm>
            <a:off x="7100316" y="4215384"/>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Submission</a:t>
            </a:r>
          </a:p>
        </p:txBody>
      </p:sp>
      <p:sp>
        <p:nvSpPr>
          <p:cNvPr id="30" name="TextBox 29"/>
          <p:cNvSpPr txBox="1"/>
          <p:nvPr/>
        </p:nvSpPr>
        <p:spPr>
          <a:xfrm>
            <a:off x="7100316" y="4617720"/>
            <a:ext cx="4238244" cy="1435608"/>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Upload to lms-tms.tertiaryinfotech.com</a:t>
            </a:r>
          </a:p>
        </p:txBody>
      </p:sp>
      <p:sp>
        <p:nvSpPr>
          <p:cNvPr id="31" name="TextBox 30"/>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2" name="TextBox 31"/>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3" name="TextBox 3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200</a:t>
            </a:r>
          </a:p>
        </p:txBody>
      </p:sp>
    </p:spTree>
  </p:cSld>
  <p:transition spd="fast">
    <p:fade/>
  </p:transition>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7C3AED"/>
                </a:solidFill>
                <a:latin typeface="Arial"/>
              </a:rPr>
              <a:t>WA → PP → SIGN-OFF</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Assessment Flow</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2057400"/>
            <a:ext cx="1984248" cy="324612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76172" y="2395728"/>
            <a:ext cx="658368" cy="65836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6172" y="2560320"/>
            <a:ext cx="658368" cy="292608"/>
          </a:xfrm>
          <a:prstGeom prst="rect">
            <a:avLst/>
          </a:prstGeom>
          <a:noFill/>
        </p:spPr>
        <p:txBody>
          <a:bodyPr wrap="square" anchor="t" lIns="36576" rIns="36576" tIns="36576" bIns="36576">
            <a:spAutoFit/>
          </a:bodyPr>
          <a:lstStyle/>
          <a:p>
            <a:pPr algn="ctr">
              <a:spcAft>
                <a:spcPts val="0"/>
              </a:spcAft>
            </a:pPr>
            <a:r>
              <a:rPr sz="1800" b="1">
                <a:solidFill>
                  <a:srgbClr val="FFFFFF"/>
                </a:solidFill>
                <a:latin typeface="Arial"/>
              </a:rPr>
              <a:t>1</a:t>
            </a:r>
          </a:p>
        </p:txBody>
      </p:sp>
      <p:sp>
        <p:nvSpPr>
          <p:cNvPr id="10" name="TextBox 9"/>
          <p:cNvSpPr txBox="1"/>
          <p:nvPr/>
        </p:nvSpPr>
        <p:spPr>
          <a:xfrm>
            <a:off x="822960" y="3310128"/>
            <a:ext cx="1764792" cy="1417320"/>
          </a:xfrm>
          <a:prstGeom prst="rect">
            <a:avLst/>
          </a:prstGeom>
          <a:noFill/>
        </p:spPr>
        <p:txBody>
          <a:bodyPr wrap="square" anchor="ctr" lIns="36576" rIns="36576" tIns="36576" bIns="36576">
            <a:spAutoFit/>
          </a:bodyPr>
          <a:lstStyle/>
          <a:p>
            <a:pPr algn="ctr">
              <a:spcAft>
                <a:spcPts val="0"/>
              </a:spcAft>
            </a:pPr>
            <a:r>
              <a:rPr sz="1300" b="0">
                <a:solidFill>
                  <a:srgbClr val="172433"/>
                </a:solidFill>
                <a:latin typeface="Arial"/>
              </a:rPr>
              <a:t>Read briefing and take assessment attendance</a:t>
            </a:r>
          </a:p>
        </p:txBody>
      </p:sp>
      <p:cxnSp>
        <p:nvCxnSpPr>
          <p:cNvPr id="11" name="Connector 10"/>
          <p:cNvCxnSpPr/>
          <p:nvPr/>
        </p:nvCxnSpPr>
        <p:spPr>
          <a:xfrm>
            <a:off x="2697480" y="3657600"/>
            <a:ext cx="228600"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926080" y="2057400"/>
            <a:ext cx="1984248" cy="324612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89020" y="2395728"/>
            <a:ext cx="658368" cy="65836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89020" y="2560320"/>
            <a:ext cx="658368" cy="292608"/>
          </a:xfrm>
          <a:prstGeom prst="rect">
            <a:avLst/>
          </a:prstGeom>
          <a:noFill/>
        </p:spPr>
        <p:txBody>
          <a:bodyPr wrap="square" anchor="t" lIns="36576" rIns="36576" tIns="36576" bIns="36576">
            <a:spAutoFit/>
          </a:bodyPr>
          <a:lstStyle/>
          <a:p>
            <a:pPr algn="ctr">
              <a:spcAft>
                <a:spcPts val="0"/>
              </a:spcAft>
            </a:pPr>
            <a:r>
              <a:rPr sz="1800" b="1">
                <a:solidFill>
                  <a:srgbClr val="FFFFFF"/>
                </a:solidFill>
                <a:latin typeface="Arial"/>
              </a:rPr>
              <a:t>2</a:t>
            </a:r>
          </a:p>
        </p:txBody>
      </p:sp>
      <p:sp>
        <p:nvSpPr>
          <p:cNvPr id="15" name="TextBox 14"/>
          <p:cNvSpPr txBox="1"/>
          <p:nvPr/>
        </p:nvSpPr>
        <p:spPr>
          <a:xfrm>
            <a:off x="3035808" y="3310128"/>
            <a:ext cx="1764792" cy="1417320"/>
          </a:xfrm>
          <a:prstGeom prst="rect">
            <a:avLst/>
          </a:prstGeom>
          <a:noFill/>
        </p:spPr>
        <p:txBody>
          <a:bodyPr wrap="square" anchor="ctr" lIns="36576" rIns="36576" tIns="36576" bIns="36576">
            <a:spAutoFit/>
          </a:bodyPr>
          <a:lstStyle/>
          <a:p>
            <a:pPr algn="ctr">
              <a:spcAft>
                <a:spcPts val="0"/>
              </a:spcAft>
            </a:pPr>
            <a:r>
              <a:rPr sz="1300" b="0">
                <a:solidFill>
                  <a:srgbClr val="172433"/>
                </a:solidFill>
                <a:latin typeface="Arial"/>
              </a:rPr>
              <a:t>Complete WA (SAQ)</a:t>
            </a:r>
          </a:p>
        </p:txBody>
      </p:sp>
      <p:cxnSp>
        <p:nvCxnSpPr>
          <p:cNvPr id="16" name="Connector 15"/>
          <p:cNvCxnSpPr/>
          <p:nvPr/>
        </p:nvCxnSpPr>
        <p:spPr>
          <a:xfrm>
            <a:off x="4910328" y="3657600"/>
            <a:ext cx="228600"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38928" y="2057400"/>
            <a:ext cx="1984248" cy="324612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801868" y="2395728"/>
            <a:ext cx="658368" cy="65836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01868" y="2560320"/>
            <a:ext cx="658368" cy="292608"/>
          </a:xfrm>
          <a:prstGeom prst="rect">
            <a:avLst/>
          </a:prstGeom>
          <a:noFill/>
        </p:spPr>
        <p:txBody>
          <a:bodyPr wrap="square" anchor="t" lIns="36576" rIns="36576" tIns="36576" bIns="36576">
            <a:spAutoFit/>
          </a:bodyPr>
          <a:lstStyle/>
          <a:p>
            <a:pPr algn="ctr">
              <a:spcAft>
                <a:spcPts val="0"/>
              </a:spcAft>
            </a:pPr>
            <a:r>
              <a:rPr sz="1800" b="1">
                <a:solidFill>
                  <a:srgbClr val="FFFFFF"/>
                </a:solidFill>
                <a:latin typeface="Arial"/>
              </a:rPr>
              <a:t>3</a:t>
            </a:r>
          </a:p>
        </p:txBody>
      </p:sp>
      <p:sp>
        <p:nvSpPr>
          <p:cNvPr id="20" name="TextBox 19"/>
          <p:cNvSpPr txBox="1"/>
          <p:nvPr/>
        </p:nvSpPr>
        <p:spPr>
          <a:xfrm>
            <a:off x="5248656" y="3310128"/>
            <a:ext cx="1764792" cy="1417320"/>
          </a:xfrm>
          <a:prstGeom prst="rect">
            <a:avLst/>
          </a:prstGeom>
          <a:noFill/>
        </p:spPr>
        <p:txBody>
          <a:bodyPr wrap="square" anchor="ctr" lIns="36576" rIns="36576" tIns="36576" bIns="36576">
            <a:spAutoFit/>
          </a:bodyPr>
          <a:lstStyle/>
          <a:p>
            <a:pPr algn="ctr">
              <a:spcAft>
                <a:spcPts val="0"/>
              </a:spcAft>
            </a:pPr>
            <a:r>
              <a:rPr sz="1300" b="0">
                <a:solidFill>
                  <a:srgbClr val="172433"/>
                </a:solidFill>
                <a:latin typeface="Arial"/>
              </a:rPr>
              <a:t>Complete Practical Performance</a:t>
            </a:r>
          </a:p>
        </p:txBody>
      </p:sp>
      <p:cxnSp>
        <p:nvCxnSpPr>
          <p:cNvPr id="21" name="Connector 20"/>
          <p:cNvCxnSpPr/>
          <p:nvPr/>
        </p:nvCxnSpPr>
        <p:spPr>
          <a:xfrm>
            <a:off x="7123176" y="3657600"/>
            <a:ext cx="228600"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351776" y="2057400"/>
            <a:ext cx="1984248" cy="324612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14716" y="2395728"/>
            <a:ext cx="658368" cy="65836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14716" y="2560320"/>
            <a:ext cx="658368" cy="292608"/>
          </a:xfrm>
          <a:prstGeom prst="rect">
            <a:avLst/>
          </a:prstGeom>
          <a:noFill/>
        </p:spPr>
        <p:txBody>
          <a:bodyPr wrap="square" anchor="t" lIns="36576" rIns="36576" tIns="36576" bIns="36576">
            <a:spAutoFit/>
          </a:bodyPr>
          <a:lstStyle/>
          <a:p>
            <a:pPr algn="ctr">
              <a:spcAft>
                <a:spcPts val="0"/>
              </a:spcAft>
            </a:pPr>
            <a:r>
              <a:rPr sz="1800" b="1">
                <a:solidFill>
                  <a:srgbClr val="FFFFFF"/>
                </a:solidFill>
                <a:latin typeface="Arial"/>
              </a:rPr>
              <a:t>4</a:t>
            </a:r>
          </a:p>
        </p:txBody>
      </p:sp>
      <p:sp>
        <p:nvSpPr>
          <p:cNvPr id="25" name="TextBox 24"/>
          <p:cNvSpPr txBox="1"/>
          <p:nvPr/>
        </p:nvSpPr>
        <p:spPr>
          <a:xfrm>
            <a:off x="7461504" y="3310128"/>
            <a:ext cx="1764792" cy="1417320"/>
          </a:xfrm>
          <a:prstGeom prst="rect">
            <a:avLst/>
          </a:prstGeom>
          <a:noFill/>
        </p:spPr>
        <p:txBody>
          <a:bodyPr wrap="square" anchor="ctr" lIns="36576" rIns="36576" tIns="36576" bIns="36576">
            <a:spAutoFit/>
          </a:bodyPr>
          <a:lstStyle/>
          <a:p>
            <a:pPr algn="ctr">
              <a:spcAft>
                <a:spcPts val="0"/>
              </a:spcAft>
            </a:pPr>
            <a:r>
              <a:rPr sz="1300" b="0">
                <a:solidFill>
                  <a:srgbClr val="172433"/>
                </a:solidFill>
                <a:latin typeface="Arial"/>
              </a:rPr>
              <a:t>Upload question papers and project bundle</a:t>
            </a:r>
          </a:p>
        </p:txBody>
      </p:sp>
      <p:cxnSp>
        <p:nvCxnSpPr>
          <p:cNvPr id="26" name="Connector 25"/>
          <p:cNvCxnSpPr/>
          <p:nvPr/>
        </p:nvCxnSpPr>
        <p:spPr>
          <a:xfrm>
            <a:off x="9336024" y="3657600"/>
            <a:ext cx="228600"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564624" y="2057400"/>
            <a:ext cx="1984248" cy="324612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227564" y="2395728"/>
            <a:ext cx="658368" cy="65836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27564" y="2560320"/>
            <a:ext cx="658368" cy="292608"/>
          </a:xfrm>
          <a:prstGeom prst="rect">
            <a:avLst/>
          </a:prstGeom>
          <a:noFill/>
        </p:spPr>
        <p:txBody>
          <a:bodyPr wrap="square" anchor="t" lIns="36576" rIns="36576" tIns="36576" bIns="36576">
            <a:spAutoFit/>
          </a:bodyPr>
          <a:lstStyle/>
          <a:p>
            <a:pPr algn="ctr">
              <a:spcAft>
                <a:spcPts val="0"/>
              </a:spcAft>
            </a:pPr>
            <a:r>
              <a:rPr sz="1800" b="1">
                <a:solidFill>
                  <a:srgbClr val="FFFFFF"/>
                </a:solidFill>
                <a:latin typeface="Arial"/>
              </a:rPr>
              <a:t>5</a:t>
            </a:r>
          </a:p>
        </p:txBody>
      </p:sp>
      <p:sp>
        <p:nvSpPr>
          <p:cNvPr id="30" name="TextBox 29"/>
          <p:cNvSpPr txBox="1"/>
          <p:nvPr/>
        </p:nvSpPr>
        <p:spPr>
          <a:xfrm>
            <a:off x="9674352" y="3310128"/>
            <a:ext cx="1764792" cy="1417320"/>
          </a:xfrm>
          <a:prstGeom prst="rect">
            <a:avLst/>
          </a:prstGeom>
          <a:noFill/>
        </p:spPr>
        <p:txBody>
          <a:bodyPr wrap="square" anchor="ctr" lIns="36576" rIns="36576" tIns="36576" bIns="36576">
            <a:spAutoFit/>
          </a:bodyPr>
          <a:lstStyle/>
          <a:p>
            <a:pPr algn="ctr">
              <a:spcAft>
                <a:spcPts val="0"/>
              </a:spcAft>
            </a:pPr>
            <a:r>
              <a:rPr sz="1300" b="0">
                <a:solidFill>
                  <a:srgbClr val="172433"/>
                </a:solidFill>
                <a:latin typeface="Arial"/>
              </a:rPr>
              <a:t>Review decision and sign record</a:t>
            </a:r>
          </a:p>
        </p:txBody>
      </p:sp>
      <p:sp>
        <p:nvSpPr>
          <p:cNvPr id="31" name="TextBox 30"/>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2" name="TextBox 31"/>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3" name="TextBox 3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201</a:t>
            </a:r>
          </a:p>
        </p:txBody>
      </p:sp>
    </p:spTree>
  </p:cSld>
  <p:transition spd="fast">
    <p:fade/>
  </p:transition>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813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47472"/>
            <a:ext cx="10789920" cy="256032"/>
          </a:xfrm>
          <a:prstGeom prst="rect">
            <a:avLst/>
          </a:prstGeom>
          <a:noFill/>
        </p:spPr>
        <p:txBody>
          <a:bodyPr wrap="square" anchor="t" lIns="36576" rIns="36576" tIns="36576" bIns="36576">
            <a:spAutoFit/>
          </a:bodyPr>
          <a:lstStyle/>
          <a:p>
            <a:pPr algn="l">
              <a:spcAft>
                <a:spcPts val="0"/>
              </a:spcAft>
            </a:pPr>
            <a:r>
              <a:rPr sz="1100" b="1">
                <a:solidFill>
                  <a:srgbClr val="06B6D4"/>
                </a:solidFill>
                <a:latin typeface="Arial"/>
              </a:rPr>
              <a:t>MANDATORY CLOSING</a:t>
            </a:r>
          </a:p>
        </p:txBody>
      </p:sp>
      <p:sp>
        <p:nvSpPr>
          <p:cNvPr id="5" name="TextBox 4"/>
          <p:cNvSpPr txBox="1"/>
          <p:nvPr/>
        </p:nvSpPr>
        <p:spPr>
          <a:xfrm>
            <a:off x="713232" y="685800"/>
            <a:ext cx="10789920" cy="658368"/>
          </a:xfrm>
          <a:prstGeom prst="rect">
            <a:avLst/>
          </a:prstGeom>
          <a:noFill/>
        </p:spPr>
        <p:txBody>
          <a:bodyPr wrap="square" anchor="t" lIns="36576" rIns="36576" tIns="36576" bIns="36576">
            <a:spAutoFit/>
          </a:bodyPr>
          <a:lstStyle/>
          <a:p>
            <a:pPr algn="l">
              <a:spcAft>
                <a:spcPts val="0"/>
              </a:spcAft>
            </a:pPr>
            <a:r>
              <a:rPr sz="2800" b="1">
                <a:solidFill>
                  <a:srgbClr val="172433"/>
                </a:solidFill>
                <a:latin typeface="Arial"/>
              </a:rPr>
              <a:t>Digital Attendance and TRAQOM</a:t>
            </a:r>
          </a:p>
        </p:txBody>
      </p:sp>
      <p:sp>
        <p:nvSpPr>
          <p:cNvPr id="6" name="Rectangle 5"/>
          <p:cNvSpPr/>
          <p:nvPr/>
        </p:nvSpPr>
        <p:spPr>
          <a:xfrm>
            <a:off x="713232" y="1444752"/>
            <a:ext cx="10835640" cy="1371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37360"/>
            <a:ext cx="5289804" cy="2093976"/>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37360"/>
            <a:ext cx="73152" cy="209397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938528"/>
            <a:ext cx="475488" cy="475488"/>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993392"/>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1</a:t>
            </a:r>
          </a:p>
        </p:txBody>
      </p:sp>
      <p:sp>
        <p:nvSpPr>
          <p:cNvPr id="11" name="TextBox 10"/>
          <p:cNvSpPr txBox="1"/>
          <p:nvPr/>
        </p:nvSpPr>
        <p:spPr>
          <a:xfrm>
            <a:off x="1554480" y="1901952"/>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Assessment attendance</a:t>
            </a:r>
          </a:p>
        </p:txBody>
      </p:sp>
      <p:sp>
        <p:nvSpPr>
          <p:cNvPr id="12" name="TextBox 11"/>
          <p:cNvSpPr txBox="1"/>
          <p:nvPr/>
        </p:nvSpPr>
        <p:spPr>
          <a:xfrm>
            <a:off x="1554480" y="2304288"/>
            <a:ext cx="4238244" cy="1435608"/>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Scan the SSG digital attendance QR code.</a:t>
            </a:r>
          </a:p>
        </p:txBody>
      </p:sp>
      <p:sp>
        <p:nvSpPr>
          <p:cNvPr id="13" name="Rounded Rectangle 12"/>
          <p:cNvSpPr/>
          <p:nvPr/>
        </p:nvSpPr>
        <p:spPr>
          <a:xfrm>
            <a:off x="6259068" y="1737360"/>
            <a:ext cx="5289804" cy="2093976"/>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59068" y="1737360"/>
            <a:ext cx="73152" cy="209397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60236" y="1938528"/>
            <a:ext cx="475488" cy="475488"/>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0236" y="1993392"/>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2</a:t>
            </a:r>
          </a:p>
        </p:txBody>
      </p:sp>
      <p:sp>
        <p:nvSpPr>
          <p:cNvPr id="17" name="TextBox 16"/>
          <p:cNvSpPr txBox="1"/>
          <p:nvPr/>
        </p:nvSpPr>
        <p:spPr>
          <a:xfrm>
            <a:off x="7100316" y="1901952"/>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TRAQOM survey</a:t>
            </a:r>
          </a:p>
        </p:txBody>
      </p:sp>
      <p:sp>
        <p:nvSpPr>
          <p:cNvPr id="18" name="TextBox 17"/>
          <p:cNvSpPr txBox="1"/>
          <p:nvPr/>
        </p:nvSpPr>
        <p:spPr>
          <a:xfrm>
            <a:off x="7100316" y="2304288"/>
            <a:ext cx="4238244" cy="1435608"/>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Complete the course survey before leaving.</a:t>
            </a:r>
          </a:p>
        </p:txBody>
      </p:sp>
      <p:sp>
        <p:nvSpPr>
          <p:cNvPr id="19" name="Rounded Rectangle 18"/>
          <p:cNvSpPr/>
          <p:nvPr/>
        </p:nvSpPr>
        <p:spPr>
          <a:xfrm>
            <a:off x="713232" y="4050792"/>
            <a:ext cx="5289804" cy="2093976"/>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13232" y="4050792"/>
            <a:ext cx="73152" cy="20939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4400" y="4251960"/>
            <a:ext cx="475488" cy="47548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306824"/>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3</a:t>
            </a:r>
          </a:p>
        </p:txBody>
      </p:sp>
      <p:sp>
        <p:nvSpPr>
          <p:cNvPr id="23" name="TextBox 22"/>
          <p:cNvSpPr txBox="1"/>
          <p:nvPr/>
        </p:nvSpPr>
        <p:spPr>
          <a:xfrm>
            <a:off x="1554480" y="4215384"/>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Competency</a:t>
            </a:r>
          </a:p>
        </p:txBody>
      </p:sp>
      <p:sp>
        <p:nvSpPr>
          <p:cNvPr id="24" name="TextBox 23"/>
          <p:cNvSpPr txBox="1"/>
          <p:nvPr/>
        </p:nvSpPr>
        <p:spPr>
          <a:xfrm>
            <a:off x="1554480" y="4617720"/>
            <a:ext cx="4238244" cy="1435608"/>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Complete all prescribed assessments.</a:t>
            </a:r>
          </a:p>
        </p:txBody>
      </p:sp>
      <p:sp>
        <p:nvSpPr>
          <p:cNvPr id="25" name="Rounded Rectangle 24"/>
          <p:cNvSpPr/>
          <p:nvPr/>
        </p:nvSpPr>
        <p:spPr>
          <a:xfrm>
            <a:off x="6259068" y="4050792"/>
            <a:ext cx="5289804" cy="2093976"/>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59068" y="4050792"/>
            <a:ext cx="73152" cy="209397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460236" y="4251960"/>
            <a:ext cx="475488" cy="47548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60236" y="4306824"/>
            <a:ext cx="475488" cy="274320"/>
          </a:xfrm>
          <a:prstGeom prst="rect">
            <a:avLst/>
          </a:prstGeom>
          <a:noFill/>
        </p:spPr>
        <p:txBody>
          <a:bodyPr wrap="square" anchor="t" lIns="36576" rIns="36576" tIns="36576" bIns="36576">
            <a:spAutoFit/>
          </a:bodyPr>
          <a:lstStyle/>
          <a:p>
            <a:pPr algn="ctr">
              <a:spcAft>
                <a:spcPts val="0"/>
              </a:spcAft>
            </a:pPr>
            <a:r>
              <a:rPr sz="1300" b="1">
                <a:solidFill>
                  <a:srgbClr val="FFFFFF"/>
                </a:solidFill>
                <a:latin typeface="Arial"/>
              </a:rPr>
              <a:t>4</a:t>
            </a:r>
          </a:p>
        </p:txBody>
      </p:sp>
      <p:sp>
        <p:nvSpPr>
          <p:cNvPr id="29" name="TextBox 28"/>
          <p:cNvSpPr txBox="1"/>
          <p:nvPr/>
        </p:nvSpPr>
        <p:spPr>
          <a:xfrm>
            <a:off x="7100316" y="4215384"/>
            <a:ext cx="4238244" cy="329184"/>
          </a:xfrm>
          <a:prstGeom prst="rect">
            <a:avLst/>
          </a:prstGeom>
          <a:noFill/>
        </p:spPr>
        <p:txBody>
          <a:bodyPr wrap="square" anchor="t" lIns="36576" rIns="36576" tIns="36576" bIns="36576">
            <a:spAutoFit/>
          </a:bodyPr>
          <a:lstStyle/>
          <a:p>
            <a:pPr algn="l">
              <a:spcAft>
                <a:spcPts val="0"/>
              </a:spcAft>
            </a:pPr>
            <a:r>
              <a:rPr sz="1400" b="1">
                <a:solidFill>
                  <a:srgbClr val="172433"/>
                </a:solidFill>
                <a:latin typeface="Arial"/>
              </a:rPr>
              <a:t>Appeal</a:t>
            </a:r>
          </a:p>
        </p:txBody>
      </p:sp>
      <p:sp>
        <p:nvSpPr>
          <p:cNvPr id="30" name="TextBox 29"/>
          <p:cNvSpPr txBox="1"/>
          <p:nvPr/>
        </p:nvSpPr>
        <p:spPr>
          <a:xfrm>
            <a:off x="7100316" y="4617720"/>
            <a:ext cx="4238244" cy="1435608"/>
          </a:xfrm>
          <a:prstGeom prst="rect">
            <a:avLst/>
          </a:prstGeom>
          <a:noFill/>
        </p:spPr>
        <p:txBody>
          <a:bodyPr wrap="square" anchor="t" lIns="36576" rIns="36576" tIns="36576" bIns="36576">
            <a:spAutoFit/>
          </a:bodyPr>
          <a:lstStyle/>
          <a:p>
            <a:pPr algn="l">
              <a:spcAft>
                <a:spcPts val="0"/>
              </a:spcAft>
            </a:pPr>
            <a:r>
              <a:rPr sz="1150" b="0">
                <a:solidFill>
                  <a:srgbClr val="475569"/>
                </a:solidFill>
                <a:latin typeface="Arial"/>
              </a:rPr>
              <a:t>Follow the documented appeal route if you disagree with a decision.</a:t>
            </a:r>
          </a:p>
        </p:txBody>
      </p:sp>
      <p:sp>
        <p:nvSpPr>
          <p:cNvPr id="31" name="TextBox 30"/>
          <p:cNvSpPr txBox="1"/>
          <p:nvPr/>
        </p:nvSpPr>
        <p:spPr>
          <a:xfrm>
            <a:off x="438912" y="6446520"/>
            <a:ext cx="5029200" cy="219456"/>
          </a:xfrm>
          <a:prstGeom prst="rect">
            <a:avLst/>
          </a:prstGeom>
          <a:noFill/>
        </p:spPr>
        <p:txBody>
          <a:bodyPr wrap="square" anchor="t" lIns="36576" rIns="36576" tIns="36576" bIns="36576">
            <a:spAutoFit/>
          </a:bodyPr>
          <a:lstStyle/>
          <a:p>
            <a:pPr algn="l">
              <a:spcAft>
                <a:spcPts val="0"/>
              </a:spcAft>
            </a:pPr>
            <a:r>
              <a:rPr sz="850" b="0">
                <a:solidFill>
                  <a:srgbClr val="64748B"/>
                </a:solidFill>
                <a:latin typeface="Arial"/>
              </a:rPr>
              <a:t>Create RESTful APIs and Web Apps with Python Flask · TGS-2021010365</a:t>
            </a:r>
          </a:p>
        </p:txBody>
      </p:sp>
      <p:sp>
        <p:nvSpPr>
          <p:cNvPr id="32" name="TextBox 31"/>
          <p:cNvSpPr txBox="1"/>
          <p:nvPr/>
        </p:nvSpPr>
        <p:spPr>
          <a:xfrm>
            <a:off x="4754880" y="6446520"/>
            <a:ext cx="2834640" cy="219456"/>
          </a:xfrm>
          <a:prstGeom prst="rect">
            <a:avLst/>
          </a:prstGeom>
          <a:noFill/>
        </p:spPr>
        <p:txBody>
          <a:bodyPr wrap="square" anchor="t" lIns="36576" rIns="36576" tIns="36576" bIns="36576">
            <a:spAutoFit/>
          </a:bodyPr>
          <a:lstStyle/>
          <a:p>
            <a:pPr algn="ctr">
              <a:spcAft>
                <a:spcPts val="0"/>
              </a:spcAft>
            </a:pPr>
            <a:r>
              <a:rPr sz="850" b="0">
                <a:solidFill>
                  <a:srgbClr val="64748B"/>
                </a:solidFill>
                <a:latin typeface="Arial"/>
              </a:rPr>
              <a:t>© 2026 Tertiary Infotech Academy Pte Ltd</a:t>
            </a:r>
          </a:p>
        </p:txBody>
      </p:sp>
      <p:sp>
        <p:nvSpPr>
          <p:cNvPr id="33" name="TextBox 32"/>
          <p:cNvSpPr txBox="1"/>
          <p:nvPr/>
        </p:nvSpPr>
        <p:spPr>
          <a:xfrm>
            <a:off x="11475720" y="6446520"/>
            <a:ext cx="320040" cy="219456"/>
          </a:xfrm>
          <a:prstGeom prst="rect">
            <a:avLst/>
          </a:prstGeom>
          <a:noFill/>
        </p:spPr>
        <p:txBody>
          <a:bodyPr wrap="square" anchor="t" lIns="36576" rIns="36576" tIns="36576" bIns="36576">
            <a:spAutoFit/>
          </a:bodyPr>
          <a:lstStyle/>
          <a:p>
            <a:pPr algn="r">
              <a:spcAft>
                <a:spcPts val="0"/>
              </a:spcAft>
            </a:pPr>
            <a:r>
              <a:rPr sz="850" b="0">
                <a:solidFill>
                  <a:srgbClr val="64748B"/>
                </a:solidFill>
                <a:latin typeface="Arial"/>
              </a:rPr>
              <a:t>202</a:t>
            </a:r>
          </a:p>
        </p:txBody>
      </p:sp>
    </p:spTree>
  </p:cSld>
  <p:transition spd="fast">
    <p:fade/>
  </p:transition>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hero-v1.pn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74519"/>
            <a:ext cx="5669280" cy="320040"/>
          </a:xfrm>
          <a:prstGeom prst="rect">
            <a:avLst/>
          </a:prstGeom>
          <a:noFill/>
        </p:spPr>
        <p:txBody>
          <a:bodyPr wrap="square" anchor="t" lIns="36576" rIns="36576" tIns="36576" bIns="36576">
            <a:spAutoFit/>
          </a:bodyPr>
          <a:lstStyle/>
          <a:p>
            <a:pPr algn="l">
              <a:spcAft>
                <a:spcPts val="0"/>
              </a:spcAft>
            </a:pPr>
            <a:r>
              <a:rPr sz="1300" b="1">
                <a:solidFill>
                  <a:srgbClr val="06B6D4"/>
                </a:solidFill>
                <a:latin typeface="Arial"/>
              </a:rPr>
              <a:t>BUILD · VERIFY · EXPLAIN</a:t>
            </a:r>
          </a:p>
        </p:txBody>
      </p:sp>
      <p:sp>
        <p:nvSpPr>
          <p:cNvPr id="6" name="TextBox 5"/>
          <p:cNvSpPr txBox="1"/>
          <p:nvPr/>
        </p:nvSpPr>
        <p:spPr>
          <a:xfrm>
            <a:off x="777240" y="2359152"/>
            <a:ext cx="5394960" cy="1143000"/>
          </a:xfrm>
          <a:prstGeom prst="rect">
            <a:avLst/>
          </a:prstGeom>
          <a:noFill/>
        </p:spPr>
        <p:txBody>
          <a:bodyPr wrap="square" anchor="t" lIns="36576" rIns="36576" tIns="36576" bIns="36576">
            <a:spAutoFit/>
          </a:bodyPr>
          <a:lstStyle/>
          <a:p>
            <a:pPr algn="l">
              <a:spcAft>
                <a:spcPts val="0"/>
              </a:spcAft>
            </a:pPr>
            <a:r>
              <a:rPr sz="4600" b="1">
                <a:solidFill>
                  <a:srgbClr val="FFFFFF"/>
                </a:solidFill>
                <a:latin typeface="Arial"/>
              </a:rPr>
              <a:t>Thank You!</a:t>
            </a:r>
          </a:p>
        </p:txBody>
      </p:sp>
      <p:sp>
        <p:nvSpPr>
          <p:cNvPr id="7" name="TextBox 6"/>
          <p:cNvSpPr txBox="1"/>
          <p:nvPr/>
        </p:nvSpPr>
        <p:spPr>
          <a:xfrm>
            <a:off x="804672" y="3749039"/>
            <a:ext cx="5394960" cy="960120"/>
          </a:xfrm>
          <a:prstGeom prst="rect">
            <a:avLst/>
          </a:prstGeom>
          <a:noFill/>
        </p:spPr>
        <p:txBody>
          <a:bodyPr wrap="square" anchor="t" lIns="36576" rIns="36576" tIns="36576" bIns="36576">
            <a:spAutoFit/>
          </a:bodyPr>
          <a:lstStyle/>
          <a:p>
            <a:pPr algn="l">
              <a:spcAft>
                <a:spcPts val="0"/>
              </a:spcAft>
            </a:pPr>
            <a:r>
              <a:rPr sz="1800" b="0">
                <a:solidFill>
                  <a:srgbClr val="CCFBF1"/>
                </a:solidFill>
                <a:latin typeface="Arial"/>
              </a:rPr>
              <a:t>Your FastAPI service is only complete when its contract, tests, evidence and client agree.</a:t>
            </a:r>
          </a:p>
        </p:txBody>
      </p:sp>
      <p:sp>
        <p:nvSpPr>
          <p:cNvPr id="8" name="TextBox 7"/>
          <p:cNvSpPr txBox="1"/>
          <p:nvPr/>
        </p:nvSpPr>
        <p:spPr>
          <a:xfrm>
            <a:off x="804672" y="5989320"/>
            <a:ext cx="5394960" cy="274320"/>
          </a:xfrm>
          <a:prstGeom prst="rect">
            <a:avLst/>
          </a:prstGeom>
          <a:noFill/>
        </p:spPr>
        <p:txBody>
          <a:bodyPr wrap="square" anchor="t" lIns="36576" rIns="36576" tIns="36576" bIns="36576">
            <a:spAutoFit/>
          </a:bodyPr>
          <a:lstStyle/>
          <a:p>
            <a:pPr algn="l">
              <a:spcAft>
                <a:spcPts val="0"/>
              </a:spcAft>
            </a:pPr>
            <a:r>
              <a:rPr sz="1000" b="0">
                <a:solidFill>
                  <a:srgbClr val="FFFFFF"/>
                </a:solidFill>
                <a:latin typeface="Arial"/>
              </a:rPr>
              <a:t>TGS-2021010365 · Version v11.0</a:t>
            </a:r>
          </a:p>
        </p:txBody>
      </p:sp>
    </p:spTree>
  </p:cSld>
  <p:transition spd="fast">
    <p:fade/>
  </p:transition>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